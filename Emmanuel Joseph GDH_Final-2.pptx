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3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4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5.xml" ContentType="application/vnd.openxmlformats-officedocument.presentationml.notesSlide+xml"/>
  <Override PartName="/ppt/comments/comment5.xml" ContentType="application/vnd.openxmlformats-officedocument.presentationml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comment6.xml" ContentType="application/vnd.openxmlformats-officedocument.presentationml.comments+xml"/>
  <Override PartName="/ppt/notesSlides/notesSlide8.xml" ContentType="application/vnd.openxmlformats-officedocument.presentationml.notesSlide+xml"/>
  <Override PartName="/ppt/comments/comment7.xml" ContentType="application/vnd.openxmlformats-officedocument.presentationml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omments/comment8.xml" ContentType="application/vnd.openxmlformats-officedocument.presentationml.comment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85" r:id="rId2"/>
    <p:sldId id="281" r:id="rId3"/>
    <p:sldId id="744" r:id="rId4"/>
    <p:sldId id="779" r:id="rId5"/>
    <p:sldId id="746" r:id="rId6"/>
    <p:sldId id="748" r:id="rId7"/>
    <p:sldId id="749" r:id="rId8"/>
    <p:sldId id="521" r:id="rId9"/>
    <p:sldId id="752" r:id="rId10"/>
    <p:sldId id="753" r:id="rId11"/>
    <p:sldId id="755" r:id="rId12"/>
    <p:sldId id="756" r:id="rId13"/>
    <p:sldId id="758" r:id="rId14"/>
    <p:sldId id="759" r:id="rId15"/>
    <p:sldId id="760" r:id="rId16"/>
    <p:sldId id="761" r:id="rId17"/>
    <p:sldId id="762" r:id="rId18"/>
    <p:sldId id="763" r:id="rId19"/>
    <p:sldId id="741" r:id="rId20"/>
    <p:sldId id="764" r:id="rId21"/>
    <p:sldId id="765" r:id="rId22"/>
    <p:sldId id="780" r:id="rId23"/>
    <p:sldId id="767" r:id="rId24"/>
    <p:sldId id="766" r:id="rId25"/>
    <p:sldId id="786" r:id="rId26"/>
    <p:sldId id="751" r:id="rId27"/>
    <p:sldId id="785" r:id="rId28"/>
    <p:sldId id="769" r:id="rId29"/>
    <p:sldId id="770" r:id="rId30"/>
    <p:sldId id="771" r:id="rId31"/>
    <p:sldId id="772" r:id="rId32"/>
    <p:sldId id="773" r:id="rId33"/>
    <p:sldId id="774" r:id="rId34"/>
    <p:sldId id="775" r:id="rId35"/>
    <p:sldId id="776" r:id="rId36"/>
    <p:sldId id="777" r:id="rId37"/>
    <p:sldId id="778" r:id="rId38"/>
    <p:sldId id="747" r:id="rId39"/>
    <p:sldId id="754" r:id="rId40"/>
    <p:sldId id="781" r:id="rId41"/>
    <p:sldId id="782" r:id="rId42"/>
    <p:sldId id="783" r:id="rId43"/>
    <p:sldId id="784" r:id="rId4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:p15="http://schemas.microsoft.com/office/powerpoint/2012/main" userId="D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80C9"/>
    <a:srgbClr val="F39CA9"/>
    <a:srgbClr val="43A428"/>
    <a:srgbClr val="41A5A3"/>
    <a:srgbClr val="00326D"/>
    <a:srgbClr val="D50C2F"/>
    <a:srgbClr val="89B4E1"/>
    <a:srgbClr val="0068B4"/>
    <a:srgbClr val="9D2246"/>
    <a:srgbClr val="1C35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9" autoAdjust="0"/>
    <p:restoredTop sz="82696" autoAdjust="0"/>
  </p:normalViewPr>
  <p:slideViewPr>
    <p:cSldViewPr showGuides="1">
      <p:cViewPr>
        <p:scale>
          <a:sx n="66" d="100"/>
          <a:sy n="66" d="100"/>
        </p:scale>
        <p:origin x="906" y="-1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121" d="100"/>
          <a:sy n="121" d="100"/>
        </p:scale>
        <p:origin x="4050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2-10T12:56:02.495" idx="1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2-10T12:56:02.495" idx="1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2-10T12:56:02.495" idx="1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2-10T12:56:02.495" idx="1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2-10T12:56:02.495" idx="1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2-10T12:56:02.495" idx="1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2-10T12:56:02.495" idx="1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2-10T12:56:02.495" idx="1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xmlns="" id="{FC5E827F-AFFB-4521-937A-4A6CC48BEF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de-DE" smtClean="0"/>
              <a:t>Emmanuel Josep Shaji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xmlns="" id="{DFBD6053-A03A-44A9-A252-2AE4141F3C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4AE3F3-D9BC-4026-9AA0-5E733025F96D}" type="datetimeFigureOut">
              <a:rPr lang="de-DE" smtClean="0"/>
              <a:t>08.11.2025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xmlns="" id="{5FDA3799-5E67-47F8-B416-6B830744DC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xmlns="" id="{A61DC965-793F-40A9-8DDB-C2597918B99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6CE5A8-732E-4637-BF68-72F2A90CC83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1451192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de-DE" smtClean="0"/>
              <a:t>Emmanuel Josep Shaji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6A1EF9-338E-4566-BAB4-3E8ADC30C037}" type="datetimeFigureOut">
              <a:rPr lang="de-DE" smtClean="0"/>
              <a:t>08.11.2025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D628D-FC62-4541-A05E-E95D41248AA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5443771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D628D-FC62-4541-A05E-E95D41248AAB}" type="slidenum">
              <a:rPr lang="de-DE" smtClean="0"/>
              <a:t>3</a:t>
            </a:fld>
            <a:endParaRPr lang="de-DE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smtClean="0"/>
              <a:t>Emmanuel Josep Shaji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4901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Optical glucose sensing:</a:t>
            </a:r>
            <a:r>
              <a:rPr lang="en-US" dirty="0" smtClean="0"/>
              <a:t> Detects glucose through changes in light absorption, fluorescence, or scattering caused by glucose–enzyme or glucose–indicator interactions.</a:t>
            </a:r>
          </a:p>
          <a:p>
            <a:r>
              <a:rPr lang="en-US" b="1" dirty="0" smtClean="0"/>
              <a:t>Urine/Saliva glucose testing:</a:t>
            </a:r>
            <a:r>
              <a:rPr lang="en-US" dirty="0" smtClean="0"/>
              <a:t> Determines glucose concentration by measuring the color change of a dye after enzymatic oxidation, compared to an optical or color reference.</a:t>
            </a:r>
          </a:p>
          <a:p>
            <a:r>
              <a:rPr lang="en-US" b="1" dirty="0" smtClean="0"/>
              <a:t>Microwave/Impedance glucose sensing:</a:t>
            </a:r>
            <a:r>
              <a:rPr lang="en-US" dirty="0" smtClean="0"/>
              <a:t> Senses glucose by monitoring variations in dielectric properties or impedance of the sample as glucose concentration alters its conductivity and permittivity.</a:t>
            </a:r>
          </a:p>
          <a:p>
            <a:r>
              <a:rPr lang="en-US" b="1" dirty="0" smtClean="0"/>
              <a:t>Electrochemical glucose sensing:</a:t>
            </a:r>
            <a:r>
              <a:rPr lang="en-US" dirty="0" smtClean="0"/>
              <a:t> Measures electrical current or potential generated by the enzymatic oxidation of glucose, proportional to its concentration.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D628D-FC62-4541-A05E-E95D41248AAB}" type="slidenum">
              <a:rPr lang="de-DE" smtClean="0"/>
              <a:t>4</a:t>
            </a:fld>
            <a:endParaRPr lang="de-DE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smtClean="0"/>
              <a:t>Emmanuel Josep Shaji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6137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.</a:t>
            </a:r>
            <a:r>
              <a:rPr lang="en-US" sz="1200" dirty="0" smtClean="0"/>
              <a:t> Ion injection from an electrolyte into an organic semiconductor channel to modulate its conductivity, thereby controlling the drain current in response to a gate voltage.</a:t>
            </a:r>
            <a:endParaRPr lang="en-GB" sz="1200" dirty="0" smtClean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D628D-FC62-4541-A05E-E95D41248AAB}" type="slidenum">
              <a:rPr lang="de-DE" smtClean="0"/>
              <a:t>5</a:t>
            </a:fld>
            <a:endParaRPr lang="de-DE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smtClean="0"/>
              <a:t>Emmanuel Josep Shaji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5448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.Widely used enzyme for glucose sensing-</a:t>
            </a:r>
            <a:r>
              <a:rPr lang="en-US" sz="1200" dirty="0" err="1" smtClean="0"/>
              <a:t>GOx</a:t>
            </a:r>
            <a:r>
              <a:rPr lang="en-US" sz="1200" dirty="0" smtClean="0"/>
              <a:t> (Glucose Oxidase) is an enzyme that specifically oxidizes glucose to produce H₂O₂, which generates a measurable electrical signal proportional to glucose concentration</a:t>
            </a:r>
            <a:endParaRPr lang="en-GB" sz="1200" dirty="0" smtClean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D628D-FC62-4541-A05E-E95D41248AAB}" type="slidenum">
              <a:rPr lang="de-DE" smtClean="0"/>
              <a:t>6</a:t>
            </a:fld>
            <a:endParaRPr lang="de-DE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smtClean="0"/>
              <a:t>Emmanuel Josep Shaji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23060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.</a:t>
            </a:r>
            <a:r>
              <a:rPr lang="en-GB" sz="1200" dirty="0" smtClean="0"/>
              <a:t> GDH (Glucose Dehydrogenase) is an enzyme that </a:t>
            </a:r>
            <a:r>
              <a:rPr lang="en-GB" sz="1200" dirty="0" err="1" smtClean="0"/>
              <a:t>catalyzes</a:t>
            </a:r>
            <a:r>
              <a:rPr lang="en-GB" sz="1200" dirty="0" smtClean="0"/>
              <a:t> the oxidation of glucose using a cofactor (like PQQ), producing electrons that generate a measurable electrical signal proportional to glucose concentration.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D628D-FC62-4541-A05E-E95D41248AAB}" type="slidenum">
              <a:rPr lang="de-DE" smtClean="0"/>
              <a:t>7</a:t>
            </a:fld>
            <a:endParaRPr lang="de-DE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smtClean="0"/>
              <a:t>Emmanuel Josep Shaji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4104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D628D-FC62-4541-A05E-E95D41248AAB}" type="slidenum">
              <a:rPr lang="de-DE" smtClean="0"/>
              <a:t>8</a:t>
            </a:fld>
            <a:endParaRPr lang="de-DE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smtClean="0"/>
              <a:t>Emmanuel Josep Shaji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86100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External</a:t>
            </a:r>
            <a:r>
              <a:rPr lang="en-US" baseline="0" dirty="0" smtClean="0"/>
              <a:t> Platinum gate was used because none of the chips had inbuilt Platinum in it.</a:t>
            </a:r>
            <a:br>
              <a:rPr lang="en-US" baseline="0" dirty="0" smtClean="0"/>
            </a:br>
            <a:r>
              <a:rPr lang="en-US" baseline="0" dirty="0" smtClean="0"/>
              <a:t>Why I used dual layer channel will be explained later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D628D-FC62-4541-A05E-E95D41248AAB}" type="slidenum">
              <a:rPr lang="de-DE" smtClean="0"/>
              <a:t>9</a:t>
            </a:fld>
            <a:endParaRPr lang="de-DE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smtClean="0"/>
              <a:t>Emmanuel Josep Shaji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15132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.</a:t>
            </a:r>
            <a:r>
              <a:rPr lang="en-US" dirty="0" smtClean="0"/>
              <a:t> They help </a:t>
            </a:r>
            <a:r>
              <a:rPr lang="en-US" b="1" dirty="0" smtClean="0"/>
              <a:t>hold PQQ firmly in the active site</a:t>
            </a:r>
            <a:r>
              <a:rPr lang="en-US" dirty="0" smtClean="0"/>
              <a:t>, allowing proper electron transfer from glucose to PQQ.</a:t>
            </a:r>
          </a:p>
          <a:p>
            <a:r>
              <a:rPr lang="en-US" dirty="0" smtClean="0"/>
              <a:t>Without Ca²⁺, PQQ can </a:t>
            </a:r>
            <a:r>
              <a:rPr lang="en-US" b="1" dirty="0" smtClean="0"/>
              <a:t>detach or remain inactive</a:t>
            </a:r>
            <a:r>
              <a:rPr lang="en-US" dirty="0" smtClean="0"/>
              <a:t>, leading to poor or no enzymatic activity.</a:t>
            </a:r>
          </a:p>
          <a:p>
            <a:r>
              <a:rPr lang="de-DE" dirty="0" smtClean="0"/>
              <a:t/>
            </a:r>
            <a:br>
              <a:rPr lang="de-DE" dirty="0" smtClean="0"/>
            </a:br>
            <a:r>
              <a:rPr lang="en-US" b="1" dirty="0" smtClean="0"/>
              <a:t>PQQ (</a:t>
            </a:r>
            <a:r>
              <a:rPr lang="en-US" b="1" dirty="0" err="1" smtClean="0"/>
              <a:t>Pyrroloquinoline</a:t>
            </a:r>
            <a:r>
              <a:rPr lang="en-US" b="1" dirty="0" smtClean="0"/>
              <a:t> Quinone)</a:t>
            </a:r>
            <a:r>
              <a:rPr lang="en-US" dirty="0" smtClean="0"/>
              <a:t> is the </a:t>
            </a:r>
            <a:r>
              <a:rPr lang="en-US" b="1" dirty="0" smtClean="0"/>
              <a:t>redox cofactor</a:t>
            </a:r>
            <a:r>
              <a:rPr lang="en-US" dirty="0" smtClean="0"/>
              <a:t> (electron carrier) of </a:t>
            </a:r>
            <a:r>
              <a:rPr lang="en-US" b="1" dirty="0" smtClean="0"/>
              <a:t>PQQ–GDH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participates directly in the </a:t>
            </a:r>
            <a:r>
              <a:rPr lang="en-US" b="1" dirty="0" smtClean="0"/>
              <a:t>oxidation of glucose to </a:t>
            </a:r>
            <a:r>
              <a:rPr lang="en-US" b="1" dirty="0" err="1" smtClean="0"/>
              <a:t>gluconolactone</a:t>
            </a:r>
            <a:r>
              <a:rPr lang="en-US" dirty="0" smtClean="0"/>
              <a:t> by </a:t>
            </a:r>
            <a:r>
              <a:rPr lang="en-US" b="1" dirty="0" smtClean="0"/>
              <a:t>accepting electrons and protons</a:t>
            </a:r>
            <a:r>
              <a:rPr lang="en-US" dirty="0" smtClean="0"/>
              <a:t> from glucose.</a:t>
            </a:r>
          </a:p>
          <a:p>
            <a:r>
              <a:rPr lang="de-DE" dirty="0" smtClean="0"/>
              <a:t/>
            </a:r>
            <a:br>
              <a:rPr lang="de-DE" dirty="0" smtClean="0"/>
            </a:br>
            <a:r>
              <a:rPr lang="en-GB" dirty="0" smtClean="0"/>
              <a:t>Enzyme Cofactor Preferred Buffer Reason </a:t>
            </a:r>
            <a:r>
              <a:rPr lang="en-GB" b="1" dirty="0" smtClean="0"/>
              <a:t>GDH (PQQ–GDH)</a:t>
            </a:r>
            <a:r>
              <a:rPr lang="en-GB" dirty="0" smtClean="0"/>
              <a:t> PQQ + Ca²⁺ </a:t>
            </a:r>
          </a:p>
          <a:p>
            <a:r>
              <a:rPr lang="en-GB" b="1" dirty="0" smtClean="0"/>
              <a:t>MES</a:t>
            </a:r>
            <a:r>
              <a:rPr lang="en-GB" dirty="0" smtClean="0"/>
              <a:t> Prevents Ca²⁺ precipitation, maintains cofactor stability </a:t>
            </a:r>
            <a:r>
              <a:rPr lang="en-GB" b="1" dirty="0" err="1" smtClean="0"/>
              <a:t>GOx</a:t>
            </a:r>
            <a:r>
              <a:rPr lang="en-GB" dirty="0" smtClean="0"/>
              <a:t> FAD </a:t>
            </a:r>
          </a:p>
          <a:p>
            <a:r>
              <a:rPr lang="en-GB" b="1" dirty="0" smtClean="0"/>
              <a:t>PBS</a:t>
            </a:r>
            <a:r>
              <a:rPr lang="en-GB" dirty="0" smtClean="0"/>
              <a:t> Maintains physiological pH, compatible with FAD and O₂ reaction 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D628D-FC62-4541-A05E-E95D41248AAB}" type="slidenum">
              <a:rPr lang="de-DE" smtClean="0"/>
              <a:t>10</a:t>
            </a:fld>
            <a:endParaRPr lang="de-DE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smtClean="0"/>
              <a:t>Emmanuel Josep Shaji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80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1nM-5nM (Wildau‘s Strategy)</a:t>
            </a:r>
          </a:p>
          <a:p>
            <a:r>
              <a:rPr lang="de-DE" dirty="0" smtClean="0"/>
              <a:t>1nM-10mM (</a:t>
            </a:r>
            <a:r>
              <a:rPr lang="de-DE" baseline="0" dirty="0" smtClean="0"/>
              <a:t> to learn more intermediate concentrations)</a:t>
            </a:r>
          </a:p>
          <a:p>
            <a:r>
              <a:rPr lang="de-DE" baseline="0" dirty="0" smtClean="0"/>
              <a:t>1µM-10mM ( Small concentrations didnt show sensing)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D628D-FC62-4541-A05E-E95D41248AAB}" type="slidenum">
              <a:rPr lang="de-DE" smtClean="0"/>
              <a:t>11</a:t>
            </a:fld>
            <a:endParaRPr lang="de-DE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smtClean="0"/>
              <a:t>Emmanuel Josep Shaji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2251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D628D-FC62-4541-A05E-E95D41248AAB}" type="slidenum">
              <a:rPr lang="de-DE" smtClean="0"/>
              <a:t>12</a:t>
            </a:fld>
            <a:endParaRPr lang="de-DE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smtClean="0"/>
              <a:t>Emmanuel Josep Shaji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00824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en-US" sz="1900" dirty="0" smtClean="0"/>
              <a:t>On current (Ion)</a:t>
            </a:r>
          </a:p>
          <a:p>
            <a:pPr lvl="2"/>
            <a:r>
              <a:rPr lang="en-US" sz="1900" dirty="0" smtClean="0"/>
              <a:t>Off current (</a:t>
            </a:r>
            <a:r>
              <a:rPr lang="en-US" sz="1900" dirty="0" err="1" smtClean="0"/>
              <a:t>Ioff</a:t>
            </a:r>
            <a:r>
              <a:rPr lang="en-US" sz="1900" dirty="0" smtClean="0"/>
              <a:t>)</a:t>
            </a:r>
          </a:p>
          <a:p>
            <a:pPr lvl="2"/>
            <a:r>
              <a:rPr lang="en-US" sz="1900" dirty="0" smtClean="0"/>
              <a:t>On/Off ratio (Ion / </a:t>
            </a:r>
            <a:r>
              <a:rPr lang="en-US" sz="1900" dirty="0" err="1" smtClean="0"/>
              <a:t>Ioff</a:t>
            </a:r>
            <a:r>
              <a:rPr lang="en-US" sz="1900" dirty="0" smtClean="0"/>
              <a:t>)</a:t>
            </a:r>
          </a:p>
          <a:p>
            <a:pPr lvl="2"/>
            <a:r>
              <a:rPr lang="en-US" sz="1900" dirty="0" smtClean="0"/>
              <a:t>Maximum </a:t>
            </a:r>
            <a:r>
              <a:rPr lang="en-US" sz="1900" dirty="0" err="1" smtClean="0"/>
              <a:t>transconductance</a:t>
            </a:r>
            <a:r>
              <a:rPr lang="en-US" sz="1900" dirty="0" smtClean="0"/>
              <a:t> (gm)</a:t>
            </a:r>
          </a:p>
          <a:p>
            <a:pPr lvl="2"/>
            <a:r>
              <a:rPr lang="en-US" sz="1900" dirty="0" smtClean="0"/>
              <a:t>Average current modulation (|</a:t>
            </a:r>
            <a:r>
              <a:rPr lang="en-US" sz="1900" dirty="0" err="1" smtClean="0"/>
              <a:t>Ioff</a:t>
            </a:r>
            <a:r>
              <a:rPr lang="en-US" sz="1900" dirty="0" smtClean="0"/>
              <a:t> – Ion| / Ion)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D628D-FC62-4541-A05E-E95D41248AAB}" type="slidenum">
              <a:rPr lang="de-DE" smtClean="0"/>
              <a:t>13</a:t>
            </a:fld>
            <a:endParaRPr lang="de-DE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smtClean="0"/>
              <a:t>Emmanuel Josep Shaji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48401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D628D-FC62-4541-A05E-E95D41248AAB}" type="slidenum">
              <a:rPr lang="de-DE" smtClean="0"/>
              <a:t>14</a:t>
            </a:fld>
            <a:endParaRPr lang="de-DE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smtClean="0"/>
              <a:t>Emmanuel Josep Shaji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21411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OECts are sensitive to tiny ionic changes,</a:t>
            </a:r>
            <a:r>
              <a:rPr lang="de-DE" baseline="0" dirty="0" smtClean="0"/>
              <a:t> ions starts to penetrate the channel and reduce its oxidized state(PEDOT</a:t>
            </a:r>
            <a:r>
              <a:rPr lang="de-DE" baseline="30000" dirty="0" smtClean="0"/>
              <a:t>+ ----</a:t>
            </a:r>
            <a:r>
              <a:rPr lang="de-DE" baseline="0" dirty="0" smtClean="0"/>
              <a:t> PEDOT</a:t>
            </a:r>
            <a:r>
              <a:rPr lang="de-DE" baseline="30000" dirty="0" smtClean="0"/>
              <a:t>0</a:t>
            </a:r>
            <a:r>
              <a:rPr lang="de-DE" baseline="0" dirty="0" smtClean="0"/>
              <a:t>) as gate voltage is applied. The increase in glucose concentration increase </a:t>
            </a:r>
            <a:r>
              <a:rPr lang="de-DE" baseline="0" smtClean="0"/>
              <a:t>ions </a:t>
            </a:r>
            <a:endParaRPr lang="de-DE" baseline="300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D628D-FC62-4541-A05E-E95D41248AAB}" type="slidenum">
              <a:rPr lang="de-DE" smtClean="0"/>
              <a:t>15</a:t>
            </a:fld>
            <a:endParaRPr lang="de-DE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smtClean="0"/>
              <a:t>Emmanuel Josep Shaji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73260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D628D-FC62-4541-A05E-E95D41248AAB}" type="slidenum">
              <a:rPr lang="de-DE" smtClean="0"/>
              <a:t>16</a:t>
            </a:fld>
            <a:endParaRPr lang="de-DE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smtClean="0"/>
              <a:t>Emmanuel Josep Shaji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63728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D628D-FC62-4541-A05E-E95D41248AAB}" type="slidenum">
              <a:rPr lang="de-DE" smtClean="0"/>
              <a:t>17</a:t>
            </a:fld>
            <a:endParaRPr lang="de-DE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smtClean="0"/>
              <a:t>Emmanuel Josep Shaji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3669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D628D-FC62-4541-A05E-E95D41248AAB}" type="slidenum">
              <a:rPr lang="de-DE" smtClean="0"/>
              <a:t>18</a:t>
            </a:fld>
            <a:endParaRPr lang="de-DE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smtClean="0"/>
              <a:t>Emmanuel Josep Shaji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22966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GB" sz="1800" b="1" dirty="0" smtClean="0"/>
              <a:t>Id vs Time:</a:t>
            </a:r>
            <a:r>
              <a:rPr lang="en-GB" sz="1800" dirty="0" smtClean="0"/>
              <a:t> Shows real-time current change after each glucose addition.</a:t>
            </a:r>
          </a:p>
          <a:p>
            <a:pPr lvl="1"/>
            <a:r>
              <a:rPr lang="el-GR" sz="1800" b="1" dirty="0" smtClean="0"/>
              <a:t>Δ</a:t>
            </a:r>
            <a:r>
              <a:rPr lang="en-GB" sz="1800" b="1" dirty="0" smtClean="0"/>
              <a:t>Id vs Glucose Concentration:</a:t>
            </a:r>
            <a:r>
              <a:rPr lang="en-GB" sz="1800" dirty="0" smtClean="0"/>
              <a:t> Shows overall current variation across glucose levels</a:t>
            </a:r>
            <a:endParaRPr lang="en-GB" sz="18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D628D-FC62-4541-A05E-E95D41248AAB}" type="slidenum">
              <a:rPr lang="de-DE" smtClean="0"/>
              <a:t>19</a:t>
            </a:fld>
            <a:endParaRPr lang="de-DE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smtClean="0"/>
              <a:t>Emmanuel Josep Shaji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38475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D628D-FC62-4541-A05E-E95D41248AAB}" type="slidenum">
              <a:rPr lang="de-DE" smtClean="0"/>
              <a:t>20</a:t>
            </a:fld>
            <a:endParaRPr lang="de-DE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smtClean="0"/>
              <a:t>Emmanuel Josep Shaji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57967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smtClean="0"/>
              <a:t>Emmanuel Josep Shaji</a:t>
            </a: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0D628D-FC62-4541-A05E-E95D41248AAB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83851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 smtClean="0"/>
              <a:t>1.Mask Design and </a:t>
            </a:r>
            <a:r>
              <a:rPr lang="en-GB" sz="1200" dirty="0" err="1" smtClean="0"/>
              <a:t>LayoutDesigned</a:t>
            </a:r>
            <a:r>
              <a:rPr lang="en-GB" sz="1200" dirty="0" smtClean="0"/>
              <a:t> electrode and channel geometries in AutoCAD (21 mm × 21 mm chip)Included three 500 </a:t>
            </a:r>
            <a:r>
              <a:rPr lang="el-GR" sz="1200" dirty="0" smtClean="0"/>
              <a:t>μ</a:t>
            </a:r>
            <a:r>
              <a:rPr lang="en-GB" sz="1200" dirty="0" smtClean="0"/>
              <a:t>m × 500 </a:t>
            </a:r>
            <a:r>
              <a:rPr lang="el-GR" sz="1200" dirty="0" smtClean="0"/>
              <a:t>μ</a:t>
            </a:r>
            <a:r>
              <a:rPr lang="en-GB" sz="1200" dirty="0" smtClean="0"/>
              <a:t>m channels and in-plane Pt gates (GT1–GT3) Overhanging platinum-coated glass electrode used as gate during testing Layout exported in .</a:t>
            </a:r>
            <a:r>
              <a:rPr lang="en-GB" sz="1200" dirty="0" err="1" smtClean="0"/>
              <a:t>dxf</a:t>
            </a:r>
            <a:r>
              <a:rPr lang="en-GB" sz="1200" dirty="0" smtClean="0"/>
              <a:t> format and aligned using wafer template(</a:t>
            </a:r>
            <a:r>
              <a:rPr lang="en-US" dirty="0" smtClean="0"/>
              <a:t>Each chip design is aligned by snapping its </a:t>
            </a:r>
            <a:r>
              <a:rPr lang="en-US" b="1" dirty="0" smtClean="0"/>
              <a:t>bottom-left corner</a:t>
            </a:r>
            <a:r>
              <a:rPr lang="en-US" dirty="0" smtClean="0"/>
              <a:t> to the </a:t>
            </a:r>
            <a:r>
              <a:rPr lang="en-US" b="1" dirty="0" smtClean="0"/>
              <a:t>top-right corner</a:t>
            </a:r>
            <a:r>
              <a:rPr lang="en-US" dirty="0" smtClean="0"/>
              <a:t> of a positioning square on the wafer template.)</a:t>
            </a:r>
            <a:endParaRPr lang="en-GB" sz="1200" dirty="0" smtClean="0"/>
          </a:p>
          <a:p>
            <a:r>
              <a:rPr lang="en-GB" sz="1200" dirty="0" smtClean="0"/>
              <a:t>2. Electrode Deposition and Patterning-Started with thermally oxidized Si wafer (</a:t>
            </a:r>
            <a:r>
              <a:rPr lang="en-GB" sz="1200" dirty="0" err="1" smtClean="0"/>
              <a:t>SiO</a:t>
            </a:r>
            <a:r>
              <a:rPr lang="en-GB" sz="1200" dirty="0" smtClean="0"/>
              <a:t>₂ ≈ 500 nm) for insulation. Surface treated with APTES → improved adhesion for polyimide (PI)First PI layer spin-coated and cured as adhesion/buffer layer. Gold film sputtered and patterned (source, drain, gate lines) via first photolithography, Second- Third PI layer added as sacrificial layer for later lift-off Second photoresist (PR2) applied to define contact </a:t>
            </a:r>
            <a:r>
              <a:rPr lang="en-GB" sz="1200" dirty="0" err="1" smtClean="0"/>
              <a:t>vias</a:t>
            </a:r>
            <a:r>
              <a:rPr lang="en-GB" sz="1200" dirty="0" smtClean="0"/>
              <a:t> and channels. Reactive-ion etching (RIE) used to open via holes and define channels. PR2 removed after etching.</a:t>
            </a:r>
          </a:p>
          <a:p>
            <a:r>
              <a:rPr lang="en-GB" sz="1200" dirty="0" smtClean="0"/>
              <a:t>3. PEDOT:PSS Deposition Formulated modified PEDOT:PSS (</a:t>
            </a:r>
            <a:r>
              <a:rPr lang="en-GB" sz="1200" dirty="0" err="1" smtClean="0"/>
              <a:t>mPEDOT:PSS</a:t>
            </a:r>
            <a:r>
              <a:rPr lang="en-GB" sz="1200" dirty="0" smtClean="0"/>
              <a:t>):PEDOT:PSS (</a:t>
            </a:r>
            <a:r>
              <a:rPr lang="en-GB" sz="1200" dirty="0" err="1" smtClean="0"/>
              <a:t>Clevios</a:t>
            </a:r>
            <a:r>
              <a:rPr lang="en-GB" sz="1200" dirty="0" smtClean="0"/>
              <a:t> PH1000) + 5% EG + 0.1% DBSA + 1% GOPS Mixed and stirred for 15 minutes Spin-coated (1000 rpm, 1 min) onto exposed channel region Baked at 110 °C for 10 min for solvent removal Sacrificial PI layer lifted off, revealing final channel geometry</a:t>
            </a:r>
          </a:p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smtClean="0"/>
              <a:t>Emmanuel Josep Shaji</a:t>
            </a: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0D628D-FC62-4541-A05E-E95D41248AAB}" type="slidenum">
              <a:rPr lang="de-DE" smtClean="0"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78124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dirty="0" smtClean="0"/>
              <a:t>Glucose Oxidase specific activity=360U/mg</a:t>
            </a:r>
          </a:p>
          <a:p>
            <a:r>
              <a:rPr lang="en-GB" sz="1200" dirty="0" smtClean="0"/>
              <a:t>Unit/Volume needed=500 U/ml</a:t>
            </a:r>
          </a:p>
          <a:p>
            <a:r>
              <a:rPr lang="en-GB" sz="1200" dirty="0" smtClean="0"/>
              <a:t>Required mass=specific activity/Unit/Volume=1.39mg/ml</a:t>
            </a:r>
          </a:p>
          <a:p>
            <a:r>
              <a:rPr lang="en-GB" sz="1200" dirty="0" smtClean="0"/>
              <a:t>Volume prepared=5mL</a:t>
            </a:r>
          </a:p>
          <a:p>
            <a:r>
              <a:rPr lang="en-GB" sz="1200" dirty="0" smtClean="0"/>
              <a:t>Unit/Volume Prepared=5ml*1.39mg/ml=6.95mg</a:t>
            </a:r>
          </a:p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smtClean="0"/>
              <a:t>Emmanuel Josep Shaji</a:t>
            </a: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0D628D-FC62-4541-A05E-E95D41248AAB}" type="slidenum">
              <a:rPr lang="de-DE" smtClean="0"/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4243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smtClean="0"/>
              <a:t>Emmanuel Josep Shaji</a:t>
            </a: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0D628D-FC62-4541-A05E-E95D41248AAB}" type="slidenum">
              <a:rPr lang="de-DE" smtClean="0"/>
              <a:t>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12936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Optical glucose sensing:</a:t>
            </a:r>
            <a:r>
              <a:rPr lang="en-US" dirty="0" smtClean="0"/>
              <a:t> Detects glucose through changes in light absorption, fluorescence, or scattering caused by glucose–enzyme or glucose–indicator interactions.</a:t>
            </a:r>
          </a:p>
          <a:p>
            <a:r>
              <a:rPr lang="en-US" b="1" dirty="0" smtClean="0"/>
              <a:t>Urine/Saliva glucose testing:</a:t>
            </a:r>
            <a:r>
              <a:rPr lang="en-US" dirty="0" smtClean="0"/>
              <a:t> Determines glucose concentration by measuring the color change of a dye after enzymatic oxidation, compared to an optical or color reference.</a:t>
            </a:r>
          </a:p>
          <a:p>
            <a:r>
              <a:rPr lang="en-US" b="1" dirty="0" smtClean="0"/>
              <a:t>Microwave/Impedance glucose sensing:</a:t>
            </a:r>
            <a:r>
              <a:rPr lang="en-US" dirty="0" smtClean="0"/>
              <a:t> Senses glucose by monitoring variations in dielectric properties or impedance of the sample as glucose concentration alters its conductivity and permittivity.</a:t>
            </a:r>
          </a:p>
          <a:p>
            <a:r>
              <a:rPr lang="en-US" b="1" dirty="0" smtClean="0"/>
              <a:t>Electrochemical glucose sensing:</a:t>
            </a:r>
            <a:r>
              <a:rPr lang="en-US" dirty="0" smtClean="0"/>
              <a:t> Measures electrical current or potential generated by the enzymatic oxidation of glucose, proportional to its concentration.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D628D-FC62-4541-A05E-E95D41248AAB}" type="slidenum">
              <a:rPr lang="de-DE" smtClean="0"/>
              <a:t>37</a:t>
            </a:fld>
            <a:endParaRPr lang="de-DE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smtClean="0"/>
              <a:t>Emmanuel Josep Shaji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40730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smtClean="0"/>
              <a:t>Emmanuel Josep Shaji</a:t>
            </a: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0D628D-FC62-4541-A05E-E95D41248AAB}" type="slidenum">
              <a:rPr lang="de-DE" smtClean="0"/>
              <a:t>38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6165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smtClean="0"/>
              <a:t>Emmanuel Josep Shaji</a:t>
            </a: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0D628D-FC62-4541-A05E-E95D41248AAB}" type="slidenum">
              <a:rPr lang="de-DE" smtClean="0"/>
              <a:t>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19140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D628D-FC62-4541-A05E-E95D41248AAB}" type="slidenum">
              <a:rPr lang="de-DE" smtClean="0"/>
              <a:t>40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9871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extLst>
              <a:ext uri="{FF2B5EF4-FFF2-40B4-BE49-F238E27FC236}">
                <a16:creationId xmlns:a16="http://schemas.microsoft.com/office/drawing/2014/main" xmlns="" id="{140E8EEC-46F2-4B35-87AC-700E0D244779}"/>
              </a:ext>
            </a:extLst>
          </p:cNvPr>
          <p:cNvSpPr/>
          <p:nvPr userDrawn="1"/>
        </p:nvSpPr>
        <p:spPr bwMode="gray">
          <a:xfrm>
            <a:off x="0" y="1952625"/>
            <a:ext cx="5087937" cy="49053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xmlns="" id="{0A356983-F90E-4A48-860D-1EC10306650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42728" y="427632"/>
            <a:ext cx="2029010" cy="730343"/>
          </a:xfrm>
          <a:prstGeom prst="rect">
            <a:avLst/>
          </a:prstGeom>
        </p:spPr>
      </p:pic>
      <p:sp>
        <p:nvSpPr>
          <p:cNvPr id="14" name="Eckige Klammer rechts 13">
            <a:extLst>
              <a:ext uri="{FF2B5EF4-FFF2-40B4-BE49-F238E27FC236}">
                <a16:creationId xmlns:a16="http://schemas.microsoft.com/office/drawing/2014/main" xmlns="" id="{0DD8E0B1-839F-40DF-B319-9D073963F17A}"/>
              </a:ext>
            </a:extLst>
          </p:cNvPr>
          <p:cNvSpPr/>
          <p:nvPr userDrawn="1"/>
        </p:nvSpPr>
        <p:spPr bwMode="gray">
          <a:xfrm rot="16200000">
            <a:off x="10470291" y="-1584463"/>
            <a:ext cx="189310" cy="2799411"/>
          </a:xfrm>
          <a:prstGeom prst="rightBracket">
            <a:avLst>
              <a:gd name="adj" fmla="val 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xmlns="" id="{3BBC1A6E-5591-4590-B56D-89FA5CAE8E9F}"/>
              </a:ext>
            </a:extLst>
          </p:cNvPr>
          <p:cNvSpPr/>
          <p:nvPr userDrawn="1"/>
        </p:nvSpPr>
        <p:spPr bwMode="gray">
          <a:xfrm>
            <a:off x="9163616" y="-216694"/>
            <a:ext cx="2799411" cy="1893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ts val="1200"/>
              </a:lnSpc>
            </a:pPr>
            <a:r>
              <a:rPr lang="de-DE" sz="900" b="0" spc="20" baseline="0" dirty="0">
                <a:solidFill>
                  <a:schemeClr val="bg1">
                    <a:lumMod val="50000"/>
                  </a:schemeClr>
                </a:solidFill>
              </a:rPr>
              <a:t>Eingabe im Folienmaster (Ansicht &gt; Folienmaster)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xmlns="" id="{6F3D7BA4-554E-4E23-9675-3297032C4A4F}"/>
              </a:ext>
            </a:extLst>
          </p:cNvPr>
          <p:cNvSpPr/>
          <p:nvPr userDrawn="1"/>
        </p:nvSpPr>
        <p:spPr bwMode="gray">
          <a:xfrm>
            <a:off x="-1" y="2960688"/>
            <a:ext cx="4043364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xmlns="" id="{2B0F5CDE-0E73-4EB1-9401-622EF3EE2181}"/>
              </a:ext>
            </a:extLst>
          </p:cNvPr>
          <p:cNvSpPr/>
          <p:nvPr userDrawn="1"/>
        </p:nvSpPr>
        <p:spPr bwMode="gray">
          <a:xfrm>
            <a:off x="-1" y="3933825"/>
            <a:ext cx="4043364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xmlns="" id="{471534D4-B3CD-4FDD-81C5-EF29F0218959}"/>
              </a:ext>
            </a:extLst>
          </p:cNvPr>
          <p:cNvSpPr/>
          <p:nvPr userDrawn="1"/>
        </p:nvSpPr>
        <p:spPr bwMode="gray">
          <a:xfrm>
            <a:off x="-1" y="4905375"/>
            <a:ext cx="4043364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xmlns="" id="{3CD48A76-B6E9-4BB2-B675-8D7BC3B91F5B}"/>
              </a:ext>
            </a:extLst>
          </p:cNvPr>
          <p:cNvSpPr/>
          <p:nvPr userDrawn="1"/>
        </p:nvSpPr>
        <p:spPr bwMode="gray">
          <a:xfrm>
            <a:off x="-1" y="5884655"/>
            <a:ext cx="4043364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xmlns="" id="{BFE24309-D8CF-496E-AA1D-B664B90D3C1F}"/>
              </a:ext>
            </a:extLst>
          </p:cNvPr>
          <p:cNvSpPr/>
          <p:nvPr userDrawn="1"/>
        </p:nvSpPr>
        <p:spPr bwMode="gray">
          <a:xfrm>
            <a:off x="5087938" y="1952625"/>
            <a:ext cx="7104062" cy="490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xmlns="" id="{D3DA0664-74DA-496A-A215-87EE34D61CA4}"/>
              </a:ext>
            </a:extLst>
          </p:cNvPr>
          <p:cNvSpPr/>
          <p:nvPr userDrawn="1"/>
        </p:nvSpPr>
        <p:spPr bwMode="gray">
          <a:xfrm>
            <a:off x="6096000" y="2960688"/>
            <a:ext cx="1008063" cy="38973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xmlns="" id="{4FB1D8DA-EE61-4B45-A0BE-6F822FC03B7A}"/>
              </a:ext>
            </a:extLst>
          </p:cNvPr>
          <p:cNvSpPr/>
          <p:nvPr userDrawn="1"/>
        </p:nvSpPr>
        <p:spPr bwMode="gray">
          <a:xfrm>
            <a:off x="8155553" y="2960688"/>
            <a:ext cx="1008063" cy="38973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xmlns="" id="{E4141D52-3618-414B-A563-6A32A782B37C}"/>
              </a:ext>
            </a:extLst>
          </p:cNvPr>
          <p:cNvSpPr/>
          <p:nvPr userDrawn="1"/>
        </p:nvSpPr>
        <p:spPr bwMode="gray">
          <a:xfrm>
            <a:off x="10164763" y="2960688"/>
            <a:ext cx="1008063" cy="38973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16" name="Rechteck 12">
            <a:extLst>
              <a:ext uri="{FF2B5EF4-FFF2-40B4-BE49-F238E27FC236}">
                <a16:creationId xmlns:a16="http://schemas.microsoft.com/office/drawing/2014/main" xmlns="" id="{762D4977-4A9D-470E-A34A-80B3E0DC5EAE}"/>
              </a:ext>
            </a:extLst>
          </p:cNvPr>
          <p:cNvSpPr/>
          <p:nvPr userDrawn="1"/>
        </p:nvSpPr>
        <p:spPr bwMode="gray">
          <a:xfrm>
            <a:off x="9264352" y="413303"/>
            <a:ext cx="2698675" cy="447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r">
              <a:lnSpc>
                <a:spcPts val="1700"/>
              </a:lnSpc>
            </a:pPr>
            <a:r>
              <a:rPr lang="de-DE" sz="1700" b="0" spc="40" baseline="0" dirty="0">
                <a:solidFill>
                  <a:schemeClr val="tx1"/>
                </a:solidFill>
              </a:rPr>
              <a:t>Institute </a:t>
            </a:r>
            <a:r>
              <a:rPr lang="de-DE" sz="1700" b="0" spc="40" baseline="0" dirty="0" err="1">
                <a:solidFill>
                  <a:schemeClr val="tx1"/>
                </a:solidFill>
              </a:rPr>
              <a:t>for</a:t>
            </a:r>
            <a:r>
              <a:rPr lang="de-DE" sz="1700" b="0" spc="40" baseline="0" dirty="0">
                <a:solidFill>
                  <a:schemeClr val="tx1"/>
                </a:solidFill>
              </a:rPr>
              <a:t> Microsensors, - </a:t>
            </a:r>
            <a:r>
              <a:rPr lang="de-DE" sz="1700" b="0" spc="40" baseline="0" dirty="0" err="1">
                <a:solidFill>
                  <a:schemeClr val="tx1"/>
                </a:solidFill>
              </a:rPr>
              <a:t>actuators</a:t>
            </a:r>
            <a:r>
              <a:rPr lang="de-DE" sz="1700" b="0" spc="40" baseline="0" dirty="0">
                <a:solidFill>
                  <a:schemeClr val="tx1"/>
                </a:solidFill>
              </a:rPr>
              <a:t>, and - </a:t>
            </a:r>
            <a:r>
              <a:rPr lang="de-DE" sz="1700" b="0" spc="40" baseline="0" dirty="0" err="1">
                <a:solidFill>
                  <a:schemeClr val="tx1"/>
                </a:solidFill>
              </a:rPr>
              <a:t>systems</a:t>
            </a:r>
            <a:endParaRPr lang="de-DE" sz="1700" b="0" spc="40" baseline="0" dirty="0">
              <a:solidFill>
                <a:schemeClr val="tx1"/>
              </a:solidFill>
            </a:endParaRPr>
          </a:p>
        </p:txBody>
      </p:sp>
      <p:sp>
        <p:nvSpPr>
          <p:cNvPr id="18" name="Rechteck 16">
            <a:extLst>
              <a:ext uri="{FF2B5EF4-FFF2-40B4-BE49-F238E27FC236}">
                <a16:creationId xmlns:a16="http://schemas.microsoft.com/office/drawing/2014/main" xmlns="" id="{92269247-D8CB-47E3-9427-388A3A3736C8}"/>
              </a:ext>
            </a:extLst>
          </p:cNvPr>
          <p:cNvSpPr/>
          <p:nvPr userDrawn="1"/>
        </p:nvSpPr>
        <p:spPr bwMode="gray">
          <a:xfrm>
            <a:off x="9651594" y="1036861"/>
            <a:ext cx="2311433" cy="6999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r">
              <a:lnSpc>
                <a:spcPts val="1200"/>
              </a:lnSpc>
            </a:pPr>
            <a:r>
              <a:rPr lang="de-DE" sz="1000" b="1" spc="20" baseline="0" dirty="0">
                <a:solidFill>
                  <a:schemeClr val="tx1"/>
                </a:solidFill>
              </a:rPr>
              <a:t>Faculty 01</a:t>
            </a:r>
          </a:p>
          <a:p>
            <a:pPr algn="r">
              <a:lnSpc>
                <a:spcPts val="1200"/>
              </a:lnSpc>
            </a:pPr>
            <a:r>
              <a:rPr lang="de-DE" sz="1000" b="0" spc="20" baseline="0" dirty="0">
                <a:solidFill>
                  <a:schemeClr val="tx1"/>
                </a:solidFill>
              </a:rPr>
              <a:t>Physics/EE</a:t>
            </a:r>
          </a:p>
        </p:txBody>
      </p:sp>
    </p:spTree>
    <p:extLst>
      <p:ext uri="{BB962C8B-B14F-4D97-AF65-F5344CB8AC3E}">
        <p14:creationId xmlns:p14="http://schemas.microsoft.com/office/powerpoint/2010/main" val="39343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extLst>
              <a:ext uri="{FF2B5EF4-FFF2-40B4-BE49-F238E27FC236}">
                <a16:creationId xmlns:a16="http://schemas.microsoft.com/office/drawing/2014/main" xmlns="" id="{140E8EEC-46F2-4B35-87AC-700E0D244779}"/>
              </a:ext>
            </a:extLst>
          </p:cNvPr>
          <p:cNvSpPr/>
          <p:nvPr userDrawn="1"/>
        </p:nvSpPr>
        <p:spPr bwMode="gray">
          <a:xfrm>
            <a:off x="0" y="1952625"/>
            <a:ext cx="12192000" cy="4905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xmlns="" id="{0A356983-F90E-4A48-860D-1EC10306650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42728" y="427632"/>
            <a:ext cx="2029010" cy="730343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xmlns="" id="{562616DF-97B9-4D6A-96AE-A6341EA17B76}"/>
              </a:ext>
            </a:extLst>
          </p:cNvPr>
          <p:cNvSpPr/>
          <p:nvPr userDrawn="1"/>
        </p:nvSpPr>
        <p:spPr bwMode="gray">
          <a:xfrm>
            <a:off x="9644423" y="413303"/>
            <a:ext cx="2318604" cy="447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ts val="1700"/>
              </a:lnSpc>
            </a:pPr>
            <a:r>
              <a:rPr lang="de-DE" sz="1700" b="0" spc="40" baseline="0" dirty="0">
                <a:solidFill>
                  <a:schemeClr val="tx1"/>
                </a:solidFill>
              </a:rPr>
              <a:t>Optional: Institut </a:t>
            </a:r>
          </a:p>
          <a:p>
            <a:pPr algn="l">
              <a:lnSpc>
                <a:spcPts val="1700"/>
              </a:lnSpc>
            </a:pPr>
            <a:r>
              <a:rPr lang="de-DE" sz="1700" b="0" spc="40" baseline="0" dirty="0">
                <a:solidFill>
                  <a:schemeClr val="tx1"/>
                </a:solidFill>
              </a:rPr>
              <a:t>Name des Instituts</a:t>
            </a:r>
          </a:p>
        </p:txBody>
      </p:sp>
      <p:sp>
        <p:nvSpPr>
          <p:cNvPr id="14" name="Eckige Klammer rechts 13">
            <a:extLst>
              <a:ext uri="{FF2B5EF4-FFF2-40B4-BE49-F238E27FC236}">
                <a16:creationId xmlns:a16="http://schemas.microsoft.com/office/drawing/2014/main" xmlns="" id="{0DD8E0B1-839F-40DF-B319-9D073963F17A}"/>
              </a:ext>
            </a:extLst>
          </p:cNvPr>
          <p:cNvSpPr/>
          <p:nvPr userDrawn="1"/>
        </p:nvSpPr>
        <p:spPr bwMode="gray">
          <a:xfrm rot="16200000">
            <a:off x="10470291" y="-1584463"/>
            <a:ext cx="189310" cy="2799411"/>
          </a:xfrm>
          <a:prstGeom prst="rightBracket">
            <a:avLst>
              <a:gd name="adj" fmla="val 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xmlns="" id="{3BBC1A6E-5591-4590-B56D-89FA5CAE8E9F}"/>
              </a:ext>
            </a:extLst>
          </p:cNvPr>
          <p:cNvSpPr/>
          <p:nvPr userDrawn="1"/>
        </p:nvSpPr>
        <p:spPr bwMode="gray">
          <a:xfrm>
            <a:off x="9163616" y="-216694"/>
            <a:ext cx="2799411" cy="1893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ts val="1200"/>
              </a:lnSpc>
            </a:pPr>
            <a:r>
              <a:rPr lang="de-DE" sz="900" b="0" spc="20" baseline="0" dirty="0">
                <a:solidFill>
                  <a:schemeClr val="bg1">
                    <a:lumMod val="50000"/>
                  </a:schemeClr>
                </a:solidFill>
              </a:rPr>
              <a:t>Eingabe im Folienmaster (Ansicht &gt; Folienmaster)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xmlns="" id="{E053708E-DE3A-4905-AD21-45C7EC7BC2FD}"/>
              </a:ext>
            </a:extLst>
          </p:cNvPr>
          <p:cNvSpPr/>
          <p:nvPr userDrawn="1"/>
        </p:nvSpPr>
        <p:spPr bwMode="gray">
          <a:xfrm>
            <a:off x="9651594" y="1036861"/>
            <a:ext cx="2311433" cy="6999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ts val="1200"/>
              </a:lnSpc>
            </a:pPr>
            <a:r>
              <a:rPr lang="de-DE" sz="1000" b="1" spc="20" baseline="0" dirty="0">
                <a:solidFill>
                  <a:schemeClr val="tx1"/>
                </a:solidFill>
              </a:rPr>
              <a:t>Dezernat/Referat/Fachbereich 00</a:t>
            </a:r>
          </a:p>
          <a:p>
            <a:pPr algn="l">
              <a:lnSpc>
                <a:spcPts val="1200"/>
              </a:lnSpc>
            </a:pPr>
            <a:r>
              <a:rPr lang="de-DE" sz="1000" b="0" spc="20" baseline="0" dirty="0">
                <a:solidFill>
                  <a:schemeClr val="tx1"/>
                </a:solidFill>
              </a:rPr>
              <a:t>Name des Dezernats/Referats/</a:t>
            </a:r>
          </a:p>
          <a:p>
            <a:pPr algn="l">
              <a:lnSpc>
                <a:spcPts val="1200"/>
              </a:lnSpc>
            </a:pPr>
            <a:r>
              <a:rPr lang="de-DE" sz="1000" b="0" spc="20" baseline="0" dirty="0">
                <a:solidFill>
                  <a:schemeClr val="tx1"/>
                </a:solidFill>
              </a:rPr>
              <a:t>Fachbereichs auch zweizeilig möglich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xmlns="" id="{471534D4-B3CD-4FDD-81C5-EF29F0218959}"/>
              </a:ext>
            </a:extLst>
          </p:cNvPr>
          <p:cNvSpPr/>
          <p:nvPr userDrawn="1"/>
        </p:nvSpPr>
        <p:spPr bwMode="gray">
          <a:xfrm>
            <a:off x="-1" y="4437826"/>
            <a:ext cx="4043364" cy="24201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xmlns="" id="{BFE24309-D8CF-496E-AA1D-B664B90D3C1F}"/>
              </a:ext>
            </a:extLst>
          </p:cNvPr>
          <p:cNvSpPr/>
          <p:nvPr userDrawn="1"/>
        </p:nvSpPr>
        <p:spPr bwMode="gray">
          <a:xfrm>
            <a:off x="-2" y="1952626"/>
            <a:ext cx="12192002" cy="2485200"/>
          </a:xfrm>
          <a:prstGeom prst="rect">
            <a:avLst/>
          </a:prstGeom>
          <a:solidFill>
            <a:srgbClr val="FEC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xmlns="" id="{705B476D-C268-4FF4-8A7C-99879001B719}"/>
              </a:ext>
            </a:extLst>
          </p:cNvPr>
          <p:cNvSpPr/>
          <p:nvPr userDrawn="1"/>
        </p:nvSpPr>
        <p:spPr bwMode="gray">
          <a:xfrm>
            <a:off x="4043363" y="2465072"/>
            <a:ext cx="8148637" cy="504000"/>
          </a:xfrm>
          <a:prstGeom prst="rect">
            <a:avLst/>
          </a:prstGeom>
          <a:solidFill>
            <a:srgbClr val="F8A6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xmlns="" id="{794024E5-3454-4B0A-8EB0-03BDC83D5E33}"/>
              </a:ext>
            </a:extLst>
          </p:cNvPr>
          <p:cNvSpPr/>
          <p:nvPr userDrawn="1"/>
        </p:nvSpPr>
        <p:spPr bwMode="gray">
          <a:xfrm>
            <a:off x="4043363" y="3438209"/>
            <a:ext cx="8148637" cy="504000"/>
          </a:xfrm>
          <a:prstGeom prst="rect">
            <a:avLst/>
          </a:prstGeom>
          <a:solidFill>
            <a:srgbClr val="F8A6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</p:spTree>
    <p:extLst>
      <p:ext uri="{BB962C8B-B14F-4D97-AF65-F5344CB8AC3E}">
        <p14:creationId xmlns:p14="http://schemas.microsoft.com/office/powerpoint/2010/main" val="967849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extLst>
              <a:ext uri="{FF2B5EF4-FFF2-40B4-BE49-F238E27FC236}">
                <a16:creationId xmlns:a16="http://schemas.microsoft.com/office/drawing/2014/main" xmlns="" id="{140E8EEC-46F2-4B35-87AC-700E0D244779}"/>
              </a:ext>
            </a:extLst>
          </p:cNvPr>
          <p:cNvSpPr/>
          <p:nvPr userDrawn="1"/>
        </p:nvSpPr>
        <p:spPr bwMode="gray">
          <a:xfrm>
            <a:off x="0" y="1952625"/>
            <a:ext cx="5087937" cy="4905375"/>
          </a:xfrm>
          <a:prstGeom prst="rect">
            <a:avLst/>
          </a:prstGeom>
          <a:solidFill>
            <a:srgbClr val="D45C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xmlns="" id="{0A356983-F90E-4A48-860D-1EC10306650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42728" y="427632"/>
            <a:ext cx="2029010" cy="730343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xmlns="" id="{562616DF-97B9-4D6A-96AE-A6341EA17B76}"/>
              </a:ext>
            </a:extLst>
          </p:cNvPr>
          <p:cNvSpPr/>
          <p:nvPr userDrawn="1"/>
        </p:nvSpPr>
        <p:spPr bwMode="gray">
          <a:xfrm>
            <a:off x="9644423" y="413303"/>
            <a:ext cx="2318604" cy="447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ts val="1700"/>
              </a:lnSpc>
            </a:pPr>
            <a:r>
              <a:rPr lang="de-DE" sz="1700" b="0" spc="40" baseline="0" dirty="0">
                <a:solidFill>
                  <a:schemeClr val="tx1"/>
                </a:solidFill>
              </a:rPr>
              <a:t>Optional: Institut </a:t>
            </a:r>
          </a:p>
          <a:p>
            <a:pPr algn="l">
              <a:lnSpc>
                <a:spcPts val="1700"/>
              </a:lnSpc>
            </a:pPr>
            <a:r>
              <a:rPr lang="de-DE" sz="1700" b="0" spc="40" baseline="0" dirty="0">
                <a:solidFill>
                  <a:schemeClr val="tx1"/>
                </a:solidFill>
              </a:rPr>
              <a:t>Name des Instituts</a:t>
            </a:r>
          </a:p>
        </p:txBody>
      </p:sp>
      <p:sp>
        <p:nvSpPr>
          <p:cNvPr id="14" name="Eckige Klammer rechts 13">
            <a:extLst>
              <a:ext uri="{FF2B5EF4-FFF2-40B4-BE49-F238E27FC236}">
                <a16:creationId xmlns:a16="http://schemas.microsoft.com/office/drawing/2014/main" xmlns="" id="{0DD8E0B1-839F-40DF-B319-9D073963F17A}"/>
              </a:ext>
            </a:extLst>
          </p:cNvPr>
          <p:cNvSpPr/>
          <p:nvPr userDrawn="1"/>
        </p:nvSpPr>
        <p:spPr bwMode="gray">
          <a:xfrm rot="16200000">
            <a:off x="10470291" y="-1584463"/>
            <a:ext cx="189310" cy="2799411"/>
          </a:xfrm>
          <a:prstGeom prst="rightBracket">
            <a:avLst>
              <a:gd name="adj" fmla="val 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xmlns="" id="{3BBC1A6E-5591-4590-B56D-89FA5CAE8E9F}"/>
              </a:ext>
            </a:extLst>
          </p:cNvPr>
          <p:cNvSpPr/>
          <p:nvPr userDrawn="1"/>
        </p:nvSpPr>
        <p:spPr bwMode="gray">
          <a:xfrm>
            <a:off x="9163616" y="-216694"/>
            <a:ext cx="2799411" cy="1893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ts val="1200"/>
              </a:lnSpc>
            </a:pPr>
            <a:r>
              <a:rPr lang="de-DE" sz="900" b="0" spc="20" baseline="0" dirty="0">
                <a:solidFill>
                  <a:schemeClr val="bg1">
                    <a:lumMod val="50000"/>
                  </a:schemeClr>
                </a:solidFill>
              </a:rPr>
              <a:t>Eingabe im Folienmaster (Ansicht &gt; Folienmaster)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xmlns="" id="{E053708E-DE3A-4905-AD21-45C7EC7BC2FD}"/>
              </a:ext>
            </a:extLst>
          </p:cNvPr>
          <p:cNvSpPr/>
          <p:nvPr userDrawn="1"/>
        </p:nvSpPr>
        <p:spPr bwMode="gray">
          <a:xfrm>
            <a:off x="9651594" y="1036861"/>
            <a:ext cx="2311433" cy="6999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ts val="1200"/>
              </a:lnSpc>
            </a:pPr>
            <a:r>
              <a:rPr lang="de-DE" sz="1000" b="1" spc="20" baseline="0" dirty="0">
                <a:solidFill>
                  <a:schemeClr val="tx1"/>
                </a:solidFill>
              </a:rPr>
              <a:t>Dezernat/Referat/Fachbereich 00</a:t>
            </a:r>
          </a:p>
          <a:p>
            <a:pPr algn="l">
              <a:lnSpc>
                <a:spcPts val="1200"/>
              </a:lnSpc>
            </a:pPr>
            <a:r>
              <a:rPr lang="de-DE" sz="1000" b="0" spc="20" baseline="0" dirty="0">
                <a:solidFill>
                  <a:schemeClr val="tx1"/>
                </a:solidFill>
              </a:rPr>
              <a:t>Name des Dezernats/Referats/</a:t>
            </a:r>
          </a:p>
          <a:p>
            <a:pPr algn="l">
              <a:lnSpc>
                <a:spcPts val="1200"/>
              </a:lnSpc>
            </a:pPr>
            <a:r>
              <a:rPr lang="de-DE" sz="1000" b="0" spc="20" baseline="0" dirty="0">
                <a:solidFill>
                  <a:schemeClr val="tx1"/>
                </a:solidFill>
              </a:rPr>
              <a:t>Fachbereichs auch zweizeilig möglich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xmlns="" id="{6F3D7BA4-554E-4E23-9675-3297032C4A4F}"/>
              </a:ext>
            </a:extLst>
          </p:cNvPr>
          <p:cNvSpPr/>
          <p:nvPr userDrawn="1"/>
        </p:nvSpPr>
        <p:spPr bwMode="gray">
          <a:xfrm>
            <a:off x="-1" y="2456688"/>
            <a:ext cx="4043364" cy="504000"/>
          </a:xfrm>
          <a:prstGeom prst="rect">
            <a:avLst/>
          </a:prstGeom>
          <a:solidFill>
            <a:srgbClr val="F49F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xmlns="" id="{2B0F5CDE-0E73-4EB1-9401-622EF3EE2181}"/>
              </a:ext>
            </a:extLst>
          </p:cNvPr>
          <p:cNvSpPr/>
          <p:nvPr userDrawn="1"/>
        </p:nvSpPr>
        <p:spPr bwMode="gray">
          <a:xfrm>
            <a:off x="-1" y="3429825"/>
            <a:ext cx="4043364" cy="504000"/>
          </a:xfrm>
          <a:prstGeom prst="rect">
            <a:avLst/>
          </a:prstGeom>
          <a:solidFill>
            <a:srgbClr val="F49F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xmlns="" id="{471534D4-B3CD-4FDD-81C5-EF29F0218959}"/>
              </a:ext>
            </a:extLst>
          </p:cNvPr>
          <p:cNvSpPr/>
          <p:nvPr userDrawn="1"/>
        </p:nvSpPr>
        <p:spPr bwMode="gray">
          <a:xfrm>
            <a:off x="-1" y="4401375"/>
            <a:ext cx="4043364" cy="504000"/>
          </a:xfrm>
          <a:prstGeom prst="rect">
            <a:avLst/>
          </a:prstGeom>
          <a:solidFill>
            <a:srgbClr val="F49F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xmlns="" id="{3CD48A76-B6E9-4BB2-B675-8D7BC3B91F5B}"/>
              </a:ext>
            </a:extLst>
          </p:cNvPr>
          <p:cNvSpPr/>
          <p:nvPr userDrawn="1"/>
        </p:nvSpPr>
        <p:spPr bwMode="gray">
          <a:xfrm>
            <a:off x="-1" y="5380655"/>
            <a:ext cx="4043364" cy="504000"/>
          </a:xfrm>
          <a:prstGeom prst="rect">
            <a:avLst/>
          </a:prstGeom>
          <a:solidFill>
            <a:srgbClr val="F49F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xmlns="" id="{BFE24309-D8CF-496E-AA1D-B664B90D3C1F}"/>
              </a:ext>
            </a:extLst>
          </p:cNvPr>
          <p:cNvSpPr/>
          <p:nvPr userDrawn="1"/>
        </p:nvSpPr>
        <p:spPr bwMode="gray">
          <a:xfrm>
            <a:off x="5087938" y="1952625"/>
            <a:ext cx="7104062" cy="490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xmlns="" id="{D3DA0664-74DA-496A-A215-87EE34D61CA4}"/>
              </a:ext>
            </a:extLst>
          </p:cNvPr>
          <p:cNvSpPr/>
          <p:nvPr userDrawn="1"/>
        </p:nvSpPr>
        <p:spPr bwMode="gray">
          <a:xfrm>
            <a:off x="6096000" y="4401374"/>
            <a:ext cx="6096000" cy="2456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xmlns="" id="{807B5AA0-D076-495C-A212-0D431A03646E}"/>
              </a:ext>
            </a:extLst>
          </p:cNvPr>
          <p:cNvSpPr/>
          <p:nvPr userDrawn="1"/>
        </p:nvSpPr>
        <p:spPr bwMode="gray">
          <a:xfrm>
            <a:off x="28423" y="6359935"/>
            <a:ext cx="4043364" cy="504000"/>
          </a:xfrm>
          <a:prstGeom prst="rect">
            <a:avLst/>
          </a:prstGeom>
          <a:solidFill>
            <a:srgbClr val="F49F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</p:spTree>
    <p:extLst>
      <p:ext uri="{BB962C8B-B14F-4D97-AF65-F5344CB8AC3E}">
        <p14:creationId xmlns:p14="http://schemas.microsoft.com/office/powerpoint/2010/main" val="1359449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extLst>
              <a:ext uri="{FF2B5EF4-FFF2-40B4-BE49-F238E27FC236}">
                <a16:creationId xmlns:a16="http://schemas.microsoft.com/office/drawing/2014/main" xmlns="" id="{140E8EEC-46F2-4B35-87AC-700E0D244779}"/>
              </a:ext>
            </a:extLst>
          </p:cNvPr>
          <p:cNvSpPr/>
          <p:nvPr userDrawn="1"/>
        </p:nvSpPr>
        <p:spPr bwMode="gray">
          <a:xfrm>
            <a:off x="0" y="1952625"/>
            <a:ext cx="6096000" cy="490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xmlns="" id="{0A356983-F90E-4A48-860D-1EC10306650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42728" y="427632"/>
            <a:ext cx="2029010" cy="730343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xmlns="" id="{562616DF-97B9-4D6A-96AE-A6341EA17B76}"/>
              </a:ext>
            </a:extLst>
          </p:cNvPr>
          <p:cNvSpPr/>
          <p:nvPr userDrawn="1"/>
        </p:nvSpPr>
        <p:spPr bwMode="gray">
          <a:xfrm>
            <a:off x="9644423" y="413303"/>
            <a:ext cx="2318604" cy="447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ts val="1700"/>
              </a:lnSpc>
            </a:pPr>
            <a:r>
              <a:rPr lang="de-DE" sz="1700" b="0" spc="40" baseline="0" dirty="0">
                <a:solidFill>
                  <a:schemeClr val="tx1"/>
                </a:solidFill>
              </a:rPr>
              <a:t>Optional: Institut </a:t>
            </a:r>
          </a:p>
          <a:p>
            <a:pPr algn="l">
              <a:lnSpc>
                <a:spcPts val="1700"/>
              </a:lnSpc>
            </a:pPr>
            <a:r>
              <a:rPr lang="de-DE" sz="1700" b="0" spc="40" baseline="0" dirty="0">
                <a:solidFill>
                  <a:schemeClr val="tx1"/>
                </a:solidFill>
              </a:rPr>
              <a:t>Name des Instituts</a:t>
            </a:r>
          </a:p>
        </p:txBody>
      </p:sp>
      <p:sp>
        <p:nvSpPr>
          <p:cNvPr id="14" name="Eckige Klammer rechts 13">
            <a:extLst>
              <a:ext uri="{FF2B5EF4-FFF2-40B4-BE49-F238E27FC236}">
                <a16:creationId xmlns:a16="http://schemas.microsoft.com/office/drawing/2014/main" xmlns="" id="{0DD8E0B1-839F-40DF-B319-9D073963F17A}"/>
              </a:ext>
            </a:extLst>
          </p:cNvPr>
          <p:cNvSpPr/>
          <p:nvPr userDrawn="1"/>
        </p:nvSpPr>
        <p:spPr bwMode="gray">
          <a:xfrm rot="16200000">
            <a:off x="10470291" y="-1584463"/>
            <a:ext cx="189310" cy="2799411"/>
          </a:xfrm>
          <a:prstGeom prst="rightBracket">
            <a:avLst>
              <a:gd name="adj" fmla="val 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xmlns="" id="{3BBC1A6E-5591-4590-B56D-89FA5CAE8E9F}"/>
              </a:ext>
            </a:extLst>
          </p:cNvPr>
          <p:cNvSpPr/>
          <p:nvPr userDrawn="1"/>
        </p:nvSpPr>
        <p:spPr bwMode="gray">
          <a:xfrm>
            <a:off x="9163616" y="-216694"/>
            <a:ext cx="2799411" cy="1893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ts val="1200"/>
              </a:lnSpc>
            </a:pPr>
            <a:r>
              <a:rPr lang="de-DE" sz="900" b="0" spc="20" baseline="0" dirty="0">
                <a:solidFill>
                  <a:schemeClr val="bg1">
                    <a:lumMod val="50000"/>
                  </a:schemeClr>
                </a:solidFill>
              </a:rPr>
              <a:t>Eingabe im Folienmaster (Ansicht &gt; Folienmaster)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xmlns="" id="{E053708E-DE3A-4905-AD21-45C7EC7BC2FD}"/>
              </a:ext>
            </a:extLst>
          </p:cNvPr>
          <p:cNvSpPr/>
          <p:nvPr userDrawn="1"/>
        </p:nvSpPr>
        <p:spPr bwMode="gray">
          <a:xfrm>
            <a:off x="9651594" y="1036861"/>
            <a:ext cx="2311433" cy="6999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ts val="1200"/>
              </a:lnSpc>
            </a:pPr>
            <a:r>
              <a:rPr lang="de-DE" sz="1000" b="1" spc="20" baseline="0" dirty="0">
                <a:solidFill>
                  <a:schemeClr val="tx1"/>
                </a:solidFill>
              </a:rPr>
              <a:t>Dezernat/Referat/Fachbereich 00</a:t>
            </a:r>
          </a:p>
          <a:p>
            <a:pPr algn="l">
              <a:lnSpc>
                <a:spcPts val="1200"/>
              </a:lnSpc>
            </a:pPr>
            <a:r>
              <a:rPr lang="de-DE" sz="1000" b="0" spc="20" baseline="0" dirty="0">
                <a:solidFill>
                  <a:schemeClr val="tx1"/>
                </a:solidFill>
              </a:rPr>
              <a:t>Name des Dezernats/Referats/</a:t>
            </a:r>
          </a:p>
          <a:p>
            <a:pPr algn="l">
              <a:lnSpc>
                <a:spcPts val="1200"/>
              </a:lnSpc>
            </a:pPr>
            <a:r>
              <a:rPr lang="de-DE" sz="1000" b="0" spc="20" baseline="0" dirty="0">
                <a:solidFill>
                  <a:schemeClr val="tx1"/>
                </a:solidFill>
              </a:rPr>
              <a:t>Fachbereichs auch zweizeilig möglich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xmlns="" id="{BFE24309-D8CF-496E-AA1D-B664B90D3C1F}"/>
              </a:ext>
            </a:extLst>
          </p:cNvPr>
          <p:cNvSpPr/>
          <p:nvPr userDrawn="1"/>
        </p:nvSpPr>
        <p:spPr bwMode="gray">
          <a:xfrm>
            <a:off x="6096000" y="1952625"/>
            <a:ext cx="6096000" cy="49053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xmlns="" id="{E4141D52-3618-414B-A563-6A32A782B37C}"/>
              </a:ext>
            </a:extLst>
          </p:cNvPr>
          <p:cNvSpPr/>
          <p:nvPr userDrawn="1"/>
        </p:nvSpPr>
        <p:spPr bwMode="gray">
          <a:xfrm>
            <a:off x="9156700" y="2960688"/>
            <a:ext cx="3035299" cy="3897312"/>
          </a:xfrm>
          <a:prstGeom prst="rect">
            <a:avLst/>
          </a:prstGeom>
          <a:solidFill>
            <a:srgbClr val="8581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xmlns="" id="{9D1FFECA-CE3D-4183-B2EB-77B82BE437BE}"/>
              </a:ext>
            </a:extLst>
          </p:cNvPr>
          <p:cNvSpPr/>
          <p:nvPr userDrawn="1"/>
        </p:nvSpPr>
        <p:spPr bwMode="gray">
          <a:xfrm>
            <a:off x="0" y="2960688"/>
            <a:ext cx="1019177" cy="38973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xmlns="" id="{1408DBDF-1F31-4F92-BD2B-2F4676144A82}"/>
              </a:ext>
            </a:extLst>
          </p:cNvPr>
          <p:cNvSpPr/>
          <p:nvPr userDrawn="1"/>
        </p:nvSpPr>
        <p:spPr bwMode="gray">
          <a:xfrm>
            <a:off x="2027239" y="2960688"/>
            <a:ext cx="1008062" cy="38973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xmlns="" id="{568C62CA-75E6-4BD3-8CBF-B10BF263476E}"/>
              </a:ext>
            </a:extLst>
          </p:cNvPr>
          <p:cNvSpPr/>
          <p:nvPr userDrawn="1"/>
        </p:nvSpPr>
        <p:spPr bwMode="gray">
          <a:xfrm>
            <a:off x="4043363" y="2960688"/>
            <a:ext cx="1044575" cy="38973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</p:spTree>
    <p:extLst>
      <p:ext uri="{BB962C8B-B14F-4D97-AF65-F5344CB8AC3E}">
        <p14:creationId xmlns:p14="http://schemas.microsoft.com/office/powerpoint/2010/main" val="935137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22">
            <a:extLst>
              <a:ext uri="{FF2B5EF4-FFF2-40B4-BE49-F238E27FC236}">
                <a16:creationId xmlns:a16="http://schemas.microsoft.com/office/drawing/2014/main" xmlns="" id="{BFE24309-D8CF-496E-AA1D-B664B90D3C1F}"/>
              </a:ext>
            </a:extLst>
          </p:cNvPr>
          <p:cNvSpPr/>
          <p:nvPr userDrawn="1"/>
        </p:nvSpPr>
        <p:spPr bwMode="gray">
          <a:xfrm>
            <a:off x="-1" y="1952625"/>
            <a:ext cx="12192002" cy="490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xmlns="" id="{D3DA0664-74DA-496A-A215-87EE34D61CA4}"/>
              </a:ext>
            </a:extLst>
          </p:cNvPr>
          <p:cNvSpPr/>
          <p:nvPr userDrawn="1"/>
        </p:nvSpPr>
        <p:spPr bwMode="gray">
          <a:xfrm>
            <a:off x="4043363" y="2960688"/>
            <a:ext cx="1044575" cy="38973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xmlns="" id="{140E8EEC-46F2-4B35-87AC-700E0D244779}"/>
              </a:ext>
            </a:extLst>
          </p:cNvPr>
          <p:cNvSpPr/>
          <p:nvPr userDrawn="1"/>
        </p:nvSpPr>
        <p:spPr bwMode="gray">
          <a:xfrm>
            <a:off x="1" y="1952625"/>
            <a:ext cx="3028384" cy="49053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xmlns="" id="{0A356983-F90E-4A48-860D-1EC10306650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42728" y="427632"/>
            <a:ext cx="2029010" cy="730343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xmlns="" id="{562616DF-97B9-4D6A-96AE-A6341EA17B76}"/>
              </a:ext>
            </a:extLst>
          </p:cNvPr>
          <p:cNvSpPr/>
          <p:nvPr userDrawn="1"/>
        </p:nvSpPr>
        <p:spPr bwMode="gray">
          <a:xfrm>
            <a:off x="9644423" y="413303"/>
            <a:ext cx="2318604" cy="447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ts val="1700"/>
              </a:lnSpc>
            </a:pPr>
            <a:r>
              <a:rPr lang="de-DE" sz="1700" b="0" spc="40" baseline="0" dirty="0">
                <a:solidFill>
                  <a:schemeClr val="tx1"/>
                </a:solidFill>
              </a:rPr>
              <a:t>Optional: Institut </a:t>
            </a:r>
          </a:p>
          <a:p>
            <a:pPr algn="l">
              <a:lnSpc>
                <a:spcPts val="1700"/>
              </a:lnSpc>
            </a:pPr>
            <a:r>
              <a:rPr lang="de-DE" sz="1700" b="0" spc="40" baseline="0" dirty="0">
                <a:solidFill>
                  <a:schemeClr val="tx1"/>
                </a:solidFill>
              </a:rPr>
              <a:t>Name des Instituts</a:t>
            </a:r>
          </a:p>
        </p:txBody>
      </p:sp>
      <p:sp>
        <p:nvSpPr>
          <p:cNvPr id="14" name="Eckige Klammer rechts 13">
            <a:extLst>
              <a:ext uri="{FF2B5EF4-FFF2-40B4-BE49-F238E27FC236}">
                <a16:creationId xmlns:a16="http://schemas.microsoft.com/office/drawing/2014/main" xmlns="" id="{0DD8E0B1-839F-40DF-B319-9D073963F17A}"/>
              </a:ext>
            </a:extLst>
          </p:cNvPr>
          <p:cNvSpPr/>
          <p:nvPr userDrawn="1"/>
        </p:nvSpPr>
        <p:spPr bwMode="gray">
          <a:xfrm rot="16200000">
            <a:off x="10470291" y="-1584463"/>
            <a:ext cx="189310" cy="2799411"/>
          </a:xfrm>
          <a:prstGeom prst="rightBracket">
            <a:avLst>
              <a:gd name="adj" fmla="val 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xmlns="" id="{3BBC1A6E-5591-4590-B56D-89FA5CAE8E9F}"/>
              </a:ext>
            </a:extLst>
          </p:cNvPr>
          <p:cNvSpPr/>
          <p:nvPr userDrawn="1"/>
        </p:nvSpPr>
        <p:spPr bwMode="gray">
          <a:xfrm>
            <a:off x="9163616" y="-216694"/>
            <a:ext cx="2799411" cy="1893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ts val="1200"/>
              </a:lnSpc>
            </a:pPr>
            <a:r>
              <a:rPr lang="de-DE" sz="900" b="0" spc="20" baseline="0" dirty="0">
                <a:solidFill>
                  <a:schemeClr val="bg1">
                    <a:lumMod val="50000"/>
                  </a:schemeClr>
                </a:solidFill>
              </a:rPr>
              <a:t>Eingabe im Folienmaster (Ansicht &gt; Folienmaster)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xmlns="" id="{E053708E-DE3A-4905-AD21-45C7EC7BC2FD}"/>
              </a:ext>
            </a:extLst>
          </p:cNvPr>
          <p:cNvSpPr/>
          <p:nvPr userDrawn="1"/>
        </p:nvSpPr>
        <p:spPr bwMode="gray">
          <a:xfrm>
            <a:off x="9651594" y="1036861"/>
            <a:ext cx="2311433" cy="6999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ts val="1200"/>
              </a:lnSpc>
            </a:pPr>
            <a:r>
              <a:rPr lang="de-DE" sz="1000" b="1" spc="20" baseline="0" dirty="0">
                <a:solidFill>
                  <a:schemeClr val="tx1"/>
                </a:solidFill>
              </a:rPr>
              <a:t>Dezernat/Referat/Fachbereich 00</a:t>
            </a:r>
          </a:p>
          <a:p>
            <a:pPr algn="l">
              <a:lnSpc>
                <a:spcPts val="1200"/>
              </a:lnSpc>
            </a:pPr>
            <a:r>
              <a:rPr lang="de-DE" sz="1000" b="0" spc="20" baseline="0" dirty="0">
                <a:solidFill>
                  <a:schemeClr val="tx1"/>
                </a:solidFill>
              </a:rPr>
              <a:t>Name des Dezernats/Referats/</a:t>
            </a:r>
          </a:p>
          <a:p>
            <a:pPr algn="l">
              <a:lnSpc>
                <a:spcPts val="1200"/>
              </a:lnSpc>
            </a:pPr>
            <a:r>
              <a:rPr lang="de-DE" sz="1000" b="0" spc="20" baseline="0" dirty="0">
                <a:solidFill>
                  <a:schemeClr val="tx1"/>
                </a:solidFill>
              </a:rPr>
              <a:t>Fachbereichs auch zweizeilig möglich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xmlns="" id="{6F3D7BA4-554E-4E23-9675-3297032C4A4F}"/>
              </a:ext>
            </a:extLst>
          </p:cNvPr>
          <p:cNvSpPr/>
          <p:nvPr userDrawn="1"/>
        </p:nvSpPr>
        <p:spPr bwMode="gray">
          <a:xfrm>
            <a:off x="-1" y="2960688"/>
            <a:ext cx="2027239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xmlns="" id="{2B0F5CDE-0E73-4EB1-9401-622EF3EE2181}"/>
              </a:ext>
            </a:extLst>
          </p:cNvPr>
          <p:cNvSpPr/>
          <p:nvPr userDrawn="1"/>
        </p:nvSpPr>
        <p:spPr bwMode="gray">
          <a:xfrm>
            <a:off x="-1" y="3933825"/>
            <a:ext cx="2027239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xmlns="" id="{471534D4-B3CD-4FDD-81C5-EF29F0218959}"/>
              </a:ext>
            </a:extLst>
          </p:cNvPr>
          <p:cNvSpPr/>
          <p:nvPr userDrawn="1"/>
        </p:nvSpPr>
        <p:spPr bwMode="gray">
          <a:xfrm>
            <a:off x="-1" y="4905375"/>
            <a:ext cx="2027239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xmlns="" id="{3CD48A76-B6E9-4BB2-B675-8D7BC3B91F5B}"/>
              </a:ext>
            </a:extLst>
          </p:cNvPr>
          <p:cNvSpPr/>
          <p:nvPr userDrawn="1"/>
        </p:nvSpPr>
        <p:spPr bwMode="gray">
          <a:xfrm>
            <a:off x="-1" y="5884655"/>
            <a:ext cx="2027239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18" name="Bildplatzhalter 5">
            <a:extLst>
              <a:ext uri="{FF2B5EF4-FFF2-40B4-BE49-F238E27FC236}">
                <a16:creationId xmlns:a16="http://schemas.microsoft.com/office/drawing/2014/main" xmlns="" id="{CFDE88C3-06B4-440E-95D0-050925E5DC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5097461" y="1952625"/>
            <a:ext cx="7094538" cy="4905375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7592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extLst>
              <a:ext uri="{FF2B5EF4-FFF2-40B4-BE49-F238E27FC236}">
                <a16:creationId xmlns:a16="http://schemas.microsoft.com/office/drawing/2014/main" xmlns="" id="{140E8EEC-46F2-4B35-87AC-700E0D244779}"/>
              </a:ext>
            </a:extLst>
          </p:cNvPr>
          <p:cNvSpPr/>
          <p:nvPr userDrawn="1"/>
        </p:nvSpPr>
        <p:spPr bwMode="gray">
          <a:xfrm>
            <a:off x="0" y="1952625"/>
            <a:ext cx="12191999" cy="49053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xmlns="" id="{0A356983-F90E-4A48-860D-1EC10306650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42728" y="427632"/>
            <a:ext cx="2029010" cy="730343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xmlns="" id="{562616DF-97B9-4D6A-96AE-A6341EA17B76}"/>
              </a:ext>
            </a:extLst>
          </p:cNvPr>
          <p:cNvSpPr/>
          <p:nvPr userDrawn="1"/>
        </p:nvSpPr>
        <p:spPr bwMode="gray">
          <a:xfrm>
            <a:off x="9644423" y="413303"/>
            <a:ext cx="2318604" cy="447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ts val="1700"/>
              </a:lnSpc>
            </a:pPr>
            <a:r>
              <a:rPr lang="de-DE" sz="1700" b="0" spc="40" baseline="0" dirty="0">
                <a:solidFill>
                  <a:schemeClr val="tx1"/>
                </a:solidFill>
              </a:rPr>
              <a:t>Optional: Institut </a:t>
            </a:r>
          </a:p>
          <a:p>
            <a:pPr algn="l">
              <a:lnSpc>
                <a:spcPts val="1700"/>
              </a:lnSpc>
            </a:pPr>
            <a:r>
              <a:rPr lang="de-DE" sz="1700" b="0" spc="40" baseline="0" dirty="0">
                <a:solidFill>
                  <a:schemeClr val="tx1"/>
                </a:solidFill>
              </a:rPr>
              <a:t>Name des Instituts</a:t>
            </a:r>
          </a:p>
        </p:txBody>
      </p:sp>
      <p:sp>
        <p:nvSpPr>
          <p:cNvPr id="14" name="Eckige Klammer rechts 13">
            <a:extLst>
              <a:ext uri="{FF2B5EF4-FFF2-40B4-BE49-F238E27FC236}">
                <a16:creationId xmlns:a16="http://schemas.microsoft.com/office/drawing/2014/main" xmlns="" id="{0DD8E0B1-839F-40DF-B319-9D073963F17A}"/>
              </a:ext>
            </a:extLst>
          </p:cNvPr>
          <p:cNvSpPr/>
          <p:nvPr userDrawn="1"/>
        </p:nvSpPr>
        <p:spPr bwMode="gray">
          <a:xfrm rot="16200000">
            <a:off x="10470291" y="-1584463"/>
            <a:ext cx="189310" cy="2799411"/>
          </a:xfrm>
          <a:prstGeom prst="rightBracket">
            <a:avLst>
              <a:gd name="adj" fmla="val 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xmlns="" id="{3BBC1A6E-5591-4590-B56D-89FA5CAE8E9F}"/>
              </a:ext>
            </a:extLst>
          </p:cNvPr>
          <p:cNvSpPr/>
          <p:nvPr userDrawn="1"/>
        </p:nvSpPr>
        <p:spPr bwMode="gray">
          <a:xfrm>
            <a:off x="9163616" y="-216694"/>
            <a:ext cx="2799411" cy="1893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ts val="1200"/>
              </a:lnSpc>
            </a:pPr>
            <a:r>
              <a:rPr lang="de-DE" sz="900" b="0" spc="20" baseline="0" dirty="0">
                <a:solidFill>
                  <a:schemeClr val="bg1">
                    <a:lumMod val="50000"/>
                  </a:schemeClr>
                </a:solidFill>
              </a:rPr>
              <a:t>Eingabe im Folienmaster (Ansicht &gt; Folienmaster)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xmlns="" id="{E053708E-DE3A-4905-AD21-45C7EC7BC2FD}"/>
              </a:ext>
            </a:extLst>
          </p:cNvPr>
          <p:cNvSpPr/>
          <p:nvPr userDrawn="1"/>
        </p:nvSpPr>
        <p:spPr bwMode="gray">
          <a:xfrm>
            <a:off x="9651594" y="1036861"/>
            <a:ext cx="2311433" cy="6999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ts val="1200"/>
              </a:lnSpc>
            </a:pPr>
            <a:r>
              <a:rPr lang="de-DE" sz="1000" b="1" spc="20" baseline="0" dirty="0">
                <a:solidFill>
                  <a:schemeClr val="tx1"/>
                </a:solidFill>
              </a:rPr>
              <a:t>Dezernat/Referat/Fachbereich 00</a:t>
            </a:r>
          </a:p>
          <a:p>
            <a:pPr algn="l">
              <a:lnSpc>
                <a:spcPts val="1200"/>
              </a:lnSpc>
            </a:pPr>
            <a:r>
              <a:rPr lang="de-DE" sz="1000" b="0" spc="20" baseline="0" dirty="0">
                <a:solidFill>
                  <a:schemeClr val="tx1"/>
                </a:solidFill>
              </a:rPr>
              <a:t>Name des Dezernats/Referats/</a:t>
            </a:r>
          </a:p>
          <a:p>
            <a:pPr algn="l">
              <a:lnSpc>
                <a:spcPts val="1200"/>
              </a:lnSpc>
            </a:pPr>
            <a:r>
              <a:rPr lang="de-DE" sz="1000" b="0" spc="20" baseline="0" dirty="0">
                <a:solidFill>
                  <a:schemeClr val="tx1"/>
                </a:solidFill>
              </a:rPr>
              <a:t>Fachbereichs auch zweizeilig möglich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xmlns="" id="{6F3D7BA4-554E-4E23-9675-3297032C4A4F}"/>
              </a:ext>
            </a:extLst>
          </p:cNvPr>
          <p:cNvSpPr/>
          <p:nvPr userDrawn="1"/>
        </p:nvSpPr>
        <p:spPr bwMode="gray">
          <a:xfrm>
            <a:off x="-1" y="2960688"/>
            <a:ext cx="2027239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xmlns="" id="{2B0F5CDE-0E73-4EB1-9401-622EF3EE2181}"/>
              </a:ext>
            </a:extLst>
          </p:cNvPr>
          <p:cNvSpPr/>
          <p:nvPr userDrawn="1"/>
        </p:nvSpPr>
        <p:spPr bwMode="gray">
          <a:xfrm>
            <a:off x="-1" y="3933825"/>
            <a:ext cx="2027239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xmlns="" id="{471534D4-B3CD-4FDD-81C5-EF29F0218959}"/>
              </a:ext>
            </a:extLst>
          </p:cNvPr>
          <p:cNvSpPr/>
          <p:nvPr userDrawn="1"/>
        </p:nvSpPr>
        <p:spPr bwMode="gray">
          <a:xfrm>
            <a:off x="-1" y="4905375"/>
            <a:ext cx="2027239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xmlns="" id="{3CD48A76-B6E9-4BB2-B675-8D7BC3B91F5B}"/>
              </a:ext>
            </a:extLst>
          </p:cNvPr>
          <p:cNvSpPr/>
          <p:nvPr userDrawn="1"/>
        </p:nvSpPr>
        <p:spPr bwMode="gray">
          <a:xfrm>
            <a:off x="-1" y="5884655"/>
            <a:ext cx="2027239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18" name="Bildplatzhalter 5">
            <a:extLst>
              <a:ext uri="{FF2B5EF4-FFF2-40B4-BE49-F238E27FC236}">
                <a16:creationId xmlns:a16="http://schemas.microsoft.com/office/drawing/2014/main" xmlns="" id="{CFDE88C3-06B4-440E-95D0-050925E5DC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3028385" y="1952625"/>
            <a:ext cx="9163614" cy="4905375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xmlns="" id="{40FA568C-805B-407C-9EE5-FB8CBB39EC69}"/>
              </a:ext>
            </a:extLst>
          </p:cNvPr>
          <p:cNvSpPr/>
          <p:nvPr userDrawn="1"/>
        </p:nvSpPr>
        <p:spPr bwMode="gray">
          <a:xfrm>
            <a:off x="-1" y="6375123"/>
            <a:ext cx="2027239" cy="4828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xmlns="" id="{1A078990-72C4-435D-8DE4-33CD5E1B664F}"/>
              </a:ext>
            </a:extLst>
          </p:cNvPr>
          <p:cNvSpPr/>
          <p:nvPr userDrawn="1"/>
        </p:nvSpPr>
        <p:spPr bwMode="gray">
          <a:xfrm>
            <a:off x="2027238" y="6375123"/>
            <a:ext cx="1001147" cy="4828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</p:spTree>
    <p:extLst>
      <p:ext uri="{BB962C8B-B14F-4D97-AF65-F5344CB8AC3E}">
        <p14:creationId xmlns:p14="http://schemas.microsoft.com/office/powerpoint/2010/main" val="2602081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extLst>
              <a:ext uri="{FF2B5EF4-FFF2-40B4-BE49-F238E27FC236}">
                <a16:creationId xmlns:a16="http://schemas.microsoft.com/office/drawing/2014/main" xmlns="" id="{140E8EEC-46F2-4B35-87AC-700E0D244779}"/>
              </a:ext>
            </a:extLst>
          </p:cNvPr>
          <p:cNvSpPr/>
          <p:nvPr userDrawn="1"/>
        </p:nvSpPr>
        <p:spPr bwMode="gray">
          <a:xfrm>
            <a:off x="1" y="2456892"/>
            <a:ext cx="1523492" cy="44011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xmlns="" id="{8D5FD6B9-D8D0-444F-B0F1-22A35C6DE973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2027237" y="2365928"/>
            <a:ext cx="9143999" cy="1351104"/>
          </a:xfrm>
        </p:spPr>
        <p:txBody>
          <a:bodyPr anchor="t"/>
          <a:lstStyle>
            <a:lvl1pPr algn="l">
              <a:defRPr sz="4800" spc="140" baseline="0">
                <a:latin typeface="Sharp Sans Semibold" pitchFamily="2" charset="0"/>
                <a:ea typeface="Sharp Sans Semibold" pitchFamily="2" charset="0"/>
                <a:cs typeface="Sharp Sans Semibold" pitchFamily="2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xmlns="" id="{980788EE-D25E-475C-AA59-F30663DF7F6C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2027237" y="3849712"/>
            <a:ext cx="9145587" cy="1055663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300" spc="50" baseline="0">
                <a:latin typeface="Sharp Sans" pitchFamily="2" charset="0"/>
                <a:ea typeface="Sharp Sans" pitchFamily="2" charset="0"/>
                <a:cs typeface="Sharp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xmlns="" id="{0A356983-F90E-4A48-860D-1EC10306650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42728" y="427632"/>
            <a:ext cx="2029010" cy="730343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xmlns="" id="{89DCF0DD-EDCE-4C31-822C-61A9D1088CEA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9644423" y="6024644"/>
            <a:ext cx="1267417" cy="280749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xmlns="" id="{562616DF-97B9-4D6A-96AE-A6341EA17B76}"/>
              </a:ext>
            </a:extLst>
          </p:cNvPr>
          <p:cNvSpPr/>
          <p:nvPr userDrawn="1"/>
        </p:nvSpPr>
        <p:spPr bwMode="gray">
          <a:xfrm>
            <a:off x="8544272" y="413303"/>
            <a:ext cx="3418755" cy="447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r">
              <a:lnSpc>
                <a:spcPts val="1700"/>
              </a:lnSpc>
            </a:pPr>
            <a:r>
              <a:rPr lang="de-DE" sz="1400" b="0" spc="40" baseline="0" dirty="0">
                <a:solidFill>
                  <a:schemeClr val="tx1"/>
                </a:solidFill>
                <a:latin typeface="Sharp Sans Semibold" pitchFamily="2" charset="0"/>
                <a:ea typeface="Sharp Sans Semibold" pitchFamily="2" charset="0"/>
                <a:cs typeface="Sharp Sans Semibold" pitchFamily="2" charset="0"/>
              </a:rPr>
              <a:t>Institute </a:t>
            </a:r>
            <a:r>
              <a:rPr lang="de-DE" sz="1400" b="0" spc="40" baseline="0" dirty="0" err="1">
                <a:solidFill>
                  <a:schemeClr val="tx1"/>
                </a:solidFill>
                <a:latin typeface="Sharp Sans Semibold" pitchFamily="2" charset="0"/>
                <a:ea typeface="Sharp Sans Semibold" pitchFamily="2" charset="0"/>
                <a:cs typeface="Sharp Sans Semibold" pitchFamily="2" charset="0"/>
              </a:rPr>
              <a:t>for</a:t>
            </a:r>
            <a:r>
              <a:rPr lang="de-DE" sz="1400" b="0" spc="40" baseline="0" dirty="0">
                <a:solidFill>
                  <a:schemeClr val="tx1"/>
                </a:solidFill>
                <a:latin typeface="Sharp Sans Semibold" pitchFamily="2" charset="0"/>
                <a:ea typeface="Sharp Sans Semibold" pitchFamily="2" charset="0"/>
                <a:cs typeface="Sharp Sans Semibold" pitchFamily="2" charset="0"/>
              </a:rPr>
              <a:t> Microsensors, </a:t>
            </a:r>
          </a:p>
          <a:p>
            <a:pPr algn="r">
              <a:lnSpc>
                <a:spcPts val="1700"/>
              </a:lnSpc>
            </a:pPr>
            <a:r>
              <a:rPr lang="de-DE" sz="1400" b="0" spc="40" baseline="0" dirty="0">
                <a:solidFill>
                  <a:schemeClr val="tx1"/>
                </a:solidFill>
                <a:latin typeface="Sharp Sans Semibold" pitchFamily="2" charset="0"/>
                <a:ea typeface="Sharp Sans Semibold" pitchFamily="2" charset="0"/>
                <a:cs typeface="Sharp Sans Semibold" pitchFamily="2" charset="0"/>
              </a:rPr>
              <a:t>- </a:t>
            </a:r>
            <a:r>
              <a:rPr lang="de-DE" sz="1400" b="0" spc="40" baseline="0" dirty="0" err="1">
                <a:solidFill>
                  <a:schemeClr val="tx1"/>
                </a:solidFill>
                <a:latin typeface="Sharp Sans Semibold" pitchFamily="2" charset="0"/>
                <a:ea typeface="Sharp Sans Semibold" pitchFamily="2" charset="0"/>
                <a:cs typeface="Sharp Sans Semibold" pitchFamily="2" charset="0"/>
              </a:rPr>
              <a:t>actuators</a:t>
            </a:r>
            <a:r>
              <a:rPr lang="de-DE" sz="1400" b="0" spc="40" baseline="0" dirty="0">
                <a:solidFill>
                  <a:schemeClr val="tx1"/>
                </a:solidFill>
                <a:latin typeface="Sharp Sans Semibold" pitchFamily="2" charset="0"/>
                <a:ea typeface="Sharp Sans Semibold" pitchFamily="2" charset="0"/>
                <a:cs typeface="Sharp Sans Semibold" pitchFamily="2" charset="0"/>
              </a:rPr>
              <a:t>, and - </a:t>
            </a:r>
            <a:r>
              <a:rPr lang="de-DE" sz="1400" b="0" spc="40" baseline="0" dirty="0" err="1">
                <a:solidFill>
                  <a:schemeClr val="tx1"/>
                </a:solidFill>
                <a:latin typeface="Sharp Sans Semibold" pitchFamily="2" charset="0"/>
                <a:ea typeface="Sharp Sans Semibold" pitchFamily="2" charset="0"/>
                <a:cs typeface="Sharp Sans Semibold" pitchFamily="2" charset="0"/>
              </a:rPr>
              <a:t>systems</a:t>
            </a:r>
            <a:endParaRPr lang="de-DE" sz="1400" b="0" spc="40" baseline="0" dirty="0">
              <a:solidFill>
                <a:schemeClr val="tx1"/>
              </a:solidFill>
              <a:latin typeface="Sharp Sans Semibold" pitchFamily="2" charset="0"/>
              <a:ea typeface="Sharp Sans Semibold" pitchFamily="2" charset="0"/>
              <a:cs typeface="Sharp Sans Semibold" pitchFamily="2" charset="0"/>
            </a:endParaRPr>
          </a:p>
        </p:txBody>
      </p:sp>
      <p:sp>
        <p:nvSpPr>
          <p:cNvPr id="14" name="Eckige Klammer rechts 13">
            <a:extLst>
              <a:ext uri="{FF2B5EF4-FFF2-40B4-BE49-F238E27FC236}">
                <a16:creationId xmlns:a16="http://schemas.microsoft.com/office/drawing/2014/main" xmlns="" id="{0DD8E0B1-839F-40DF-B319-9D073963F17A}"/>
              </a:ext>
            </a:extLst>
          </p:cNvPr>
          <p:cNvSpPr/>
          <p:nvPr userDrawn="1"/>
        </p:nvSpPr>
        <p:spPr bwMode="gray">
          <a:xfrm rot="16200000">
            <a:off x="10470291" y="-1584463"/>
            <a:ext cx="189310" cy="2799411"/>
          </a:xfrm>
          <a:prstGeom prst="rightBracket">
            <a:avLst>
              <a:gd name="adj" fmla="val 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xmlns="" id="{3BBC1A6E-5591-4590-B56D-89FA5CAE8E9F}"/>
              </a:ext>
            </a:extLst>
          </p:cNvPr>
          <p:cNvSpPr/>
          <p:nvPr userDrawn="1"/>
        </p:nvSpPr>
        <p:spPr bwMode="gray">
          <a:xfrm>
            <a:off x="9163616" y="-216694"/>
            <a:ext cx="2799411" cy="1893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ts val="1200"/>
              </a:lnSpc>
            </a:pPr>
            <a:r>
              <a:rPr lang="de-DE" sz="900" b="0" spc="20" baseline="0" dirty="0">
                <a:solidFill>
                  <a:schemeClr val="bg1">
                    <a:lumMod val="50000"/>
                  </a:schemeClr>
                </a:solidFill>
              </a:rPr>
              <a:t>Eingabe im Folienmaster (Ansicht &gt; Folienmaster)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xmlns="" id="{E053708E-DE3A-4905-AD21-45C7EC7BC2FD}"/>
              </a:ext>
            </a:extLst>
          </p:cNvPr>
          <p:cNvSpPr/>
          <p:nvPr userDrawn="1"/>
        </p:nvSpPr>
        <p:spPr bwMode="gray">
          <a:xfrm>
            <a:off x="9651594" y="1036861"/>
            <a:ext cx="2311433" cy="6999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r">
              <a:lnSpc>
                <a:spcPts val="1200"/>
              </a:lnSpc>
            </a:pPr>
            <a:r>
              <a:rPr lang="de-DE" sz="1000" b="1" spc="20" baseline="0" dirty="0">
                <a:solidFill>
                  <a:schemeClr val="tx1"/>
                </a:solidFill>
                <a:latin typeface="Sharp Sans Semibold" pitchFamily="2" charset="0"/>
                <a:ea typeface="Sharp Sans Semibold" pitchFamily="2" charset="0"/>
                <a:cs typeface="Sharp Sans Semibold" pitchFamily="2" charset="0"/>
              </a:rPr>
              <a:t>Faculty 01</a:t>
            </a:r>
          </a:p>
          <a:p>
            <a:pPr algn="r">
              <a:lnSpc>
                <a:spcPts val="1200"/>
              </a:lnSpc>
            </a:pPr>
            <a:r>
              <a:rPr lang="de-DE" sz="1000" b="0" spc="20" baseline="0" dirty="0">
                <a:solidFill>
                  <a:schemeClr val="tx1"/>
                </a:solidFill>
                <a:latin typeface="Sharp Sans Semibold" pitchFamily="2" charset="0"/>
                <a:ea typeface="Sharp Sans Semibold" pitchFamily="2" charset="0"/>
                <a:cs typeface="Sharp Sans Semibold" pitchFamily="2" charset="0"/>
              </a:rPr>
              <a:t>Physics/EE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xmlns="" id="{41D381FE-4517-4C56-A7DE-19E7CE3113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027238" y="5355020"/>
            <a:ext cx="5076825" cy="1055663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700"/>
            </a:lvl1pPr>
            <a:lvl2pPr>
              <a:lnSpc>
                <a:spcPct val="100000"/>
              </a:lnSpc>
              <a:defRPr sz="1700"/>
            </a:lvl2pPr>
            <a:lvl3pPr>
              <a:lnSpc>
                <a:spcPct val="100000"/>
              </a:lnSpc>
              <a:defRPr sz="1700"/>
            </a:lvl3pPr>
            <a:lvl4pPr>
              <a:lnSpc>
                <a:spcPct val="100000"/>
              </a:lnSpc>
              <a:defRPr sz="1700"/>
            </a:lvl4pPr>
            <a:lvl5pPr>
              <a:lnSpc>
                <a:spcPct val="100000"/>
              </a:lnSpc>
              <a:defRPr sz="17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xmlns="" id="{6F3D7BA4-554E-4E23-9675-3297032C4A4F}"/>
              </a:ext>
            </a:extLst>
          </p:cNvPr>
          <p:cNvSpPr/>
          <p:nvPr userDrawn="1"/>
        </p:nvSpPr>
        <p:spPr bwMode="gray">
          <a:xfrm>
            <a:off x="-1" y="2960688"/>
            <a:ext cx="1019175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xmlns="" id="{2B0F5CDE-0E73-4EB1-9401-622EF3EE2181}"/>
              </a:ext>
            </a:extLst>
          </p:cNvPr>
          <p:cNvSpPr/>
          <p:nvPr userDrawn="1"/>
        </p:nvSpPr>
        <p:spPr bwMode="gray">
          <a:xfrm>
            <a:off x="-1" y="3933825"/>
            <a:ext cx="1019175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xmlns="" id="{471534D4-B3CD-4FDD-81C5-EF29F0218959}"/>
              </a:ext>
            </a:extLst>
          </p:cNvPr>
          <p:cNvSpPr/>
          <p:nvPr userDrawn="1"/>
        </p:nvSpPr>
        <p:spPr bwMode="gray">
          <a:xfrm>
            <a:off x="-1" y="4905375"/>
            <a:ext cx="1019175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xmlns="" id="{3CD48A76-B6E9-4BB2-B675-8D7BC3B91F5B}"/>
              </a:ext>
            </a:extLst>
          </p:cNvPr>
          <p:cNvSpPr/>
          <p:nvPr userDrawn="1"/>
        </p:nvSpPr>
        <p:spPr bwMode="gray">
          <a:xfrm>
            <a:off x="-1" y="5884655"/>
            <a:ext cx="1019175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xmlns="" id="{CE21CB02-D9C6-4FAF-A21F-7A8AE11A4BEF}"/>
              </a:ext>
            </a:extLst>
          </p:cNvPr>
          <p:cNvSpPr/>
          <p:nvPr userDrawn="1"/>
        </p:nvSpPr>
        <p:spPr bwMode="gray">
          <a:xfrm>
            <a:off x="-1" y="6375123"/>
            <a:ext cx="1019175" cy="4828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xmlns="" id="{8807AC72-7C0F-482B-A3FD-7609DF861556}"/>
              </a:ext>
            </a:extLst>
          </p:cNvPr>
          <p:cNvSpPr/>
          <p:nvPr userDrawn="1"/>
        </p:nvSpPr>
        <p:spPr bwMode="gray">
          <a:xfrm>
            <a:off x="1019174" y="6375123"/>
            <a:ext cx="503745" cy="4828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9" name="Eckige Klammer rechts 28">
            <a:extLst>
              <a:ext uri="{FF2B5EF4-FFF2-40B4-BE49-F238E27FC236}">
                <a16:creationId xmlns:a16="http://schemas.microsoft.com/office/drawing/2014/main" xmlns="" id="{7B79195D-A05E-4DEC-9BC6-6B4C8E00C032}"/>
              </a:ext>
            </a:extLst>
          </p:cNvPr>
          <p:cNvSpPr/>
          <p:nvPr userDrawn="1"/>
        </p:nvSpPr>
        <p:spPr bwMode="gray">
          <a:xfrm rot="5400000">
            <a:off x="9674565" y="4876403"/>
            <a:ext cx="189310" cy="4390863"/>
          </a:xfrm>
          <a:prstGeom prst="rightBracket">
            <a:avLst>
              <a:gd name="adj" fmla="val 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xmlns="" id="{CBF008EA-A215-4D23-A3F1-26DE0C8EFE0A}"/>
              </a:ext>
            </a:extLst>
          </p:cNvPr>
          <p:cNvSpPr/>
          <p:nvPr userDrawn="1"/>
        </p:nvSpPr>
        <p:spPr bwMode="gray">
          <a:xfrm>
            <a:off x="7572164" y="6957392"/>
            <a:ext cx="4390863" cy="1893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ts val="1200"/>
              </a:lnSpc>
            </a:pPr>
            <a:r>
              <a:rPr lang="de-DE" sz="900" b="0" spc="20" baseline="0" dirty="0">
                <a:solidFill>
                  <a:schemeClr val="bg1">
                    <a:lumMod val="50000"/>
                  </a:schemeClr>
                </a:solidFill>
              </a:rPr>
              <a:t>Eingabe im Titelmaster (Ansicht &gt; Folienmaster)</a:t>
            </a:r>
          </a:p>
        </p:txBody>
      </p:sp>
    </p:spTree>
    <p:extLst>
      <p:ext uri="{BB962C8B-B14F-4D97-AF65-F5344CB8AC3E}">
        <p14:creationId xmlns:p14="http://schemas.microsoft.com/office/powerpoint/2010/main" val="3305718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extLst>
              <a:ext uri="{FF2B5EF4-FFF2-40B4-BE49-F238E27FC236}">
                <a16:creationId xmlns:a16="http://schemas.microsoft.com/office/drawing/2014/main" xmlns="" id="{140E8EEC-46F2-4B35-87AC-700E0D244779}"/>
              </a:ext>
            </a:extLst>
          </p:cNvPr>
          <p:cNvSpPr/>
          <p:nvPr userDrawn="1"/>
        </p:nvSpPr>
        <p:spPr bwMode="gray">
          <a:xfrm>
            <a:off x="1" y="2456892"/>
            <a:ext cx="1523492" cy="44011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xmlns="" id="{8D5FD6B9-D8D0-444F-B0F1-22A35C6DE973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2027237" y="2373548"/>
            <a:ext cx="9143999" cy="1055663"/>
          </a:xfrm>
        </p:spPr>
        <p:txBody>
          <a:bodyPr anchor="t"/>
          <a:lstStyle>
            <a:lvl1pPr algn="l">
              <a:defRPr sz="3600" spc="110" baseline="0">
                <a:latin typeface="Sharp Sans Semibold" pitchFamily="2" charset="0"/>
                <a:ea typeface="Sharp Sans Semibold" pitchFamily="2" charset="0"/>
                <a:cs typeface="Sharp Sans Semibold" pitchFamily="2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xmlns="" id="{980788EE-D25E-475C-AA59-F30663DF7F6C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2027237" y="3652644"/>
            <a:ext cx="9145587" cy="1055663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300" spc="50" baseline="0">
                <a:latin typeface="Sharp Sans" pitchFamily="2" charset="0"/>
                <a:ea typeface="Sharp Sans" pitchFamily="2" charset="0"/>
                <a:cs typeface="Sharp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xmlns="" id="{6F3D7BA4-554E-4E23-9675-3297032C4A4F}"/>
              </a:ext>
            </a:extLst>
          </p:cNvPr>
          <p:cNvSpPr/>
          <p:nvPr userDrawn="1"/>
        </p:nvSpPr>
        <p:spPr bwMode="gray">
          <a:xfrm>
            <a:off x="-1" y="2960688"/>
            <a:ext cx="1019175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xmlns="" id="{2B0F5CDE-0E73-4EB1-9401-622EF3EE2181}"/>
              </a:ext>
            </a:extLst>
          </p:cNvPr>
          <p:cNvSpPr/>
          <p:nvPr userDrawn="1"/>
        </p:nvSpPr>
        <p:spPr bwMode="gray">
          <a:xfrm>
            <a:off x="-1" y="3933825"/>
            <a:ext cx="1019175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xmlns="" id="{471534D4-B3CD-4FDD-81C5-EF29F0218959}"/>
              </a:ext>
            </a:extLst>
          </p:cNvPr>
          <p:cNvSpPr/>
          <p:nvPr userDrawn="1"/>
        </p:nvSpPr>
        <p:spPr bwMode="gray">
          <a:xfrm>
            <a:off x="-1" y="4905375"/>
            <a:ext cx="1019175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xmlns="" id="{3CD48A76-B6E9-4BB2-B675-8D7BC3B91F5B}"/>
              </a:ext>
            </a:extLst>
          </p:cNvPr>
          <p:cNvSpPr/>
          <p:nvPr userDrawn="1"/>
        </p:nvSpPr>
        <p:spPr bwMode="gray">
          <a:xfrm>
            <a:off x="-1" y="5884655"/>
            <a:ext cx="1019175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xmlns="" id="{CE21CB02-D9C6-4FAF-A21F-7A8AE11A4BEF}"/>
              </a:ext>
            </a:extLst>
          </p:cNvPr>
          <p:cNvSpPr/>
          <p:nvPr userDrawn="1"/>
        </p:nvSpPr>
        <p:spPr bwMode="gray">
          <a:xfrm>
            <a:off x="-1" y="6375123"/>
            <a:ext cx="1019175" cy="4828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xmlns="" id="{8807AC72-7C0F-482B-A3FD-7609DF861556}"/>
              </a:ext>
            </a:extLst>
          </p:cNvPr>
          <p:cNvSpPr/>
          <p:nvPr userDrawn="1"/>
        </p:nvSpPr>
        <p:spPr bwMode="gray">
          <a:xfrm>
            <a:off x="1019174" y="6375123"/>
            <a:ext cx="503745" cy="4828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</p:spTree>
    <p:extLst>
      <p:ext uri="{BB962C8B-B14F-4D97-AF65-F5344CB8AC3E}">
        <p14:creationId xmlns:p14="http://schemas.microsoft.com/office/powerpoint/2010/main" val="3573652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wischentit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extLst>
              <a:ext uri="{FF2B5EF4-FFF2-40B4-BE49-F238E27FC236}">
                <a16:creationId xmlns:a16="http://schemas.microsoft.com/office/drawing/2014/main" xmlns="" id="{140E8EEC-46F2-4B35-87AC-700E0D244779}"/>
              </a:ext>
            </a:extLst>
          </p:cNvPr>
          <p:cNvSpPr/>
          <p:nvPr userDrawn="1"/>
        </p:nvSpPr>
        <p:spPr bwMode="gray">
          <a:xfrm>
            <a:off x="1" y="2456892"/>
            <a:ext cx="1523492" cy="44011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xmlns="" id="{8D5FD6B9-D8D0-444F-B0F1-22A35C6DE973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2027237" y="2373548"/>
            <a:ext cx="9143999" cy="1055663"/>
          </a:xfrm>
        </p:spPr>
        <p:txBody>
          <a:bodyPr anchor="t"/>
          <a:lstStyle>
            <a:lvl1pPr algn="l">
              <a:defRPr sz="3600" spc="110" baseline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xmlns="" id="{980788EE-D25E-475C-AA59-F30663DF7F6C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2027237" y="3652644"/>
            <a:ext cx="9145587" cy="1055663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30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xmlns="" id="{6F3D7BA4-554E-4E23-9675-3297032C4A4F}"/>
              </a:ext>
            </a:extLst>
          </p:cNvPr>
          <p:cNvSpPr/>
          <p:nvPr userDrawn="1"/>
        </p:nvSpPr>
        <p:spPr bwMode="gray">
          <a:xfrm>
            <a:off x="-1" y="2960688"/>
            <a:ext cx="1019175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xmlns="" id="{2B0F5CDE-0E73-4EB1-9401-622EF3EE2181}"/>
              </a:ext>
            </a:extLst>
          </p:cNvPr>
          <p:cNvSpPr/>
          <p:nvPr userDrawn="1"/>
        </p:nvSpPr>
        <p:spPr bwMode="gray">
          <a:xfrm>
            <a:off x="-1" y="3933825"/>
            <a:ext cx="1019175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xmlns="" id="{471534D4-B3CD-4FDD-81C5-EF29F0218959}"/>
              </a:ext>
            </a:extLst>
          </p:cNvPr>
          <p:cNvSpPr/>
          <p:nvPr userDrawn="1"/>
        </p:nvSpPr>
        <p:spPr bwMode="gray">
          <a:xfrm>
            <a:off x="-1" y="4905375"/>
            <a:ext cx="1019175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xmlns="" id="{3CD48A76-B6E9-4BB2-B675-8D7BC3B91F5B}"/>
              </a:ext>
            </a:extLst>
          </p:cNvPr>
          <p:cNvSpPr/>
          <p:nvPr userDrawn="1"/>
        </p:nvSpPr>
        <p:spPr bwMode="gray">
          <a:xfrm>
            <a:off x="-1" y="5884655"/>
            <a:ext cx="1019175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xmlns="" id="{CE21CB02-D9C6-4FAF-A21F-7A8AE11A4BEF}"/>
              </a:ext>
            </a:extLst>
          </p:cNvPr>
          <p:cNvSpPr/>
          <p:nvPr userDrawn="1"/>
        </p:nvSpPr>
        <p:spPr bwMode="gray">
          <a:xfrm>
            <a:off x="-1" y="6375123"/>
            <a:ext cx="1019175" cy="4828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xmlns="" id="{8807AC72-7C0F-482B-A3FD-7609DF861556}"/>
              </a:ext>
            </a:extLst>
          </p:cNvPr>
          <p:cNvSpPr/>
          <p:nvPr userDrawn="1"/>
        </p:nvSpPr>
        <p:spPr bwMode="gray">
          <a:xfrm>
            <a:off x="1019174" y="6375123"/>
            <a:ext cx="503745" cy="4828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xmlns="" id="{83DE9572-8E5E-4AD2-A045-DE4EF26645BB}"/>
              </a:ext>
            </a:extLst>
          </p:cNvPr>
          <p:cNvSpPr/>
          <p:nvPr userDrawn="1"/>
        </p:nvSpPr>
        <p:spPr bwMode="gray">
          <a:xfrm>
            <a:off x="8148228" y="280777"/>
            <a:ext cx="1541513" cy="447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ts val="1200"/>
              </a:lnSpc>
            </a:pPr>
            <a:r>
              <a:rPr lang="de-DE" sz="900" b="1" spc="20" baseline="0" dirty="0">
                <a:solidFill>
                  <a:schemeClr val="tx1"/>
                </a:solidFill>
              </a:rPr>
              <a:t>Titel der Präsentation,</a:t>
            </a:r>
          </a:p>
          <a:p>
            <a:pPr algn="l">
              <a:lnSpc>
                <a:spcPts val="1200"/>
              </a:lnSpc>
            </a:pPr>
            <a:r>
              <a:rPr lang="de-DE" sz="900" b="1" spc="20" baseline="0" dirty="0">
                <a:solidFill>
                  <a:schemeClr val="tx1"/>
                </a:solidFill>
              </a:rPr>
              <a:t>auch zweizeilig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xmlns="" id="{08D53BEF-CD74-4AC4-86FD-B47180013FFA}"/>
              </a:ext>
            </a:extLst>
          </p:cNvPr>
          <p:cNvSpPr/>
          <p:nvPr userDrawn="1"/>
        </p:nvSpPr>
        <p:spPr bwMode="gray">
          <a:xfrm>
            <a:off x="9888710" y="280777"/>
            <a:ext cx="1853160" cy="447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ts val="1200"/>
              </a:lnSpc>
            </a:pPr>
            <a:r>
              <a:rPr lang="de-DE" sz="900" b="0" spc="20" baseline="0" dirty="0">
                <a:solidFill>
                  <a:schemeClr val="tx1"/>
                </a:solidFill>
              </a:rPr>
              <a:t>Prof. Dr. Vorname Nachname</a:t>
            </a:r>
          </a:p>
          <a:p>
            <a:pPr algn="l">
              <a:lnSpc>
                <a:spcPts val="1200"/>
              </a:lnSpc>
            </a:pPr>
            <a:r>
              <a:rPr lang="de-DE" sz="900" b="0" spc="20" baseline="0" dirty="0">
                <a:solidFill>
                  <a:schemeClr val="tx1"/>
                </a:solidFill>
              </a:rPr>
              <a:t>Bremen 1.1.2021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xmlns="" id="{5E281277-D79B-4279-8BB1-3B4FA19DD0A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42728" y="289509"/>
            <a:ext cx="1324159" cy="476631"/>
          </a:xfrm>
          <a:prstGeom prst="rect">
            <a:avLst/>
          </a:prstGeom>
        </p:spPr>
      </p:pic>
      <p:sp>
        <p:nvSpPr>
          <p:cNvPr id="14" name="Eckige Klammer rechts 13">
            <a:extLst>
              <a:ext uri="{FF2B5EF4-FFF2-40B4-BE49-F238E27FC236}">
                <a16:creationId xmlns:a16="http://schemas.microsoft.com/office/drawing/2014/main" xmlns="" id="{BAB5BA0A-E485-4346-B973-2FD5FD95047E}"/>
              </a:ext>
            </a:extLst>
          </p:cNvPr>
          <p:cNvSpPr/>
          <p:nvPr userDrawn="1"/>
        </p:nvSpPr>
        <p:spPr bwMode="gray">
          <a:xfrm rot="16200000">
            <a:off x="9962802" y="-2091952"/>
            <a:ext cx="189310" cy="3814390"/>
          </a:xfrm>
          <a:prstGeom prst="rightBracket">
            <a:avLst>
              <a:gd name="adj" fmla="val 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xmlns="" id="{259F012B-F492-42B7-AF35-6F2768EF629D}"/>
              </a:ext>
            </a:extLst>
          </p:cNvPr>
          <p:cNvSpPr/>
          <p:nvPr userDrawn="1"/>
        </p:nvSpPr>
        <p:spPr bwMode="gray">
          <a:xfrm>
            <a:off x="8148638" y="-216694"/>
            <a:ext cx="3814390" cy="1893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ts val="1200"/>
              </a:lnSpc>
            </a:pPr>
            <a:r>
              <a:rPr lang="de-DE" sz="900" b="0" spc="20" baseline="0" dirty="0">
                <a:solidFill>
                  <a:schemeClr val="bg1">
                    <a:lumMod val="50000"/>
                  </a:schemeClr>
                </a:solidFill>
              </a:rPr>
              <a:t>Eingabe im Folienmaster (Ansicht &gt; Folienmaster)</a:t>
            </a:r>
          </a:p>
        </p:txBody>
      </p:sp>
    </p:spTree>
    <p:extLst>
      <p:ext uri="{BB962C8B-B14F-4D97-AF65-F5344CB8AC3E}">
        <p14:creationId xmlns:p14="http://schemas.microsoft.com/office/powerpoint/2010/main" val="492752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extLst>
              <a:ext uri="{FF2B5EF4-FFF2-40B4-BE49-F238E27FC236}">
                <a16:creationId xmlns:a16="http://schemas.microsoft.com/office/drawing/2014/main" xmlns="" id="{140E8EEC-46F2-4B35-87AC-700E0D244779}"/>
              </a:ext>
            </a:extLst>
          </p:cNvPr>
          <p:cNvSpPr/>
          <p:nvPr userDrawn="1"/>
        </p:nvSpPr>
        <p:spPr bwMode="gray">
          <a:xfrm>
            <a:off x="1" y="2456892"/>
            <a:ext cx="1523492" cy="44011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xmlns="" id="{8D5FD6B9-D8D0-444F-B0F1-22A35C6DE973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7644172" y="2373548"/>
            <a:ext cx="3527064" cy="2171576"/>
          </a:xfrm>
        </p:spPr>
        <p:txBody>
          <a:bodyPr anchor="t"/>
          <a:lstStyle>
            <a:lvl1pPr algn="l">
              <a:defRPr sz="3600" spc="110" baseline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xmlns="" id="{980788EE-D25E-475C-AA59-F30663DF7F6C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645147" y="4615774"/>
            <a:ext cx="3527677" cy="1268881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30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xmlns="" id="{6F3D7BA4-554E-4E23-9675-3297032C4A4F}"/>
              </a:ext>
            </a:extLst>
          </p:cNvPr>
          <p:cNvSpPr/>
          <p:nvPr userDrawn="1"/>
        </p:nvSpPr>
        <p:spPr bwMode="gray">
          <a:xfrm>
            <a:off x="-1" y="2960688"/>
            <a:ext cx="1019175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xmlns="" id="{2B0F5CDE-0E73-4EB1-9401-622EF3EE2181}"/>
              </a:ext>
            </a:extLst>
          </p:cNvPr>
          <p:cNvSpPr/>
          <p:nvPr userDrawn="1"/>
        </p:nvSpPr>
        <p:spPr bwMode="gray">
          <a:xfrm>
            <a:off x="-1" y="3933825"/>
            <a:ext cx="1019175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xmlns="" id="{471534D4-B3CD-4FDD-81C5-EF29F0218959}"/>
              </a:ext>
            </a:extLst>
          </p:cNvPr>
          <p:cNvSpPr/>
          <p:nvPr userDrawn="1"/>
        </p:nvSpPr>
        <p:spPr bwMode="gray">
          <a:xfrm>
            <a:off x="-1" y="4905375"/>
            <a:ext cx="1019175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xmlns="" id="{3CD48A76-B6E9-4BB2-B675-8D7BC3B91F5B}"/>
              </a:ext>
            </a:extLst>
          </p:cNvPr>
          <p:cNvSpPr/>
          <p:nvPr userDrawn="1"/>
        </p:nvSpPr>
        <p:spPr bwMode="gray">
          <a:xfrm>
            <a:off x="-1" y="5884655"/>
            <a:ext cx="1019175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xmlns="" id="{CE21CB02-D9C6-4FAF-A21F-7A8AE11A4BEF}"/>
              </a:ext>
            </a:extLst>
          </p:cNvPr>
          <p:cNvSpPr/>
          <p:nvPr userDrawn="1"/>
        </p:nvSpPr>
        <p:spPr bwMode="gray">
          <a:xfrm>
            <a:off x="-1" y="6375123"/>
            <a:ext cx="1019175" cy="4828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xmlns="" id="{8807AC72-7C0F-482B-A3FD-7609DF861556}"/>
              </a:ext>
            </a:extLst>
          </p:cNvPr>
          <p:cNvSpPr/>
          <p:nvPr userDrawn="1"/>
        </p:nvSpPr>
        <p:spPr bwMode="gray">
          <a:xfrm>
            <a:off x="1019174" y="6375123"/>
            <a:ext cx="503745" cy="4828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12" name="Bildplatzhalter 5">
            <a:extLst>
              <a:ext uri="{FF2B5EF4-FFF2-40B4-BE49-F238E27FC236}">
                <a16:creationId xmlns:a16="http://schemas.microsoft.com/office/drawing/2014/main" xmlns="" id="{A615BE17-964A-477F-9A04-70EE1C2C25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1522919" y="2456892"/>
            <a:ext cx="5581144" cy="4401108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72785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C747078D-DB01-4ECB-8353-499E4EFB1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latin typeface="Sharp Sans Semibold" pitchFamily="2" charset="0"/>
                <a:ea typeface="Sharp Sans Semibold" pitchFamily="2" charset="0"/>
                <a:cs typeface="Sharp Sans Semibold" pitchFamily="2" charset="0"/>
              </a:defRPr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xmlns="" id="{2A06C738-4815-43AC-96CD-8F8802538EAB}"/>
              </a:ext>
            </a:extLst>
          </p:cNvPr>
          <p:cNvSpPr>
            <a:spLocks noGrp="1"/>
          </p:cNvSpPr>
          <p:nvPr>
            <p:ph idx="1"/>
          </p:nvPr>
        </p:nvSpPr>
        <p:spPr bwMode="gray"/>
        <p:txBody>
          <a:bodyPr/>
          <a:lstStyle>
            <a:lvl1pPr>
              <a:defRPr>
                <a:latin typeface="+mn-lt"/>
                <a:ea typeface="Sharp Sans" pitchFamily="2" charset="0"/>
                <a:cs typeface="Sharp Sans" pitchFamily="2" charset="0"/>
              </a:defRPr>
            </a:lvl1pPr>
            <a:lvl2pPr>
              <a:defRPr>
                <a:latin typeface="+mn-lt"/>
                <a:ea typeface="Sharp Sans" pitchFamily="2" charset="0"/>
                <a:cs typeface="Sharp Sans" pitchFamily="2" charset="0"/>
              </a:defRPr>
            </a:lvl2pPr>
            <a:lvl3pPr>
              <a:defRPr>
                <a:latin typeface="+mn-lt"/>
                <a:ea typeface="Sharp Sans" pitchFamily="2" charset="0"/>
                <a:cs typeface="Sharp Sans" pitchFamily="2" charset="0"/>
              </a:defRPr>
            </a:lvl3pPr>
            <a:lvl4pPr>
              <a:defRPr>
                <a:latin typeface="+mn-lt"/>
                <a:ea typeface="Sharp Sans" pitchFamily="2" charset="0"/>
                <a:cs typeface="Sharp Sans" pitchFamily="2" charset="0"/>
              </a:defRPr>
            </a:lvl4pPr>
            <a:lvl5pPr>
              <a:defRPr>
                <a:latin typeface="+mn-lt"/>
                <a:ea typeface="Sharp Sans" pitchFamily="2" charset="0"/>
                <a:cs typeface="Sharp Sans" pitchFamily="2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xmlns="" id="{2B882475-F824-43AF-B19C-3578C663B6A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034525" y="2263728"/>
            <a:ext cx="9138299" cy="49256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300" spc="40" baseline="0">
                <a:latin typeface="Sharp Sans Medium" pitchFamily="2" charset="0"/>
                <a:ea typeface="Sharp Sans Medium" pitchFamily="2" charset="0"/>
                <a:cs typeface="Sharp Sans Medium" pitchFamily="2" charset="0"/>
              </a:defRPr>
            </a:lvl1pPr>
          </a:lstStyle>
          <a:p>
            <a:pPr lvl="0"/>
            <a:r>
              <a:rPr lang="de-DE" dirty="0"/>
              <a:t>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27200884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halt und Bild (rech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C747078D-DB01-4ECB-8353-499E4EFB1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19175" y="1695285"/>
            <a:ext cx="5620500" cy="590478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xmlns="" id="{2A06C738-4815-43AC-96CD-8F8802538EAB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1019175" y="2913286"/>
            <a:ext cx="5616886" cy="296364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xmlns="" id="{2B882475-F824-43AF-B19C-3578C663B6A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027265" y="2263728"/>
            <a:ext cx="5612410" cy="49256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300" spc="40" baseline="0"/>
            </a:lvl1pPr>
          </a:lstStyle>
          <a:p>
            <a:pPr lvl="0"/>
            <a:r>
              <a:rPr lang="de-DE" dirty="0"/>
              <a:t>Unterüberschrift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xmlns="" id="{F8D408A5-45DB-43F7-A63B-AEF19C2970F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7104064" y="1773312"/>
            <a:ext cx="5087936" cy="4103614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62613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halt und Bild (link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C747078D-DB01-4ECB-8353-499E4EFB1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91944" y="1695285"/>
            <a:ext cx="5584523" cy="590478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xmlns="" id="{2A06C738-4815-43AC-96CD-8F8802538EAB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591944" y="2913286"/>
            <a:ext cx="5580881" cy="296364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xmlns="" id="{2B882475-F824-43AF-B19C-3578C663B6A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600034" y="2263728"/>
            <a:ext cx="5576434" cy="49256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300" spc="40" baseline="0"/>
            </a:lvl1pPr>
          </a:lstStyle>
          <a:p>
            <a:pPr lvl="0"/>
            <a:r>
              <a:rPr lang="de-DE" dirty="0"/>
              <a:t>Unterüberschrift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xmlns="" id="{F8D408A5-45DB-43F7-A63B-AEF19C2970F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0" y="1773312"/>
            <a:ext cx="5087938" cy="4103614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557476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B6F600F8-8932-4173-99E6-EF778A214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latin typeface="Sharp Sans Semibold" pitchFamily="2" charset="0"/>
                <a:ea typeface="Sharp Sans Semibold" pitchFamily="2" charset="0"/>
                <a:cs typeface="Sharp Sans Semibold" pitchFamily="2" charset="0"/>
              </a:defRPr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xmlns="" id="{2FC03325-A8A9-49C7-A8EE-88E6668CB3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027238" y="2384883"/>
            <a:ext cx="9145587" cy="3492041"/>
          </a:xfrm>
        </p:spPr>
        <p:txBody>
          <a:bodyPr/>
          <a:lstStyle>
            <a:lvl1pPr>
              <a:spcAft>
                <a:spcPts val="600"/>
              </a:spcAft>
              <a:defRPr sz="2300">
                <a:solidFill>
                  <a:schemeClr val="accent2"/>
                </a:solidFill>
              </a:defRPr>
            </a:lvl1pPr>
            <a:lvl2pPr marL="269875" indent="-269875">
              <a:spcAft>
                <a:spcPts val="600"/>
              </a:spcAft>
              <a:buFont typeface="Wingdings 3" panose="05040102010807070707" pitchFamily="18" charset="2"/>
              <a:buChar char="Ò"/>
              <a:defRPr/>
            </a:lvl2pPr>
            <a:lvl3pPr marL="804863" indent="-271463">
              <a:spcAft>
                <a:spcPts val="600"/>
              </a:spcAft>
              <a:defRPr/>
            </a:lvl3pPr>
            <a:lvl4pPr marL="1346200" indent="-268288">
              <a:spcAft>
                <a:spcPts val="600"/>
              </a:spcAft>
              <a:defRPr/>
            </a:lvl4pPr>
            <a:lvl5pPr marL="1879600" indent="-266700">
              <a:spcAft>
                <a:spcPts val="600"/>
              </a:spcAft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9872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B6F600F8-8932-4173-99E6-EF778A214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de-DE" dirty="0"/>
              <a:t>Überschrift</a:t>
            </a:r>
          </a:p>
        </p:txBody>
      </p:sp>
    </p:spTree>
    <p:extLst>
      <p:ext uri="{BB962C8B-B14F-4D97-AF65-F5344CB8AC3E}">
        <p14:creationId xmlns:p14="http://schemas.microsoft.com/office/powerpoint/2010/main" val="3211683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40493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extLst>
              <a:ext uri="{FF2B5EF4-FFF2-40B4-BE49-F238E27FC236}">
                <a16:creationId xmlns:a16="http://schemas.microsoft.com/office/drawing/2014/main" xmlns="" id="{140E8EEC-46F2-4B35-87AC-700E0D24477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 bwMode="gray">
          <a:xfrm>
            <a:off x="1" y="2456892"/>
            <a:ext cx="1523492" cy="44011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pic>
        <p:nvPicPr>
          <p:cNvPr id="22" name="Grafik 21" descr="Universität Bremen Logo">
            <a:extLst>
              <a:ext uri="{FF2B5EF4-FFF2-40B4-BE49-F238E27FC236}">
                <a16:creationId xmlns:a16="http://schemas.microsoft.com/office/drawing/2014/main" xmlns="" id="{74606240-60D4-4B3E-82C2-370D55879F63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42728" y="427632"/>
            <a:ext cx="2029010" cy="730343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xmlns="" id="{42DBA84A-1C09-4417-8A28-693A4789E3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644423" y="413303"/>
            <a:ext cx="2313978" cy="819453"/>
          </a:xfrm>
        </p:spPr>
        <p:txBody>
          <a:bodyPr/>
          <a:lstStyle>
            <a:lvl1pPr marL="0" indent="0">
              <a:lnSpc>
                <a:spcPts val="1700"/>
              </a:lnSpc>
              <a:buNone/>
              <a:defRPr sz="1700"/>
            </a:lvl1pPr>
          </a:lstStyle>
          <a:p>
            <a:pPr lvl="0"/>
            <a:r>
              <a:rPr lang="de-DE" dirty="0"/>
              <a:t>Universität Bremen</a:t>
            </a:r>
            <a:br>
              <a:rPr lang="de-DE" dirty="0"/>
            </a:br>
            <a:r>
              <a:rPr lang="de-DE" dirty="0"/>
              <a:t>Institut </a:t>
            </a:r>
            <a:br>
              <a:rPr lang="de-DE" dirty="0"/>
            </a:br>
            <a:r>
              <a:rPr lang="de-DE" dirty="0"/>
              <a:t>Name des Instituts</a:t>
            </a:r>
          </a:p>
        </p:txBody>
      </p:sp>
      <p:sp>
        <p:nvSpPr>
          <p:cNvPr id="31" name="Textplatzhalter 4">
            <a:extLst>
              <a:ext uri="{FF2B5EF4-FFF2-40B4-BE49-F238E27FC236}">
                <a16:creationId xmlns:a16="http://schemas.microsoft.com/office/drawing/2014/main" xmlns="" id="{944D7B0C-537D-4632-89BB-5134317D7F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44423" y="1317273"/>
            <a:ext cx="2313978" cy="699951"/>
          </a:xfrm>
        </p:spPr>
        <p:txBody>
          <a:bodyPr/>
          <a:lstStyle>
            <a:lvl1pPr marL="0" indent="0">
              <a:lnSpc>
                <a:spcPts val="1200"/>
              </a:lnSpc>
              <a:buNone/>
              <a:defRPr sz="1000"/>
            </a:lvl1pPr>
          </a:lstStyle>
          <a:p>
            <a:pPr lvl="0"/>
            <a:r>
              <a:rPr lang="de-DE" dirty="0"/>
              <a:t>Fachbereich 00</a:t>
            </a:r>
            <a:br>
              <a:rPr lang="de-DE" dirty="0"/>
            </a:br>
            <a:r>
              <a:rPr lang="de-DE" dirty="0"/>
              <a:t>Name des Fachbereichs</a:t>
            </a:r>
            <a:br>
              <a:rPr lang="de-DE" dirty="0"/>
            </a:br>
            <a:r>
              <a:rPr lang="de-DE" dirty="0"/>
              <a:t>auch zweizeilig möglich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xmlns="" id="{8D5FD6B9-D8D0-444F-B0F1-22A35C6DE973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2027237" y="2365928"/>
            <a:ext cx="9143999" cy="1351104"/>
          </a:xfrm>
        </p:spPr>
        <p:txBody>
          <a:bodyPr anchor="t"/>
          <a:lstStyle>
            <a:lvl1pPr algn="l">
              <a:defRPr sz="4800" spc="140" baseline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xmlns="" id="{980788EE-D25E-475C-AA59-F30663DF7F6C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2027237" y="3849712"/>
            <a:ext cx="9145587" cy="1055663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xmlns="" id="{41D381FE-4517-4C56-A7DE-19E7CE3113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027238" y="5355020"/>
            <a:ext cx="5076825" cy="1055663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/>
            </a:lvl1pPr>
            <a:lvl2pPr>
              <a:lnSpc>
                <a:spcPct val="100000"/>
              </a:lnSpc>
              <a:defRPr sz="1700"/>
            </a:lvl2pPr>
            <a:lvl3pPr>
              <a:lnSpc>
                <a:spcPct val="100000"/>
              </a:lnSpc>
              <a:defRPr sz="1700"/>
            </a:lvl3pPr>
            <a:lvl4pPr>
              <a:lnSpc>
                <a:spcPct val="100000"/>
              </a:lnSpc>
              <a:defRPr sz="1700"/>
            </a:lvl4pPr>
            <a:lvl5pPr>
              <a:lnSpc>
                <a:spcPct val="100000"/>
              </a:lnSpc>
              <a:defRPr sz="17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pic>
        <p:nvPicPr>
          <p:cNvPr id="10" name="Grafik 9" descr="Kooperation: Hier müsste der Alternativtext ergänzt werden.">
            <a:extLst>
              <a:ext uri="{FF2B5EF4-FFF2-40B4-BE49-F238E27FC236}">
                <a16:creationId xmlns:a16="http://schemas.microsoft.com/office/drawing/2014/main" xmlns="" id="{254E2EAC-AEE9-4D5D-A0D0-82841FC4D7C6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896200" y="5962998"/>
            <a:ext cx="1267417" cy="404041"/>
          </a:xfrm>
          <a:prstGeom prst="rect">
            <a:avLst/>
          </a:prstGeom>
        </p:spPr>
      </p:pic>
      <p:pic>
        <p:nvPicPr>
          <p:cNvPr id="11" name="Grafik 10" descr="Kooperation: Hier müsste der Alternativtext ergänzt werden.">
            <a:extLst>
              <a:ext uri="{FF2B5EF4-FFF2-40B4-BE49-F238E27FC236}">
                <a16:creationId xmlns:a16="http://schemas.microsoft.com/office/drawing/2014/main" xmlns="" id="{89DCF0DD-EDCE-4C31-822C-61A9D1088CEA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644423" y="5962998"/>
            <a:ext cx="1267417" cy="404041"/>
          </a:xfrm>
          <a:prstGeom prst="rect">
            <a:avLst/>
          </a:prstGeom>
        </p:spPr>
      </p:pic>
      <p:sp>
        <p:nvSpPr>
          <p:cNvPr id="21" name="Rechteck 20">
            <a:extLst>
              <a:ext uri="{FF2B5EF4-FFF2-40B4-BE49-F238E27FC236}">
                <a16:creationId xmlns:a16="http://schemas.microsoft.com/office/drawing/2014/main" xmlns="" id="{6F3D7BA4-554E-4E23-9675-3297032C4A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 bwMode="gray">
          <a:xfrm>
            <a:off x="-1" y="2960688"/>
            <a:ext cx="1019175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xmlns="" id="{2B0F5CDE-0E73-4EB1-9401-622EF3EE218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 bwMode="gray">
          <a:xfrm>
            <a:off x="-1" y="3933825"/>
            <a:ext cx="1019175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xmlns="" id="{471534D4-B3CD-4FDD-81C5-EF29F02189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 bwMode="gray">
          <a:xfrm>
            <a:off x="-1" y="4905375"/>
            <a:ext cx="1019175" cy="5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xmlns="" id="{3CD48A76-B6E9-4BB2-B675-8D7BC3B91F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 bwMode="gray">
          <a:xfrm>
            <a:off x="-1" y="5876925"/>
            <a:ext cx="1019175" cy="51173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xmlns="" id="{CE21CB02-D9C6-4FAF-A21F-7A8AE11A4B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 bwMode="gray">
          <a:xfrm>
            <a:off x="-1" y="6375123"/>
            <a:ext cx="1019175" cy="4828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xmlns="" id="{8807AC72-7C0F-482B-A3FD-7609DF8615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 bwMode="gray">
          <a:xfrm>
            <a:off x="1019174" y="6375123"/>
            <a:ext cx="503745" cy="4828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 err="1"/>
          </a:p>
        </p:txBody>
      </p:sp>
      <p:sp>
        <p:nvSpPr>
          <p:cNvPr id="29" name="Eckige Klammer rechts 28">
            <a:extLst>
              <a:ext uri="{FF2B5EF4-FFF2-40B4-BE49-F238E27FC236}">
                <a16:creationId xmlns:a16="http://schemas.microsoft.com/office/drawing/2014/main" xmlns="" id="{7B79195D-A05E-4DEC-9BC6-6B4C8E00C03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 bwMode="gray">
          <a:xfrm rot="5400000">
            <a:off x="9674565" y="4876403"/>
            <a:ext cx="189310" cy="4390863"/>
          </a:xfrm>
          <a:prstGeom prst="rightBracket">
            <a:avLst>
              <a:gd name="adj" fmla="val 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xmlns="" id="{CBF008EA-A215-4D23-A3F1-26DE0C8EFE0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 bwMode="gray">
          <a:xfrm>
            <a:off x="7572164" y="6957392"/>
            <a:ext cx="4390863" cy="1893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ts val="1200"/>
              </a:lnSpc>
            </a:pPr>
            <a:r>
              <a:rPr lang="de-DE" sz="900" b="0" spc="20" baseline="0" dirty="0">
                <a:solidFill>
                  <a:schemeClr val="bg1">
                    <a:lumMod val="50000"/>
                  </a:schemeClr>
                </a:solidFill>
              </a:rPr>
              <a:t>Eingabe im Titelmaster (Ansicht &gt; Folienmaster)</a:t>
            </a:r>
          </a:p>
        </p:txBody>
      </p:sp>
    </p:spTree>
    <p:extLst>
      <p:ext uri="{BB962C8B-B14F-4D97-AF65-F5344CB8AC3E}">
        <p14:creationId xmlns:p14="http://schemas.microsoft.com/office/powerpoint/2010/main" val="41392784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66D2D5-F753-41A3-8849-637AE1340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a-E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E647E48-503D-4884-B76F-9B9841A24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a-E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D6E091C-E187-4D27-A5CB-C0E01BCA5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938DD-E4E2-4F3C-BACF-244FA726AF6A}" type="datetimeFigureOut">
              <a:rPr lang="aa-ET" smtClean="0"/>
              <a:t>10/11/2025</a:t>
            </a:fld>
            <a:endParaRPr lang="aa-E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1262E3E-4C9F-4FC8-8D3F-9812B36C1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883800D-31E3-4540-8F9A-41485BB6D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DECB0-F7A2-4C6C-8C76-87A13747607A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321275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ckige Klammer rechts 14">
            <a:extLst>
              <a:ext uri="{FF2B5EF4-FFF2-40B4-BE49-F238E27FC236}">
                <a16:creationId xmlns:a16="http://schemas.microsoft.com/office/drawing/2014/main" xmlns="" id="{89ADBADE-F589-410F-AB02-1685B9054F34}"/>
              </a:ext>
            </a:extLst>
          </p:cNvPr>
          <p:cNvSpPr/>
          <p:nvPr userDrawn="1"/>
        </p:nvSpPr>
        <p:spPr bwMode="gray">
          <a:xfrm rot="16200000">
            <a:off x="9192045" y="-2862709"/>
            <a:ext cx="189310" cy="5355904"/>
          </a:xfrm>
          <a:prstGeom prst="rightBracket">
            <a:avLst>
              <a:gd name="adj" fmla="val 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xmlns="" id="{9C1E6E23-75A2-4A9C-970C-041E4AE5523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2027239" y="1695285"/>
            <a:ext cx="9145586" cy="5904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Überschrift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xmlns="" id="{96B5931B-A958-4B9A-9AE3-B1EF91278B16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2027238" y="2913286"/>
            <a:ext cx="9145587" cy="29636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xmlns="" id="{563DA0C9-86BB-4A65-BB61-BD40DB4E571B}"/>
              </a:ext>
            </a:extLst>
          </p:cNvPr>
          <p:cNvSpPr/>
          <p:nvPr userDrawn="1"/>
        </p:nvSpPr>
        <p:spPr bwMode="gray">
          <a:xfrm>
            <a:off x="6607125" y="280777"/>
            <a:ext cx="1541513" cy="447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ts val="1200"/>
              </a:lnSpc>
            </a:pPr>
            <a:r>
              <a:rPr lang="de-DE" sz="900" b="0" spc="20" baseline="0" dirty="0">
                <a:solidFill>
                  <a:schemeClr val="tx1"/>
                </a:solidFill>
                <a:latin typeface="+mj-lt"/>
                <a:ea typeface="Sharp Sans" pitchFamily="2" charset="0"/>
                <a:cs typeface="Sharp Sans" pitchFamily="2" charset="0"/>
              </a:rPr>
              <a:t>Student Seminar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xmlns="" id="{E14FB7B2-AF36-43C6-AAEC-A3F41A7EE3A6}"/>
              </a:ext>
            </a:extLst>
          </p:cNvPr>
          <p:cNvSpPr/>
          <p:nvPr userDrawn="1"/>
        </p:nvSpPr>
        <p:spPr bwMode="gray">
          <a:xfrm>
            <a:off x="8311603" y="280777"/>
            <a:ext cx="1853160" cy="447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ts val="1200"/>
              </a:lnSpc>
            </a:pPr>
            <a:r>
              <a:rPr lang="de-DE" sz="900" b="0" i="0" spc="20" baseline="0" dirty="0">
                <a:solidFill>
                  <a:schemeClr val="tx1"/>
                </a:solidFill>
                <a:latin typeface="+mj-lt"/>
                <a:ea typeface="Sharp Sans" pitchFamily="2" charset="0"/>
                <a:cs typeface="Sharp Sans" pitchFamily="2" charset="0"/>
              </a:rPr>
              <a:t>Name</a:t>
            </a:r>
          </a:p>
          <a:p>
            <a:pPr algn="l">
              <a:lnSpc>
                <a:spcPts val="1200"/>
              </a:lnSpc>
            </a:pPr>
            <a:r>
              <a:rPr lang="de-DE" sz="900" b="0" i="0" spc="20" baseline="0" dirty="0">
                <a:solidFill>
                  <a:schemeClr val="tx1"/>
                </a:solidFill>
                <a:latin typeface="+mj-lt"/>
                <a:ea typeface="Sharp Sans" pitchFamily="2" charset="0"/>
                <a:cs typeface="Sharp Sans" pitchFamily="2" charset="0"/>
              </a:rPr>
              <a:t>Bremen,  Date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xmlns="" id="{8D8A8714-19A1-418A-989F-C75DCBA2F3E7}"/>
              </a:ext>
            </a:extLst>
          </p:cNvPr>
          <p:cNvSpPr/>
          <p:nvPr userDrawn="1"/>
        </p:nvSpPr>
        <p:spPr bwMode="gray">
          <a:xfrm>
            <a:off x="10164763" y="291890"/>
            <a:ext cx="1799889" cy="447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ts val="1100"/>
              </a:lnSpc>
            </a:pPr>
            <a:r>
              <a:rPr lang="de-DE" sz="900" b="0" spc="40" baseline="0" dirty="0">
                <a:solidFill>
                  <a:schemeClr val="tx1"/>
                </a:solidFill>
                <a:latin typeface="+mj-lt"/>
                <a:ea typeface="Sharp Sans" pitchFamily="2" charset="0"/>
                <a:cs typeface="Sharp Sans" pitchFamily="2" charset="0"/>
              </a:rPr>
              <a:t>Institute </a:t>
            </a:r>
            <a:r>
              <a:rPr lang="de-DE" sz="900" b="0" spc="40" baseline="0" dirty="0" err="1">
                <a:solidFill>
                  <a:schemeClr val="tx1"/>
                </a:solidFill>
                <a:latin typeface="+mj-lt"/>
                <a:ea typeface="Sharp Sans" pitchFamily="2" charset="0"/>
                <a:cs typeface="Sharp Sans" pitchFamily="2" charset="0"/>
              </a:rPr>
              <a:t>for</a:t>
            </a:r>
            <a:r>
              <a:rPr lang="de-DE" sz="900" b="0" spc="40" baseline="0" dirty="0">
                <a:solidFill>
                  <a:schemeClr val="tx1"/>
                </a:solidFill>
                <a:latin typeface="+mj-lt"/>
                <a:ea typeface="Sharp Sans" pitchFamily="2" charset="0"/>
                <a:cs typeface="Sharp Sans" pitchFamily="2" charset="0"/>
              </a:rPr>
              <a:t> Microsensors, -</a:t>
            </a:r>
            <a:r>
              <a:rPr lang="de-DE" sz="900" b="0" spc="40" baseline="0" dirty="0" err="1">
                <a:solidFill>
                  <a:schemeClr val="tx1"/>
                </a:solidFill>
                <a:latin typeface="+mj-lt"/>
                <a:ea typeface="Sharp Sans" pitchFamily="2" charset="0"/>
                <a:cs typeface="Sharp Sans" pitchFamily="2" charset="0"/>
              </a:rPr>
              <a:t>actuators</a:t>
            </a:r>
            <a:r>
              <a:rPr lang="de-DE" sz="900" b="0" spc="40" baseline="0" dirty="0">
                <a:solidFill>
                  <a:schemeClr val="tx1"/>
                </a:solidFill>
                <a:latin typeface="+mj-lt"/>
                <a:ea typeface="Sharp Sans" pitchFamily="2" charset="0"/>
                <a:cs typeface="Sharp Sans" pitchFamily="2" charset="0"/>
              </a:rPr>
              <a:t>, and -systems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xmlns="" id="{2584FAE8-BA03-4EAB-BCAF-73D709879034}"/>
              </a:ext>
            </a:extLst>
          </p:cNvPr>
          <p:cNvSpPr/>
          <p:nvPr userDrawn="1"/>
        </p:nvSpPr>
        <p:spPr bwMode="gray">
          <a:xfrm>
            <a:off x="6607124" y="-216694"/>
            <a:ext cx="5355904" cy="1893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ts val="1200"/>
              </a:lnSpc>
            </a:pPr>
            <a:r>
              <a:rPr lang="de-DE" sz="900" b="0" spc="20" baseline="0" dirty="0">
                <a:solidFill>
                  <a:schemeClr val="bg1">
                    <a:lumMod val="50000"/>
                  </a:schemeClr>
                </a:solidFill>
              </a:rPr>
              <a:t>Eingabe im Folienmaster (Ansicht &gt; Folienmaster)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xmlns="" id="{E3EF6AEE-3C8B-496D-8668-32A9F28B5ABA}"/>
              </a:ext>
            </a:extLst>
          </p:cNvPr>
          <p:cNvPicPr/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3036292" y="301111"/>
            <a:ext cx="1106893" cy="245191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xmlns="" id="{906DDA9E-2782-45F0-BC36-C40076982A08}"/>
              </a:ext>
            </a:extLst>
          </p:cNvPr>
          <p:cNvPicPr/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42728" y="289509"/>
            <a:ext cx="1324159" cy="47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844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49" r:id="rId7"/>
    <p:sldLayoutId id="2147483659" r:id="rId8"/>
    <p:sldLayoutId id="2147483660" r:id="rId9"/>
    <p:sldLayoutId id="2147483661" r:id="rId10"/>
    <p:sldLayoutId id="2147483650" r:id="rId11"/>
    <p:sldLayoutId id="2147483656" r:id="rId12"/>
    <p:sldLayoutId id="2147483657" r:id="rId13"/>
    <p:sldLayoutId id="2147483658" r:id="rId14"/>
    <p:sldLayoutId id="2147483654" r:id="rId15"/>
    <p:sldLayoutId id="2147483655" r:id="rId16"/>
    <p:sldLayoutId id="2147483668" r:id="rId17"/>
    <p:sldLayoutId id="2147483669" r:id="rId18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14000"/>
        </a:lnSpc>
        <a:spcBef>
          <a:spcPts val="0"/>
        </a:spcBef>
        <a:buFont typeface="Wingdings 3" panose="05040102010807070707" pitchFamily="18" charset="2"/>
        <a:buChar char=""/>
        <a:defRPr sz="16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808038" indent="-268288" algn="l" defTabSz="914400" rtl="0" eaLnBrk="1" latinLnBrk="0" hangingPunct="1">
        <a:lnSpc>
          <a:spcPct val="114000"/>
        </a:lnSpc>
        <a:spcBef>
          <a:spcPts val="0"/>
        </a:spcBef>
        <a:buFont typeface="Arial" panose="020B0604020202020204" pitchFamily="34" charset="0"/>
        <a:buChar char="‒"/>
        <a:defRPr sz="16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341438" indent="-266700" algn="l" defTabSz="914400" rtl="0" eaLnBrk="1" latinLnBrk="0" hangingPunct="1">
        <a:lnSpc>
          <a:spcPct val="114000"/>
        </a:lnSpc>
        <a:spcBef>
          <a:spcPts val="0"/>
        </a:spcBef>
        <a:buFont typeface="Arial" panose="020B0604020202020204" pitchFamily="34" charset="0"/>
        <a:buChar char="‒"/>
        <a:defRPr sz="16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882775" indent="-268288" algn="l" defTabSz="914400" rtl="0" eaLnBrk="1" latinLnBrk="0" hangingPunct="1">
        <a:lnSpc>
          <a:spcPct val="114000"/>
        </a:lnSpc>
        <a:spcBef>
          <a:spcPts val="0"/>
        </a:spcBef>
        <a:buFont typeface="Arial" panose="020B0604020202020204" pitchFamily="34" charset="0"/>
        <a:buChar char="‒"/>
        <a:defRPr sz="16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422525" indent="-266700" algn="l" defTabSz="914400" rtl="0" eaLnBrk="1" latinLnBrk="0" hangingPunct="1">
        <a:lnSpc>
          <a:spcPct val="114000"/>
        </a:lnSpc>
        <a:spcBef>
          <a:spcPts val="0"/>
        </a:spcBef>
        <a:buFont typeface="Arial" panose="020B0604020202020204" pitchFamily="34" charset="0"/>
        <a:buChar char="‒"/>
        <a:defRPr sz="16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18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475" userDrawn="1">
          <p15:clr>
            <a:srgbClr val="F26B43"/>
          </p15:clr>
        </p15:guide>
        <p15:guide id="4" pos="3205" userDrawn="1">
          <p15:clr>
            <a:srgbClr val="F26B43"/>
          </p15:clr>
        </p15:guide>
        <p15:guide id="5" pos="2547" userDrawn="1">
          <p15:clr>
            <a:srgbClr val="F26B43"/>
          </p15:clr>
        </p15:guide>
        <p15:guide id="6" pos="5133" userDrawn="1">
          <p15:clr>
            <a:srgbClr val="F26B43"/>
          </p15:clr>
        </p15:guide>
        <p15:guide id="7" pos="5768" userDrawn="1">
          <p15:clr>
            <a:srgbClr val="F26B43"/>
          </p15:clr>
        </p15:guide>
        <p15:guide id="8" pos="1912" userDrawn="1">
          <p15:clr>
            <a:srgbClr val="F26B43"/>
          </p15:clr>
        </p15:guide>
        <p15:guide id="9" pos="1277" userDrawn="1">
          <p15:clr>
            <a:srgbClr val="F26B43"/>
          </p15:clr>
        </p15:guide>
        <p15:guide id="10" pos="6403" userDrawn="1">
          <p15:clr>
            <a:srgbClr val="F26B43"/>
          </p15:clr>
        </p15:guide>
        <p15:guide id="11" pos="7038" userDrawn="1">
          <p15:clr>
            <a:srgbClr val="F26B43"/>
          </p15:clr>
        </p15:guide>
        <p15:guide id="12" pos="642" userDrawn="1">
          <p15:clr>
            <a:srgbClr val="F26B43"/>
          </p15:clr>
        </p15:guide>
        <p15:guide id="13" orient="horz" pos="1230" userDrawn="1">
          <p15:clr>
            <a:srgbClr val="F26B43"/>
          </p15:clr>
        </p15:guide>
        <p15:guide id="14" orient="horz" pos="1865" userDrawn="1">
          <p15:clr>
            <a:srgbClr val="F26B43"/>
          </p15:clr>
        </p15:guide>
        <p15:guide id="15" orient="horz" pos="2478" userDrawn="1">
          <p15:clr>
            <a:srgbClr val="F26B43"/>
          </p15:clr>
        </p15:guide>
        <p15:guide id="16" orient="horz" pos="3090" userDrawn="1">
          <p15:clr>
            <a:srgbClr val="F26B43"/>
          </p15:clr>
        </p15:guide>
        <p15:guide id="17" orient="horz" pos="370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comments" Target="../comments/comment1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comments" Target="../comments/commen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comments" Target="../comments/comment4.xml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5" Type="http://schemas.openxmlformats.org/officeDocument/2006/relationships/comments" Target="../comments/comment6.xml"/><Relationship Id="rId4" Type="http://schemas.openxmlformats.org/officeDocument/2006/relationships/image" Target="../media/image1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7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2.jpg"/><Relationship Id="rId11" Type="http://schemas.openxmlformats.org/officeDocument/2006/relationships/image" Target="../media/image27.png"/><Relationship Id="rId5" Type="http://schemas.openxmlformats.org/officeDocument/2006/relationships/image" Target="../media/image21.jpeg"/><Relationship Id="rId10" Type="http://schemas.openxmlformats.org/officeDocument/2006/relationships/image" Target="../media/image26.png"/><Relationship Id="rId4" Type="http://schemas.openxmlformats.org/officeDocument/2006/relationships/image" Target="../media/image20.jpe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9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1.jpg"/><Relationship Id="rId4" Type="http://schemas.openxmlformats.org/officeDocument/2006/relationships/image" Target="../media/image60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5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comments" Target="../comments/comment8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3991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82186A16-B394-48EE-ADF7-7D5341A42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9536" y="2420888"/>
            <a:ext cx="9577064" cy="1351104"/>
          </a:xfrm>
        </p:spPr>
        <p:txBody>
          <a:bodyPr/>
          <a:lstStyle/>
          <a:p>
            <a:r>
              <a:rPr lang="en-US" sz="4000" b="1" dirty="0">
                <a:latin typeface="ui-sans-serif"/>
                <a:ea typeface="Segoe UI Emoji" panose="020B0502040204020203" pitchFamily="34" charset="0"/>
              </a:rPr>
              <a:t>Organic Electrochemical Transistors </a:t>
            </a:r>
            <a:r>
              <a:rPr lang="en-US" sz="4000" dirty="0">
                <a:latin typeface="ui-sans-serif"/>
                <a:ea typeface="Segoe UI Emoji" panose="020B0502040204020203" pitchFamily="34" charset="0"/>
              </a:rPr>
              <a:t/>
            </a:r>
            <a:br>
              <a:rPr lang="en-US" sz="4000" dirty="0">
                <a:latin typeface="ui-sans-serif"/>
                <a:ea typeface="Segoe UI Emoji" panose="020B0502040204020203" pitchFamily="34" charset="0"/>
              </a:rPr>
            </a:br>
            <a:r>
              <a:rPr lang="en-US" sz="4000" b="1" dirty="0">
                <a:latin typeface="ui-sans-serif"/>
                <a:ea typeface="Segoe UI Emoji" panose="020B0502040204020203" pitchFamily="34" charset="0"/>
              </a:rPr>
              <a:t>(OECT) combined with enzyme glucose dehydrogenase as glucose sensors</a:t>
            </a:r>
            <a:r>
              <a:rPr lang="de-DE" sz="4000" b="1" dirty="0">
                <a:latin typeface="Sharp Sans" pitchFamily="2" charset="77"/>
                <a:ea typeface="Sharp Sans" pitchFamily="2" charset="77"/>
                <a:cs typeface="Sharp Sans" pitchFamily="2" charset="77"/>
              </a:rPr>
              <a:t/>
            </a:r>
            <a:br>
              <a:rPr lang="de-DE" sz="4000" b="1" dirty="0">
                <a:latin typeface="Sharp Sans" pitchFamily="2" charset="77"/>
                <a:ea typeface="Sharp Sans" pitchFamily="2" charset="77"/>
                <a:cs typeface="Sharp Sans" pitchFamily="2" charset="77"/>
              </a:rPr>
            </a:br>
            <a:r>
              <a:rPr lang="de-DE" sz="4000" b="1" dirty="0">
                <a:latin typeface="Sharp Sans" pitchFamily="2" charset="77"/>
                <a:ea typeface="Sharp Sans" pitchFamily="2" charset="77"/>
                <a:cs typeface="Sharp Sans" pitchFamily="2" charset="77"/>
              </a:rPr>
              <a:t/>
            </a:r>
            <a:br>
              <a:rPr lang="de-DE" sz="4000" b="1" dirty="0">
                <a:latin typeface="Sharp Sans" pitchFamily="2" charset="77"/>
                <a:ea typeface="Sharp Sans" pitchFamily="2" charset="77"/>
                <a:cs typeface="Sharp Sans" pitchFamily="2" charset="77"/>
              </a:rPr>
            </a:br>
            <a:r>
              <a:rPr lang="de-DE" sz="2000" dirty="0">
                <a:latin typeface="Sharp Sans" pitchFamily="2" charset="77"/>
                <a:ea typeface="Sharp Sans" pitchFamily="2" charset="77"/>
                <a:cs typeface="Sharp Sans" pitchFamily="2" charset="77"/>
              </a:rPr>
              <a:t> </a:t>
            </a:r>
            <a:r>
              <a:rPr lang="de-DE" sz="4000" dirty="0">
                <a:latin typeface="Sharp Sans" pitchFamily="2" charset="77"/>
                <a:ea typeface="Sharp Sans" pitchFamily="2" charset="77"/>
                <a:cs typeface="Sharp Sans" pitchFamily="2" charset="77"/>
              </a:rPr>
              <a:t/>
            </a:r>
            <a:br>
              <a:rPr lang="de-DE" sz="4000" dirty="0">
                <a:latin typeface="Sharp Sans" pitchFamily="2" charset="77"/>
                <a:ea typeface="Sharp Sans" pitchFamily="2" charset="77"/>
                <a:cs typeface="Sharp Sans" pitchFamily="2" charset="77"/>
              </a:rPr>
            </a:br>
            <a:endParaRPr lang="de-DE" sz="4000" b="1" dirty="0">
              <a:latin typeface="Sharp Sans" pitchFamily="2" charset="77"/>
              <a:ea typeface="Sharp Sans" pitchFamily="2" charset="77"/>
              <a:cs typeface="Sharp Sans" pitchFamily="2" charset="77"/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xmlns="" id="{309C4298-788C-4DEB-B7FE-12CB45FA66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27238" y="5355020"/>
            <a:ext cx="5076825" cy="1055663"/>
          </a:xfrm>
        </p:spPr>
        <p:txBody>
          <a:bodyPr/>
          <a:lstStyle/>
          <a:p>
            <a:r>
              <a:rPr lang="de-DE" sz="1400" dirty="0" smtClean="0">
                <a:latin typeface="Sharp Sans" pitchFamily="2" charset="77"/>
                <a:ea typeface="Sharp Sans" pitchFamily="2" charset="77"/>
                <a:cs typeface="Sharp Sans" pitchFamily="2" charset="77"/>
              </a:rPr>
              <a:t>Emmanuel Joseph Shaji</a:t>
            </a:r>
            <a:endParaRPr lang="de-DE" sz="1400" dirty="0">
              <a:latin typeface="Sharp Sans" pitchFamily="2" charset="77"/>
              <a:ea typeface="Sharp Sans" pitchFamily="2" charset="77"/>
              <a:cs typeface="Sharp Sans" pitchFamily="2" charset="77"/>
            </a:endParaRPr>
          </a:p>
          <a:p>
            <a:r>
              <a:rPr lang="de-DE" sz="1400" dirty="0">
                <a:latin typeface="Sharp Sans" pitchFamily="2" charset="77"/>
                <a:ea typeface="Sharp Sans" pitchFamily="2" charset="77"/>
                <a:cs typeface="Sharp Sans" pitchFamily="2" charset="77"/>
              </a:rPr>
              <a:t>Bremen </a:t>
            </a:r>
            <a:r>
              <a:rPr lang="de-DE" sz="1400" dirty="0" smtClean="0">
                <a:latin typeface="Sharp Sans" pitchFamily="2" charset="77"/>
                <a:ea typeface="Sharp Sans" pitchFamily="2" charset="77"/>
                <a:cs typeface="Sharp Sans" pitchFamily="2" charset="77"/>
              </a:rPr>
              <a:t> 11/11/2025</a:t>
            </a:r>
            <a:endParaRPr lang="de-DE" sz="1400" dirty="0">
              <a:latin typeface="Sharp Sans" pitchFamily="2" charset="77"/>
              <a:ea typeface="Sharp Sans" pitchFamily="2" charset="77"/>
              <a:cs typeface="Sharp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8955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2E7B70-0F40-F2D8-9655-FA48C35F0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861230"/>
            <a:ext cx="9145586" cy="590478"/>
          </a:xfrm>
        </p:spPr>
        <p:txBody>
          <a:bodyPr/>
          <a:lstStyle/>
          <a:p>
            <a:r>
              <a:rPr lang="en-GB" sz="2800" b="1" dirty="0">
                <a:latin typeface="Arial Black" panose="020B0A04020102020204" pitchFamily="34" charset="0"/>
              </a:rPr>
              <a:t>Motivation Slide</a:t>
            </a:r>
            <a:endParaRPr lang="aa-ET" sz="2800" b="1" dirty="0">
              <a:latin typeface="Arial Black" panose="020B0A040201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528048" y="188640"/>
            <a:ext cx="2664296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92" y="3955043"/>
            <a:ext cx="3353094" cy="2350961"/>
          </a:xfrm>
          <a:prstGeom prst="rect">
            <a:avLst/>
          </a:prstGeom>
          <a:ln w="28575">
            <a:solidFill>
              <a:schemeClr val="tx1"/>
            </a:solidFill>
          </a:ln>
          <a:effectLst/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722" y="3955043"/>
            <a:ext cx="2444708" cy="237849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23392" y="1495096"/>
            <a:ext cx="10718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/>
              <a:t>Glucose is essential carbohydrate </a:t>
            </a:r>
            <a:r>
              <a:rPr lang="en-US" sz="1600" dirty="0"/>
              <a:t>that serves as a primary energy source for most living </a:t>
            </a:r>
            <a:r>
              <a:rPr lang="en-US" sz="1600" dirty="0" smtClean="0"/>
              <a:t>organisms. It helps in:-</a:t>
            </a:r>
            <a:endParaRPr lang="en-GB" sz="1600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623392" y="2314946"/>
            <a:ext cx="8448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600" b="1" dirty="0" smtClean="0"/>
              <a:t>Diagnosis :- </a:t>
            </a:r>
            <a:r>
              <a:rPr lang="en-GB" sz="1600" dirty="0" smtClean="0"/>
              <a:t>Diabetes, </a:t>
            </a:r>
            <a:r>
              <a:rPr lang="en-GB" sz="1600" dirty="0" err="1" smtClean="0"/>
              <a:t>hyperglycemia</a:t>
            </a:r>
            <a:r>
              <a:rPr lang="en-GB" sz="1600" dirty="0" smtClean="0"/>
              <a:t> and </a:t>
            </a:r>
            <a:r>
              <a:rPr lang="en-GB" sz="1600" dirty="0" err="1" smtClean="0"/>
              <a:t>hypoglycemia</a:t>
            </a:r>
            <a:r>
              <a:rPr lang="en-GB" sz="1600" dirty="0" smtClean="0"/>
              <a:t>.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7497" y="3965794"/>
            <a:ext cx="4433214" cy="236774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623392" y="3011759"/>
            <a:ext cx="8448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600" b="1" dirty="0" smtClean="0"/>
              <a:t>Health Monitoring :- </a:t>
            </a:r>
            <a:r>
              <a:rPr lang="en-GB" sz="1600" dirty="0" smtClean="0"/>
              <a:t>Physical energy and Cognitive function</a:t>
            </a:r>
            <a:r>
              <a:rPr lang="en-GB" sz="1600" b="1" dirty="0"/>
              <a:t>.</a:t>
            </a:r>
            <a:r>
              <a:rPr lang="en-GB" sz="1600" b="1" dirty="0" smtClean="0"/>
              <a:t>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784632" y="6333538"/>
            <a:ext cx="2160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9376" y="6395093"/>
            <a:ext cx="3240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 smtClean="0"/>
              <a:t>Source: Google images</a:t>
            </a:r>
          </a:p>
        </p:txBody>
      </p:sp>
    </p:spTree>
    <p:extLst>
      <p:ext uri="{BB962C8B-B14F-4D97-AF65-F5344CB8AC3E}">
        <p14:creationId xmlns:p14="http://schemas.microsoft.com/office/powerpoint/2010/main" val="1913331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2E7B70-0F40-F2D8-9655-FA48C35F0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427" y="759308"/>
            <a:ext cx="9145586" cy="590478"/>
          </a:xfrm>
        </p:spPr>
        <p:txBody>
          <a:bodyPr/>
          <a:lstStyle/>
          <a:p>
            <a:r>
              <a:rPr lang="en-GB" sz="2800" b="1" dirty="0">
                <a:latin typeface="Arial Black" panose="020B0A04020102020204" pitchFamily="34" charset="0"/>
              </a:rPr>
              <a:t>Motivation Slide</a:t>
            </a:r>
            <a:endParaRPr lang="aa-ET" sz="2800" b="1" dirty="0">
              <a:latin typeface="Arial Black" panose="020B0A040201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528048" y="188640"/>
            <a:ext cx="2664296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33" y="1349786"/>
            <a:ext cx="2304256" cy="202910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2490" y="1349786"/>
            <a:ext cx="2304256" cy="202910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047" y="1349786"/>
            <a:ext cx="2304256" cy="202910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0376" y="1344200"/>
            <a:ext cx="2304256" cy="204028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784632" y="6333538"/>
            <a:ext cx="2160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/>
              <a:t>2</a:t>
            </a:r>
            <a:endParaRPr lang="en-GB" sz="1600" dirty="0" smtClean="0"/>
          </a:p>
        </p:txBody>
      </p:sp>
      <p:sp>
        <p:nvSpPr>
          <p:cNvPr id="17" name="Rectangle 16"/>
          <p:cNvSpPr/>
          <p:nvPr/>
        </p:nvSpPr>
        <p:spPr>
          <a:xfrm>
            <a:off x="911424" y="3861048"/>
            <a:ext cx="1909765" cy="457101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ysClr val="windowText" lastClr="000000"/>
                </a:solidFill>
              </a:rPr>
              <a:t>Non invasive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5682" y="5684209"/>
            <a:ext cx="1909765" cy="457101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Expensive</a:t>
            </a:r>
          </a:p>
        </p:txBody>
      </p:sp>
      <p:cxnSp>
        <p:nvCxnSpPr>
          <p:cNvPr id="24" name="Straight Connector 23"/>
          <p:cNvCxnSpPr>
            <a:stCxn id="17" idx="1"/>
            <a:endCxn id="17" idx="1"/>
          </p:cNvCxnSpPr>
          <p:nvPr/>
        </p:nvCxnSpPr>
        <p:spPr>
          <a:xfrm>
            <a:off x="911424" y="4089599"/>
            <a:ext cx="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7" idx="1"/>
          </p:cNvCxnSpPr>
          <p:nvPr/>
        </p:nvCxnSpPr>
        <p:spPr>
          <a:xfrm flipH="1" flipV="1">
            <a:off x="695400" y="4089598"/>
            <a:ext cx="216024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1" idx="1"/>
          </p:cNvCxnSpPr>
          <p:nvPr/>
        </p:nvCxnSpPr>
        <p:spPr>
          <a:xfrm flipH="1">
            <a:off x="667901" y="5912760"/>
            <a:ext cx="227781" cy="3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916981" y="3861047"/>
            <a:ext cx="1909765" cy="457101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ysClr val="windowText" lastClr="000000"/>
                </a:solidFill>
              </a:rPr>
              <a:t>Non invasive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16981" y="5681369"/>
            <a:ext cx="1909765" cy="457101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No real time detection</a:t>
            </a:r>
          </a:p>
        </p:txBody>
      </p:sp>
      <p:cxnSp>
        <p:nvCxnSpPr>
          <p:cNvPr id="44" name="Straight Connector 43"/>
          <p:cNvCxnSpPr>
            <a:stCxn id="40" idx="1"/>
          </p:cNvCxnSpPr>
          <p:nvPr/>
        </p:nvCxnSpPr>
        <p:spPr>
          <a:xfrm flipH="1" flipV="1">
            <a:off x="3700957" y="4089597"/>
            <a:ext cx="216024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43" idx="1"/>
          </p:cNvCxnSpPr>
          <p:nvPr/>
        </p:nvCxnSpPr>
        <p:spPr>
          <a:xfrm flipH="1" flipV="1">
            <a:off x="3700957" y="5909919"/>
            <a:ext cx="216024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6926523" y="3854892"/>
            <a:ext cx="1909765" cy="457101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ysClr val="windowText" lastClr="000000"/>
                </a:solidFill>
              </a:rPr>
              <a:t>Non invasive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38280" y="5648897"/>
            <a:ext cx="1909765" cy="457101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Complex circuitry</a:t>
            </a:r>
          </a:p>
        </p:txBody>
      </p:sp>
      <p:cxnSp>
        <p:nvCxnSpPr>
          <p:cNvPr id="53" name="Straight Connector 52"/>
          <p:cNvCxnSpPr>
            <a:stCxn id="49" idx="1"/>
          </p:cNvCxnSpPr>
          <p:nvPr/>
        </p:nvCxnSpPr>
        <p:spPr>
          <a:xfrm flipH="1" flipV="1">
            <a:off x="6710499" y="4083442"/>
            <a:ext cx="216024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52" idx="1"/>
          </p:cNvCxnSpPr>
          <p:nvPr/>
        </p:nvCxnSpPr>
        <p:spPr>
          <a:xfrm flipH="1" flipV="1">
            <a:off x="6722256" y="5877447"/>
            <a:ext cx="216024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9866083" y="3861046"/>
            <a:ext cx="1909765" cy="457101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ysClr val="windowText" lastClr="000000"/>
                </a:solidFill>
              </a:rPr>
              <a:t>High sensitivity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866083" y="5711004"/>
            <a:ext cx="1909765" cy="457101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Invasive</a:t>
            </a:r>
            <a:endParaRPr lang="en-GB" sz="1200" b="1" dirty="0" smtClean="0"/>
          </a:p>
        </p:txBody>
      </p:sp>
      <p:cxnSp>
        <p:nvCxnSpPr>
          <p:cNvPr id="62" name="Straight Connector 61"/>
          <p:cNvCxnSpPr>
            <a:stCxn id="58" idx="1"/>
          </p:cNvCxnSpPr>
          <p:nvPr/>
        </p:nvCxnSpPr>
        <p:spPr>
          <a:xfrm flipH="1" flipV="1">
            <a:off x="9650059" y="4089596"/>
            <a:ext cx="216024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61" idx="1"/>
          </p:cNvCxnSpPr>
          <p:nvPr/>
        </p:nvCxnSpPr>
        <p:spPr>
          <a:xfrm flipH="1" flipV="1">
            <a:off x="9650059" y="5939554"/>
            <a:ext cx="216024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V="1">
            <a:off x="683643" y="3397791"/>
            <a:ext cx="0" cy="1310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 flipV="1">
            <a:off x="683643" y="4678314"/>
            <a:ext cx="0" cy="12316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 flipV="1">
            <a:off x="3689200" y="3397791"/>
            <a:ext cx="0" cy="1310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flipV="1">
            <a:off x="6698742" y="3378894"/>
            <a:ext cx="0" cy="1310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flipV="1">
            <a:off x="9638302" y="3397791"/>
            <a:ext cx="0" cy="1310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 flipV="1">
            <a:off x="3689200" y="4678711"/>
            <a:ext cx="0" cy="12316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 flipV="1">
            <a:off x="6710499" y="4652394"/>
            <a:ext cx="0" cy="12316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 flipV="1">
            <a:off x="9638302" y="4708347"/>
            <a:ext cx="0" cy="12316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04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7" grpId="0" animBg="1"/>
      <p:bldP spid="21" grpId="0" animBg="1"/>
      <p:bldP spid="40" grpId="0" animBg="1"/>
      <p:bldP spid="43" grpId="0" animBg="1"/>
      <p:bldP spid="49" grpId="0" animBg="1"/>
      <p:bldP spid="52" grpId="0" animBg="1"/>
      <p:bldP spid="58" grpId="0" animBg="1"/>
      <p:bldP spid="6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2E7B70-0F40-F2D8-9655-FA48C35F0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1053597"/>
            <a:ext cx="9145586" cy="590478"/>
          </a:xfrm>
        </p:spPr>
        <p:txBody>
          <a:bodyPr/>
          <a:lstStyle/>
          <a:p>
            <a:r>
              <a:rPr lang="en-GB" sz="2800" b="1" dirty="0" smtClean="0">
                <a:latin typeface="Arial Black" panose="020B0A04020102020204" pitchFamily="34" charset="0"/>
              </a:rPr>
              <a:t>New candidate platform OECT</a:t>
            </a:r>
            <a:endParaRPr lang="aa-ET" sz="2800" b="1" dirty="0">
              <a:latin typeface="Arial Black" panose="020B0A040201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528048" y="188640"/>
            <a:ext cx="2664296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sp>
        <p:nvSpPr>
          <p:cNvPr id="18" name="TextBox 17"/>
          <p:cNvSpPr txBox="1"/>
          <p:nvPr/>
        </p:nvSpPr>
        <p:spPr>
          <a:xfrm>
            <a:off x="7104112" y="1948190"/>
            <a:ext cx="5617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b="1" dirty="0" smtClean="0"/>
              <a:t>Working Principle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24" y="2132856"/>
            <a:ext cx="5699375" cy="370306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856640" y="6333538"/>
            <a:ext cx="2160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1986" y="2784078"/>
            <a:ext cx="3528392" cy="552913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ysClr val="windowText" lastClr="000000"/>
                </a:solidFill>
              </a:rPr>
              <a:t>Low power consumption</a:t>
            </a:r>
            <a:endParaRPr lang="en-GB" sz="1400" b="1" baseline="-25000" dirty="0" smtClean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451986" y="3399631"/>
            <a:ext cx="3528392" cy="498884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ysClr val="windowText" lastClr="000000"/>
                </a:solidFill>
              </a:rPr>
              <a:t>Real time monitoring</a:t>
            </a:r>
            <a:endParaRPr lang="en-GB" sz="1400" b="1" dirty="0" err="1" smtClean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451986" y="3964598"/>
            <a:ext cx="3528392" cy="511737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ysClr val="windowText" lastClr="000000"/>
                </a:solidFill>
              </a:rPr>
              <a:t>Low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04112" y="2317522"/>
            <a:ext cx="2745382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Advantages</a:t>
            </a:r>
            <a:r>
              <a:rPr lang="en-US" sz="1600" dirty="0" smtClean="0"/>
              <a:t/>
            </a:r>
            <a:br>
              <a:rPr lang="en-US" sz="1600" dirty="0" smtClean="0"/>
            </a:br>
            <a:endParaRPr lang="en-GB" sz="1600" dirty="0"/>
          </a:p>
        </p:txBody>
      </p:sp>
      <p:sp>
        <p:nvSpPr>
          <p:cNvPr id="15" name="Rectangle 14"/>
          <p:cNvSpPr/>
          <p:nvPr/>
        </p:nvSpPr>
        <p:spPr>
          <a:xfrm>
            <a:off x="7451986" y="4542418"/>
            <a:ext cx="3528392" cy="552913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ysClr val="windowText" lastClr="000000"/>
                </a:solidFill>
              </a:rPr>
              <a:t>Flexibility and biocompatibility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1986" y="5161414"/>
            <a:ext cx="3528392" cy="567982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ysClr val="windowText" lastClr="000000"/>
                </a:solidFill>
              </a:rPr>
              <a:t>Reduced invasiveness</a:t>
            </a:r>
          </a:p>
        </p:txBody>
      </p:sp>
    </p:spTree>
    <p:extLst>
      <p:ext uri="{BB962C8B-B14F-4D97-AF65-F5344CB8AC3E}">
        <p14:creationId xmlns:p14="http://schemas.microsoft.com/office/powerpoint/2010/main" val="46943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0" grpId="0" animBg="1"/>
      <p:bldP spid="11" grpId="0" animBg="1"/>
      <p:bldP spid="12" grpId="0" animBg="1"/>
      <p:bldP spid="13" grpId="0"/>
      <p:bldP spid="15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2E7B70-0F40-F2D8-9655-FA48C35F0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1053597"/>
            <a:ext cx="9145586" cy="590478"/>
          </a:xfrm>
        </p:spPr>
        <p:txBody>
          <a:bodyPr/>
          <a:lstStyle/>
          <a:p>
            <a:r>
              <a:rPr lang="en-GB" sz="2800" b="1" dirty="0" err="1">
                <a:latin typeface="Arial Black" panose="020B0A04020102020204" pitchFamily="34" charset="0"/>
              </a:rPr>
              <a:t>GOx</a:t>
            </a:r>
            <a:r>
              <a:rPr lang="en-GB" sz="2800" b="1" dirty="0">
                <a:latin typeface="Arial Black" panose="020B0A04020102020204" pitchFamily="34" charset="0"/>
              </a:rPr>
              <a:t>-OECT</a:t>
            </a:r>
            <a:endParaRPr lang="aa-ET" sz="2800" b="1" dirty="0">
              <a:latin typeface="Arial Black" panose="020B0A040201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528048" y="188640"/>
            <a:ext cx="2664296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4" y="2771675"/>
            <a:ext cx="5699375" cy="370306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576" y="4721199"/>
            <a:ext cx="2043112" cy="72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999656" y="3922360"/>
            <a:ext cx="576064" cy="1123581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1600" dirty="0" err="1" smtClean="0"/>
              <a:t>GOx</a:t>
            </a:r>
            <a:endParaRPr lang="en-GB" sz="1600" dirty="0" smtClean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168" y="1342893"/>
            <a:ext cx="4852392" cy="223012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191344" y="2083148"/>
            <a:ext cx="6096000" cy="61555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What is </a:t>
            </a:r>
            <a:r>
              <a:rPr lang="en-US" b="1" dirty="0" err="1" smtClean="0"/>
              <a:t>GOx</a:t>
            </a:r>
            <a:r>
              <a:rPr lang="en-US" b="1" dirty="0" smtClean="0"/>
              <a:t>?</a:t>
            </a:r>
            <a:r>
              <a:rPr lang="en-US" sz="1600" dirty="0" smtClean="0"/>
              <a:t/>
            </a:r>
            <a:br>
              <a:rPr lang="en-US" sz="1600" dirty="0" smtClean="0"/>
            </a:br>
            <a:endParaRPr lang="en-GB" sz="1600" dirty="0"/>
          </a:p>
        </p:txBody>
      </p:sp>
      <p:sp>
        <p:nvSpPr>
          <p:cNvPr id="13" name="Rectangle 12"/>
          <p:cNvSpPr/>
          <p:nvPr/>
        </p:nvSpPr>
        <p:spPr>
          <a:xfrm>
            <a:off x="6173800" y="362116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b="1" dirty="0" smtClean="0"/>
              <a:t>Challenges</a:t>
            </a:r>
            <a:endParaRPr lang="en-US" altLang="en-US" b="1" dirty="0"/>
          </a:p>
        </p:txBody>
      </p:sp>
      <p:sp>
        <p:nvSpPr>
          <p:cNvPr id="15" name="Rectangle 14"/>
          <p:cNvSpPr/>
          <p:nvPr/>
        </p:nvSpPr>
        <p:spPr>
          <a:xfrm>
            <a:off x="2279576" y="5240251"/>
            <a:ext cx="2016224" cy="195348"/>
          </a:xfrm>
          <a:prstGeom prst="rect">
            <a:avLst/>
          </a:prstGeom>
          <a:solidFill>
            <a:srgbClr val="F39C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 smtClean="0"/>
              <a:t>GOx</a:t>
            </a:r>
            <a:endParaRPr lang="en-GB" sz="1600" dirty="0" smtClean="0"/>
          </a:p>
        </p:txBody>
      </p:sp>
      <p:sp>
        <p:nvSpPr>
          <p:cNvPr id="18" name="Rectangle 17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784632" y="6333538"/>
            <a:ext cx="2160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84168" y="4089655"/>
            <a:ext cx="3528392" cy="552913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Reproducibility Issues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84168" y="4705208"/>
            <a:ext cx="3528392" cy="498884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Stability Concerns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4168" y="5266732"/>
            <a:ext cx="3528392" cy="511737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Oxygen Dependence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84168" y="5841109"/>
            <a:ext cx="3528392" cy="552913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Hydrogen Peroxide Byproduct</a:t>
            </a:r>
          </a:p>
        </p:txBody>
      </p:sp>
    </p:spTree>
    <p:extLst>
      <p:ext uri="{BB962C8B-B14F-4D97-AF65-F5344CB8AC3E}">
        <p14:creationId xmlns:p14="http://schemas.microsoft.com/office/powerpoint/2010/main" val="327115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12" grpId="0"/>
      <p:bldP spid="13" grpId="0"/>
      <p:bldP spid="15" grpId="0" animBg="1"/>
      <p:bldP spid="15" grpId="1" animBg="1"/>
      <p:bldP spid="16" grpId="0" animBg="1"/>
      <p:bldP spid="17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2E7B70-0F40-F2D8-9655-FA48C35F0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1053597"/>
            <a:ext cx="9145586" cy="590478"/>
          </a:xfrm>
        </p:spPr>
        <p:txBody>
          <a:bodyPr/>
          <a:lstStyle/>
          <a:p>
            <a:r>
              <a:rPr lang="en-GB" sz="2800" dirty="0">
                <a:latin typeface="Arial Black" panose="020B0A04020102020204" pitchFamily="34" charset="0"/>
              </a:rPr>
              <a:t>GDH- an alternative for </a:t>
            </a:r>
            <a:r>
              <a:rPr lang="en-GB" sz="2800" dirty="0" err="1">
                <a:latin typeface="Arial Black" panose="020B0A04020102020204" pitchFamily="34" charset="0"/>
              </a:rPr>
              <a:t>GOx</a:t>
            </a:r>
            <a:r>
              <a:rPr lang="en-GB" sz="2800" dirty="0">
                <a:latin typeface="Arial Black" panose="020B0A04020102020204" pitchFamily="34" charset="0"/>
              </a:rPr>
              <a:t>?</a:t>
            </a:r>
            <a:endParaRPr lang="aa-ET" sz="2800" b="1" dirty="0">
              <a:latin typeface="Arial Black" panose="020B0A040201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528048" y="188640"/>
            <a:ext cx="2664296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sp>
        <p:nvSpPr>
          <p:cNvPr id="12" name="Rectangle 11"/>
          <p:cNvSpPr/>
          <p:nvPr/>
        </p:nvSpPr>
        <p:spPr>
          <a:xfrm>
            <a:off x="263352" y="2233444"/>
            <a:ext cx="2745382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What is GDH?</a:t>
            </a:r>
            <a:r>
              <a:rPr lang="en-US" sz="1600" dirty="0" smtClean="0"/>
              <a:t/>
            </a:r>
            <a:br>
              <a:rPr lang="en-US" sz="1600" dirty="0" smtClean="0"/>
            </a:br>
            <a:endParaRPr lang="en-GB" sz="16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2852936"/>
            <a:ext cx="5904656" cy="348209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7464152" y="2852936"/>
            <a:ext cx="3528392" cy="1080120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 smtClean="0">
                <a:solidFill>
                  <a:sysClr val="windowText" lastClr="000000"/>
                </a:solidFill>
              </a:rPr>
              <a:t>No H</a:t>
            </a:r>
            <a:r>
              <a:rPr lang="en-GB" sz="1600" b="1" baseline="-25000" dirty="0" smtClean="0">
                <a:solidFill>
                  <a:sysClr val="windowText" lastClr="000000"/>
                </a:solidFill>
              </a:rPr>
              <a:t>2</a:t>
            </a:r>
            <a:r>
              <a:rPr lang="en-GB" sz="1600" b="1" dirty="0" smtClean="0">
                <a:solidFill>
                  <a:sysClr val="windowText" lastClr="000000"/>
                </a:solidFill>
              </a:rPr>
              <a:t>O</a:t>
            </a:r>
            <a:r>
              <a:rPr lang="en-GB" sz="1600" b="1" baseline="-25000" dirty="0" smtClean="0">
                <a:solidFill>
                  <a:sysClr val="windowText" lastClr="000000"/>
                </a:solidFill>
              </a:rPr>
              <a:t>2</a:t>
            </a:r>
            <a:r>
              <a:rPr lang="en-GB" sz="1600" b="1" dirty="0" smtClean="0">
                <a:solidFill>
                  <a:sysClr val="windowText" lastClr="000000"/>
                </a:solidFill>
              </a:rPr>
              <a:t> By-Product</a:t>
            </a:r>
            <a:endParaRPr lang="en-GB" sz="1600" b="1" baseline="-25000" dirty="0" smtClean="0">
              <a:solidFill>
                <a:sysClr val="windowText" lastClr="00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468553" y="4053921"/>
            <a:ext cx="3528392" cy="1080120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ysClr val="windowText" lastClr="000000"/>
                </a:solidFill>
              </a:rPr>
              <a:t>25 times higher activity than </a:t>
            </a:r>
            <a:r>
              <a:rPr lang="en-US" sz="1600" b="1" dirty="0" err="1">
                <a:solidFill>
                  <a:sysClr val="windowText" lastClr="000000"/>
                </a:solidFill>
              </a:rPr>
              <a:t>GOx</a:t>
            </a:r>
            <a:endParaRPr lang="en-GB" sz="1600" b="1" dirty="0" err="1" smtClean="0">
              <a:solidFill>
                <a:sysClr val="windowText" lastClr="00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464152" y="5254906"/>
            <a:ext cx="3528392" cy="1080120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 smtClean="0">
                <a:solidFill>
                  <a:sysClr val="windowText" lastClr="000000"/>
                </a:solidFill>
              </a:rPr>
              <a:t>No oxygen needed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784632" y="6333538"/>
            <a:ext cx="2160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64152" y="2305984"/>
            <a:ext cx="2745382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Advantages</a:t>
            </a:r>
            <a:r>
              <a:rPr lang="en-US" sz="1600" dirty="0" smtClean="0"/>
              <a:t/>
            </a:r>
            <a:br>
              <a:rPr lang="en-US" sz="1600" dirty="0" smtClean="0"/>
            </a:b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055499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0" animBg="1"/>
      <p:bldP spid="19" grpId="0" animBg="1"/>
      <p:bldP spid="20" grpId="0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2E7B70-0F40-F2D8-9655-FA48C35F0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841" y="1138602"/>
            <a:ext cx="9145586" cy="590478"/>
          </a:xfrm>
        </p:spPr>
        <p:txBody>
          <a:bodyPr/>
          <a:lstStyle/>
          <a:p>
            <a:r>
              <a:rPr lang="en-GB" sz="2800" b="1" dirty="0">
                <a:latin typeface="Arial Black" panose="020B0A04020102020204" pitchFamily="34" charset="0"/>
              </a:rPr>
              <a:t>Research Question</a:t>
            </a:r>
            <a:endParaRPr lang="aa-ET" sz="2800" b="1" dirty="0">
              <a:latin typeface="Arial Black" panose="020B0A04020102020204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xmlns="" id="{AFBC4E38-0941-EB54-045A-27AA2A445376}"/>
              </a:ext>
            </a:extLst>
          </p:cNvPr>
          <p:cNvSpPr txBox="1"/>
          <p:nvPr/>
        </p:nvSpPr>
        <p:spPr>
          <a:xfrm>
            <a:off x="796841" y="2060848"/>
            <a:ext cx="104411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/>
              <a:t>Can Organic Electrochemical Transistors (OECTs) combined with the enzyme glucose dehydrogenase (GDH) be used to perform stable and reproducible glucose sensing?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784" y="3789040"/>
            <a:ext cx="3316511" cy="26641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056" y="133057"/>
            <a:ext cx="2664183" cy="43285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784632" y="6333538"/>
            <a:ext cx="2160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3831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2E7B70-0F40-F2D8-9655-FA48C35F0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1053597"/>
            <a:ext cx="9145586" cy="590478"/>
          </a:xfrm>
        </p:spPr>
        <p:txBody>
          <a:bodyPr/>
          <a:lstStyle/>
          <a:p>
            <a:r>
              <a:rPr lang="en-GB" sz="2800" dirty="0" smtClean="0">
                <a:latin typeface="Arial Black" panose="020B0A04020102020204" pitchFamily="34" charset="0"/>
              </a:rPr>
              <a:t>Preparation of OECT for Testing</a:t>
            </a:r>
            <a:endParaRPr lang="aa-ET" sz="2800" b="1" dirty="0">
              <a:latin typeface="Arial Black" panose="020B0A040201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528048" y="188640"/>
            <a:ext cx="2664296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763" y="1625068"/>
            <a:ext cx="4464496" cy="79208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763" y="5425805"/>
            <a:ext cx="4464496" cy="79208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3473502"/>
            <a:ext cx="4464496" cy="792088"/>
          </a:xfrm>
          <a:prstGeom prst="rect">
            <a:avLst/>
          </a:prstGeom>
        </p:spPr>
      </p:pic>
      <p:sp>
        <p:nvSpPr>
          <p:cNvPr id="18" name="Rectangle 17"/>
          <p:cNvSpPr>
            <a:spLocks noChangeAspect="1"/>
          </p:cNvSpPr>
          <p:nvPr/>
        </p:nvSpPr>
        <p:spPr>
          <a:xfrm>
            <a:off x="1310971" y="3717032"/>
            <a:ext cx="2624789" cy="152514"/>
          </a:xfrm>
          <a:prstGeom prst="rect">
            <a:avLst/>
          </a:prstGeom>
          <a:solidFill>
            <a:srgbClr val="4E80C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err="1" smtClean="0"/>
              <a:t>mPEDOT:PSS</a:t>
            </a:r>
            <a:endParaRPr lang="en-GB" sz="1400" b="1" dirty="0" smtClean="0"/>
          </a:p>
        </p:txBody>
      </p:sp>
      <p:sp>
        <p:nvSpPr>
          <p:cNvPr id="21" name="Rectangle 20"/>
          <p:cNvSpPr>
            <a:spLocks noChangeAspect="1"/>
          </p:cNvSpPr>
          <p:nvPr/>
        </p:nvSpPr>
        <p:spPr>
          <a:xfrm>
            <a:off x="1342011" y="5621101"/>
            <a:ext cx="2624789" cy="200748"/>
          </a:xfrm>
          <a:prstGeom prst="rect">
            <a:avLst/>
          </a:prstGeom>
          <a:solidFill>
            <a:srgbClr val="4E80C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err="1" smtClean="0"/>
              <a:t>mPEDOT:PSS</a:t>
            </a:r>
            <a:endParaRPr lang="en-GB" sz="1400" b="1" dirty="0" smtClean="0"/>
          </a:p>
        </p:txBody>
      </p:sp>
      <p:sp>
        <p:nvSpPr>
          <p:cNvPr id="22" name="Rectangle 21"/>
          <p:cNvSpPr>
            <a:spLocks noChangeAspect="1"/>
          </p:cNvSpPr>
          <p:nvPr/>
        </p:nvSpPr>
        <p:spPr>
          <a:xfrm>
            <a:off x="1318366" y="5425805"/>
            <a:ext cx="2648434" cy="195296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/>
              <a:t>Pure PEDOT:PSS</a:t>
            </a:r>
          </a:p>
        </p:txBody>
      </p:sp>
      <p:sp>
        <p:nvSpPr>
          <p:cNvPr id="9" name="Down Arrow 8"/>
          <p:cNvSpPr/>
          <p:nvPr/>
        </p:nvSpPr>
        <p:spPr>
          <a:xfrm>
            <a:off x="2297686" y="2544484"/>
            <a:ext cx="720080" cy="792088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sp>
        <p:nvSpPr>
          <p:cNvPr id="23" name="Down Arrow 22"/>
          <p:cNvSpPr/>
          <p:nvPr/>
        </p:nvSpPr>
        <p:spPr>
          <a:xfrm>
            <a:off x="2286970" y="4402520"/>
            <a:ext cx="720080" cy="792088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sp>
        <p:nvSpPr>
          <p:cNvPr id="10" name="TextBox 9"/>
          <p:cNvSpPr txBox="1"/>
          <p:nvPr/>
        </p:nvSpPr>
        <p:spPr>
          <a:xfrm>
            <a:off x="425479" y="4553713"/>
            <a:ext cx="18722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err="1" smtClean="0"/>
              <a:t>Spincoat</a:t>
            </a:r>
            <a:endParaRPr lang="en-GB" sz="1600" dirty="0"/>
          </a:p>
          <a:p>
            <a:pPr algn="l"/>
            <a:r>
              <a:rPr lang="en-GB" sz="1600" dirty="0" smtClean="0"/>
              <a:t>(1000rpm for 60s)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479" y="2612452"/>
            <a:ext cx="18722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err="1" smtClean="0"/>
              <a:t>Spincoat</a:t>
            </a:r>
            <a:endParaRPr lang="en-GB" sz="1600" dirty="0"/>
          </a:p>
          <a:p>
            <a:pPr algn="l"/>
            <a:r>
              <a:rPr lang="en-GB" sz="1600" dirty="0" smtClean="0"/>
              <a:t>(1000rpm for 60s)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7954" y="2612452"/>
            <a:ext cx="18722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Bake</a:t>
            </a:r>
          </a:p>
          <a:p>
            <a:r>
              <a:rPr lang="en-GB" sz="1600" dirty="0" smtClean="0"/>
              <a:t>(110°C for 10 min)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7954" y="4402520"/>
            <a:ext cx="18722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Bake</a:t>
            </a:r>
          </a:p>
          <a:p>
            <a:r>
              <a:rPr lang="en-GB" sz="1600" dirty="0" smtClean="0"/>
              <a:t>(110°C for 10 min)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38" t="23750"/>
          <a:stretch/>
        </p:blipFill>
        <p:spPr>
          <a:xfrm>
            <a:off x="6351556" y="2980657"/>
            <a:ext cx="4529448" cy="323723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2" name="Rectangle 41"/>
          <p:cNvSpPr/>
          <p:nvPr/>
        </p:nvSpPr>
        <p:spPr>
          <a:xfrm>
            <a:off x="5807968" y="1586602"/>
            <a:ext cx="5616624" cy="861050"/>
          </a:xfrm>
          <a:prstGeom prst="rect">
            <a:avLst/>
          </a:prstGeom>
          <a:solidFill>
            <a:srgbClr val="4E80C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600" dirty="0" smtClean="0"/>
          </a:p>
        </p:txBody>
      </p:sp>
      <p:sp>
        <p:nvSpPr>
          <p:cNvPr id="28" name="Rectangle 27"/>
          <p:cNvSpPr/>
          <p:nvPr/>
        </p:nvSpPr>
        <p:spPr>
          <a:xfrm>
            <a:off x="6247072" y="1939212"/>
            <a:ext cx="1372134" cy="4887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PEDOT:PSS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01195" y="1931562"/>
            <a:ext cx="936104" cy="4887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 EG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8853" y="1931562"/>
            <a:ext cx="936104" cy="4887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DBSA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73701" y="1931561"/>
            <a:ext cx="936104" cy="4887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GOPS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0363" y="1582538"/>
            <a:ext cx="1972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err="1" smtClean="0">
                <a:solidFill>
                  <a:schemeClr val="bg1"/>
                </a:solidFill>
              </a:rPr>
              <a:t>mPEDOT:PSS</a:t>
            </a:r>
            <a:endParaRPr lang="en-GB" sz="1600" dirty="0" smtClean="0">
              <a:solidFill>
                <a:schemeClr val="bg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784632" y="6333538"/>
            <a:ext cx="2160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134645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  <p:bldP spid="22" grpId="0" animBg="1"/>
      <p:bldP spid="9" grpId="0" animBg="1"/>
      <p:bldP spid="23" grpId="0" animBg="1"/>
      <p:bldP spid="10" grpId="0"/>
      <p:bldP spid="24" grpId="0"/>
      <p:bldP spid="25" grpId="0"/>
      <p:bldP spid="27" grpId="0"/>
      <p:bldP spid="42" grpId="0" animBg="1"/>
      <p:bldP spid="28" grpId="0" animBg="1"/>
      <p:bldP spid="30" grpId="0" animBg="1"/>
      <p:bldP spid="29" grpId="0" animBg="1"/>
      <p:bldP spid="31" grpId="0" animBg="1"/>
      <p:bldP spid="4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2E7B70-0F40-F2D8-9655-FA48C35F0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1053597"/>
            <a:ext cx="9145586" cy="590478"/>
          </a:xfrm>
        </p:spPr>
        <p:txBody>
          <a:bodyPr/>
          <a:lstStyle/>
          <a:p>
            <a:r>
              <a:rPr lang="en-GB" sz="2800" b="1" dirty="0" smtClean="0">
                <a:latin typeface="Arial Black" panose="020B0A04020102020204" pitchFamily="34" charset="0"/>
              </a:rPr>
              <a:t>Enzyme Preparation</a:t>
            </a:r>
            <a:endParaRPr lang="aa-ET" sz="2800" b="1" dirty="0">
              <a:latin typeface="Arial Black" panose="020B0A040201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528048" y="188640"/>
            <a:ext cx="2664296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sp>
        <p:nvSpPr>
          <p:cNvPr id="4" name="Rectangle 3"/>
          <p:cNvSpPr/>
          <p:nvPr/>
        </p:nvSpPr>
        <p:spPr>
          <a:xfrm>
            <a:off x="7687746" y="1835686"/>
            <a:ext cx="972108" cy="1080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>
                <a:solidFill>
                  <a:schemeClr val="tx1"/>
                </a:solidFill>
              </a:rPr>
              <a:t>PBS </a:t>
            </a:r>
          </a:p>
          <a:p>
            <a:pPr algn="ctr"/>
            <a:r>
              <a:rPr lang="en-GB" sz="1600" dirty="0" smtClean="0">
                <a:solidFill>
                  <a:schemeClr val="tx1"/>
                </a:solidFill>
              </a:rPr>
              <a:t>Buffer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647198" y="1798209"/>
            <a:ext cx="1044116" cy="5673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sp>
        <p:nvSpPr>
          <p:cNvPr id="9" name="Freeform 8"/>
          <p:cNvSpPr/>
          <p:nvPr/>
        </p:nvSpPr>
        <p:spPr>
          <a:xfrm>
            <a:off x="7680126" y="2130528"/>
            <a:ext cx="1249680" cy="275702"/>
          </a:xfrm>
          <a:custGeom>
            <a:avLst/>
            <a:gdLst>
              <a:gd name="connsiteX0" fmla="*/ 0 w 1249680"/>
              <a:gd name="connsiteY0" fmla="*/ 176638 h 275702"/>
              <a:gd name="connsiteX1" fmla="*/ 236220 w 1249680"/>
              <a:gd name="connsiteY1" fmla="*/ 1378 h 275702"/>
              <a:gd name="connsiteX2" fmla="*/ 289560 w 1249680"/>
              <a:gd name="connsiteY2" fmla="*/ 260458 h 275702"/>
              <a:gd name="connsiteX3" fmla="*/ 541020 w 1249680"/>
              <a:gd name="connsiteY3" fmla="*/ 1378 h 275702"/>
              <a:gd name="connsiteX4" fmla="*/ 640080 w 1249680"/>
              <a:gd name="connsiteY4" fmla="*/ 275698 h 275702"/>
              <a:gd name="connsiteX5" fmla="*/ 792480 w 1249680"/>
              <a:gd name="connsiteY5" fmla="*/ 8998 h 275702"/>
              <a:gd name="connsiteX6" fmla="*/ 975360 w 1249680"/>
              <a:gd name="connsiteY6" fmla="*/ 176638 h 275702"/>
              <a:gd name="connsiteX7" fmla="*/ 1249680 w 1249680"/>
              <a:gd name="connsiteY7" fmla="*/ 8998 h 275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9680" h="275702">
                <a:moveTo>
                  <a:pt x="0" y="176638"/>
                </a:moveTo>
                <a:cubicBezTo>
                  <a:pt x="93980" y="82023"/>
                  <a:pt x="187960" y="-12592"/>
                  <a:pt x="236220" y="1378"/>
                </a:cubicBezTo>
                <a:cubicBezTo>
                  <a:pt x="284480" y="15348"/>
                  <a:pt x="238760" y="260458"/>
                  <a:pt x="289560" y="260458"/>
                </a:cubicBezTo>
                <a:cubicBezTo>
                  <a:pt x="340360" y="260458"/>
                  <a:pt x="482600" y="-1162"/>
                  <a:pt x="541020" y="1378"/>
                </a:cubicBezTo>
                <a:cubicBezTo>
                  <a:pt x="599440" y="3918"/>
                  <a:pt x="598170" y="274428"/>
                  <a:pt x="640080" y="275698"/>
                </a:cubicBezTo>
                <a:cubicBezTo>
                  <a:pt x="681990" y="276968"/>
                  <a:pt x="736600" y="25508"/>
                  <a:pt x="792480" y="8998"/>
                </a:cubicBezTo>
                <a:cubicBezTo>
                  <a:pt x="848360" y="-7512"/>
                  <a:pt x="899160" y="176638"/>
                  <a:pt x="975360" y="176638"/>
                </a:cubicBezTo>
                <a:cubicBezTo>
                  <a:pt x="1051560" y="176638"/>
                  <a:pt x="1224280" y="-44342"/>
                  <a:pt x="1249680" y="8998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 10"/>
          <p:cNvSpPr/>
          <p:nvPr/>
        </p:nvSpPr>
        <p:spPr>
          <a:xfrm>
            <a:off x="7687746" y="2067940"/>
            <a:ext cx="343584" cy="307806"/>
          </a:xfrm>
          <a:custGeom>
            <a:avLst/>
            <a:gdLst>
              <a:gd name="connsiteX0" fmla="*/ 0 w 343584"/>
              <a:gd name="connsiteY0" fmla="*/ 178266 h 307806"/>
              <a:gd name="connsiteX1" fmla="*/ 289560 w 343584"/>
              <a:gd name="connsiteY1" fmla="*/ 3006 h 307806"/>
              <a:gd name="connsiteX2" fmla="*/ 342900 w 343584"/>
              <a:gd name="connsiteY2" fmla="*/ 307806 h 307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3584" h="307806">
                <a:moveTo>
                  <a:pt x="0" y="178266"/>
                </a:moveTo>
                <a:cubicBezTo>
                  <a:pt x="116205" y="79841"/>
                  <a:pt x="232410" y="-18584"/>
                  <a:pt x="289560" y="3006"/>
                </a:cubicBezTo>
                <a:cubicBezTo>
                  <a:pt x="346710" y="24596"/>
                  <a:pt x="344805" y="166201"/>
                  <a:pt x="342900" y="307806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5594970" y="1854942"/>
            <a:ext cx="1296144" cy="1060864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err="1" smtClean="0">
                <a:solidFill>
                  <a:schemeClr val="tx1"/>
                </a:solidFill>
              </a:rPr>
              <a:t>GOx</a:t>
            </a:r>
            <a:endParaRPr lang="en-GB" sz="1400" b="1" dirty="0">
              <a:solidFill>
                <a:schemeClr val="tx1"/>
              </a:solidFill>
            </a:endParaRPr>
          </a:p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Enzyme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7746" y="2067196"/>
            <a:ext cx="972108" cy="8430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 smtClean="0">
                <a:solidFill>
                  <a:schemeClr val="tx1"/>
                </a:solidFill>
              </a:rPr>
              <a:t>PBS </a:t>
            </a:r>
          </a:p>
          <a:p>
            <a:pPr algn="ctr"/>
            <a:r>
              <a:rPr lang="en-GB" sz="1600" b="1" dirty="0" smtClean="0">
                <a:solidFill>
                  <a:schemeClr val="tx1"/>
                </a:solidFill>
              </a:rPr>
              <a:t>Buffer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26438" y="1840714"/>
            <a:ext cx="972108" cy="1080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>
                <a:solidFill>
                  <a:schemeClr val="tx1"/>
                </a:solidFill>
              </a:rPr>
              <a:t>PBS </a:t>
            </a:r>
          </a:p>
          <a:p>
            <a:pPr algn="ctr"/>
            <a:r>
              <a:rPr lang="en-GB" sz="1600" dirty="0" smtClean="0">
                <a:solidFill>
                  <a:schemeClr val="tx1"/>
                </a:solidFill>
              </a:rPr>
              <a:t>Buffer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85890" y="1803237"/>
            <a:ext cx="1044116" cy="5673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sp>
        <p:nvSpPr>
          <p:cNvPr id="25" name="Rectangle 24"/>
          <p:cNvSpPr/>
          <p:nvPr/>
        </p:nvSpPr>
        <p:spPr>
          <a:xfrm>
            <a:off x="9726438" y="2072224"/>
            <a:ext cx="972108" cy="84305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 err="1" smtClean="0">
                <a:solidFill>
                  <a:schemeClr val="tx1"/>
                </a:solidFill>
              </a:rPr>
              <a:t>GOx</a:t>
            </a:r>
            <a:r>
              <a:rPr lang="en-GB" sz="1600" b="1" dirty="0" smtClean="0">
                <a:solidFill>
                  <a:schemeClr val="tx1"/>
                </a:solidFill>
              </a:rPr>
              <a:t> in PBS </a:t>
            </a:r>
          </a:p>
          <a:p>
            <a:pPr algn="ctr"/>
            <a:r>
              <a:rPr lang="en-GB" sz="1600" b="1" dirty="0" smtClean="0">
                <a:solidFill>
                  <a:schemeClr val="tx1"/>
                </a:solidFill>
              </a:rPr>
              <a:t>Buffer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107138" y="2130528"/>
            <a:ext cx="432048" cy="58851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sp>
        <p:nvSpPr>
          <p:cNvPr id="28" name="Right Arrow 27"/>
          <p:cNvSpPr/>
          <p:nvPr/>
        </p:nvSpPr>
        <p:spPr>
          <a:xfrm>
            <a:off x="9024438" y="2130528"/>
            <a:ext cx="432048" cy="58851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sp>
        <p:nvSpPr>
          <p:cNvPr id="29" name="Rectangle 28"/>
          <p:cNvSpPr/>
          <p:nvPr/>
        </p:nvSpPr>
        <p:spPr>
          <a:xfrm>
            <a:off x="2716168" y="4201832"/>
            <a:ext cx="972108" cy="1080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>
                <a:solidFill>
                  <a:schemeClr val="tx1"/>
                </a:solidFill>
              </a:rPr>
              <a:t>PBS </a:t>
            </a:r>
          </a:p>
          <a:p>
            <a:pPr algn="ctr"/>
            <a:r>
              <a:rPr lang="en-GB" sz="1600" dirty="0" smtClean="0">
                <a:solidFill>
                  <a:schemeClr val="tx1"/>
                </a:solidFill>
              </a:rPr>
              <a:t>Buffer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75620" y="4164355"/>
            <a:ext cx="1044116" cy="5673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sp>
        <p:nvSpPr>
          <p:cNvPr id="31" name="Freeform 30"/>
          <p:cNvSpPr/>
          <p:nvPr/>
        </p:nvSpPr>
        <p:spPr>
          <a:xfrm>
            <a:off x="2708548" y="4496674"/>
            <a:ext cx="1249680" cy="275702"/>
          </a:xfrm>
          <a:custGeom>
            <a:avLst/>
            <a:gdLst>
              <a:gd name="connsiteX0" fmla="*/ 0 w 1249680"/>
              <a:gd name="connsiteY0" fmla="*/ 176638 h 275702"/>
              <a:gd name="connsiteX1" fmla="*/ 236220 w 1249680"/>
              <a:gd name="connsiteY1" fmla="*/ 1378 h 275702"/>
              <a:gd name="connsiteX2" fmla="*/ 289560 w 1249680"/>
              <a:gd name="connsiteY2" fmla="*/ 260458 h 275702"/>
              <a:gd name="connsiteX3" fmla="*/ 541020 w 1249680"/>
              <a:gd name="connsiteY3" fmla="*/ 1378 h 275702"/>
              <a:gd name="connsiteX4" fmla="*/ 640080 w 1249680"/>
              <a:gd name="connsiteY4" fmla="*/ 275698 h 275702"/>
              <a:gd name="connsiteX5" fmla="*/ 792480 w 1249680"/>
              <a:gd name="connsiteY5" fmla="*/ 8998 h 275702"/>
              <a:gd name="connsiteX6" fmla="*/ 975360 w 1249680"/>
              <a:gd name="connsiteY6" fmla="*/ 176638 h 275702"/>
              <a:gd name="connsiteX7" fmla="*/ 1249680 w 1249680"/>
              <a:gd name="connsiteY7" fmla="*/ 8998 h 275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9680" h="275702">
                <a:moveTo>
                  <a:pt x="0" y="176638"/>
                </a:moveTo>
                <a:cubicBezTo>
                  <a:pt x="93980" y="82023"/>
                  <a:pt x="187960" y="-12592"/>
                  <a:pt x="236220" y="1378"/>
                </a:cubicBezTo>
                <a:cubicBezTo>
                  <a:pt x="284480" y="15348"/>
                  <a:pt x="238760" y="260458"/>
                  <a:pt x="289560" y="260458"/>
                </a:cubicBezTo>
                <a:cubicBezTo>
                  <a:pt x="340360" y="260458"/>
                  <a:pt x="482600" y="-1162"/>
                  <a:pt x="541020" y="1378"/>
                </a:cubicBezTo>
                <a:cubicBezTo>
                  <a:pt x="599440" y="3918"/>
                  <a:pt x="598170" y="274428"/>
                  <a:pt x="640080" y="275698"/>
                </a:cubicBezTo>
                <a:cubicBezTo>
                  <a:pt x="681990" y="276968"/>
                  <a:pt x="736600" y="25508"/>
                  <a:pt x="792480" y="8998"/>
                </a:cubicBezTo>
                <a:cubicBezTo>
                  <a:pt x="848360" y="-7512"/>
                  <a:pt x="899160" y="176638"/>
                  <a:pt x="975360" y="176638"/>
                </a:cubicBezTo>
                <a:cubicBezTo>
                  <a:pt x="1051560" y="176638"/>
                  <a:pt x="1224280" y="-44342"/>
                  <a:pt x="1249680" y="8998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Freeform 31"/>
          <p:cNvSpPr/>
          <p:nvPr/>
        </p:nvSpPr>
        <p:spPr>
          <a:xfrm>
            <a:off x="2716168" y="4434086"/>
            <a:ext cx="343584" cy="307806"/>
          </a:xfrm>
          <a:custGeom>
            <a:avLst/>
            <a:gdLst>
              <a:gd name="connsiteX0" fmla="*/ 0 w 343584"/>
              <a:gd name="connsiteY0" fmla="*/ 178266 h 307806"/>
              <a:gd name="connsiteX1" fmla="*/ 289560 w 343584"/>
              <a:gd name="connsiteY1" fmla="*/ 3006 h 307806"/>
              <a:gd name="connsiteX2" fmla="*/ 342900 w 343584"/>
              <a:gd name="connsiteY2" fmla="*/ 307806 h 307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3584" h="307806">
                <a:moveTo>
                  <a:pt x="0" y="178266"/>
                </a:moveTo>
                <a:cubicBezTo>
                  <a:pt x="116205" y="79841"/>
                  <a:pt x="232410" y="-18584"/>
                  <a:pt x="289560" y="3006"/>
                </a:cubicBezTo>
                <a:cubicBezTo>
                  <a:pt x="346710" y="24596"/>
                  <a:pt x="344805" y="166201"/>
                  <a:pt x="342900" y="307806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/>
          <p:cNvSpPr/>
          <p:nvPr/>
        </p:nvSpPr>
        <p:spPr>
          <a:xfrm>
            <a:off x="667386" y="4221088"/>
            <a:ext cx="1296144" cy="106086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bg1"/>
                </a:solidFill>
              </a:rPr>
              <a:t>GDH</a:t>
            </a:r>
            <a:endParaRPr lang="en-GB" sz="1400" b="1" dirty="0">
              <a:solidFill>
                <a:schemeClr val="bg1"/>
              </a:solidFill>
            </a:endParaRPr>
          </a:p>
          <a:p>
            <a:pPr algn="ctr"/>
            <a:r>
              <a:rPr lang="en-GB" sz="1400" b="1" dirty="0" smtClean="0">
                <a:solidFill>
                  <a:schemeClr val="bg1"/>
                </a:solidFill>
              </a:rPr>
              <a:t>Enzyme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16168" y="4433342"/>
            <a:ext cx="972108" cy="8430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 smtClean="0">
                <a:solidFill>
                  <a:schemeClr val="tx1"/>
                </a:solidFill>
              </a:rPr>
              <a:t>MES </a:t>
            </a:r>
          </a:p>
          <a:p>
            <a:pPr algn="ctr"/>
            <a:r>
              <a:rPr lang="en-GB" sz="1600" b="1" dirty="0" smtClean="0">
                <a:solidFill>
                  <a:schemeClr val="tx1"/>
                </a:solidFill>
              </a:rPr>
              <a:t>Buffer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60" y="4253323"/>
            <a:ext cx="972108" cy="1080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>
                <a:solidFill>
                  <a:schemeClr val="tx1"/>
                </a:solidFill>
              </a:rPr>
              <a:t>PBS </a:t>
            </a:r>
          </a:p>
          <a:p>
            <a:pPr algn="ctr"/>
            <a:r>
              <a:rPr lang="en-GB" sz="1600" dirty="0" smtClean="0">
                <a:solidFill>
                  <a:schemeClr val="tx1"/>
                </a:solidFill>
              </a:rPr>
              <a:t>Buffer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14312" y="4215846"/>
            <a:ext cx="1044116" cy="5673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sp>
        <p:nvSpPr>
          <p:cNvPr id="37" name="Rectangle 36"/>
          <p:cNvSpPr/>
          <p:nvPr/>
        </p:nvSpPr>
        <p:spPr>
          <a:xfrm>
            <a:off x="4754860" y="4310056"/>
            <a:ext cx="972108" cy="10178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 smtClean="0">
                <a:solidFill>
                  <a:schemeClr val="tx1"/>
                </a:solidFill>
              </a:rPr>
              <a:t>GDH-PQQ in MES </a:t>
            </a:r>
          </a:p>
          <a:p>
            <a:pPr algn="ctr"/>
            <a:r>
              <a:rPr lang="en-GB" sz="1600" b="1" dirty="0" smtClean="0">
                <a:solidFill>
                  <a:schemeClr val="tx1"/>
                </a:solidFill>
              </a:rPr>
              <a:t>Buffer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2135560" y="4496674"/>
            <a:ext cx="432048" cy="58851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sp>
        <p:nvSpPr>
          <p:cNvPr id="39" name="Right Arrow 38"/>
          <p:cNvSpPr/>
          <p:nvPr/>
        </p:nvSpPr>
        <p:spPr>
          <a:xfrm>
            <a:off x="4052860" y="4496674"/>
            <a:ext cx="432048" cy="58851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sp>
        <p:nvSpPr>
          <p:cNvPr id="51" name="Rounded Rectangle 50"/>
          <p:cNvSpPr/>
          <p:nvPr/>
        </p:nvSpPr>
        <p:spPr>
          <a:xfrm>
            <a:off x="1672052" y="3041479"/>
            <a:ext cx="1044116" cy="504056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 smtClean="0">
                <a:solidFill>
                  <a:schemeClr val="tx1"/>
                </a:solidFill>
              </a:rPr>
              <a:t>CaCl</a:t>
            </a:r>
            <a:r>
              <a:rPr lang="en-GB" sz="1600" b="1" baseline="-25000" dirty="0" smtClean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84133" y="6020433"/>
            <a:ext cx="1044116" cy="50405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 err="1" smtClean="0">
                <a:solidFill>
                  <a:schemeClr val="tx1"/>
                </a:solidFill>
              </a:rPr>
              <a:t>NaOH</a:t>
            </a:r>
            <a:endParaRPr lang="en-GB" sz="1600" b="1" dirty="0" smtClean="0">
              <a:solidFill>
                <a:schemeClr val="tx1"/>
              </a:solidFill>
            </a:endParaRPr>
          </a:p>
        </p:txBody>
      </p:sp>
      <p:sp>
        <p:nvSpPr>
          <p:cNvPr id="53" name="Down Arrow 52"/>
          <p:cNvSpPr/>
          <p:nvPr/>
        </p:nvSpPr>
        <p:spPr>
          <a:xfrm rot="18627737">
            <a:off x="2266929" y="3605440"/>
            <a:ext cx="628524" cy="526633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sp>
        <p:nvSpPr>
          <p:cNvPr id="56" name="Down Arrow 55"/>
          <p:cNvSpPr/>
          <p:nvPr/>
        </p:nvSpPr>
        <p:spPr>
          <a:xfrm rot="10800000">
            <a:off x="2887960" y="5385097"/>
            <a:ext cx="628524" cy="526633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sp>
        <p:nvSpPr>
          <p:cNvPr id="57" name="TextBox 56"/>
          <p:cNvSpPr txBox="1"/>
          <p:nvPr/>
        </p:nvSpPr>
        <p:spPr>
          <a:xfrm>
            <a:off x="7680126" y="3197478"/>
            <a:ext cx="1224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200" b="1" dirty="0" err="1" smtClean="0"/>
              <a:t>GOx</a:t>
            </a:r>
            <a:endParaRPr lang="en-GB" sz="3200" b="1" dirty="0" smtClean="0"/>
          </a:p>
        </p:txBody>
      </p:sp>
      <p:sp>
        <p:nvSpPr>
          <p:cNvPr id="58" name="TextBox 57"/>
          <p:cNvSpPr txBox="1"/>
          <p:nvPr/>
        </p:nvSpPr>
        <p:spPr>
          <a:xfrm>
            <a:off x="4754860" y="5939714"/>
            <a:ext cx="1224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200" b="1" dirty="0" smtClean="0"/>
              <a:t>GDH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58228" y="4201832"/>
            <a:ext cx="9860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pH 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1784632" y="6333538"/>
            <a:ext cx="2160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8</a:t>
            </a:r>
          </a:p>
        </p:txBody>
      </p:sp>
      <p:sp>
        <p:nvSpPr>
          <p:cNvPr id="41" name="Down Arrow 40"/>
          <p:cNvSpPr/>
          <p:nvPr/>
        </p:nvSpPr>
        <p:spPr>
          <a:xfrm rot="2825465">
            <a:off x="3231603" y="3605439"/>
            <a:ext cx="628524" cy="526633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sp>
        <p:nvSpPr>
          <p:cNvPr id="42" name="Rounded Rectangle 41"/>
          <p:cNvSpPr/>
          <p:nvPr/>
        </p:nvSpPr>
        <p:spPr>
          <a:xfrm>
            <a:off x="3584201" y="3029243"/>
            <a:ext cx="1044116" cy="504056"/>
          </a:xfrm>
          <a:prstGeom prst="round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 smtClean="0">
                <a:solidFill>
                  <a:schemeClr val="tx1"/>
                </a:solidFill>
              </a:rPr>
              <a:t>PQQ</a:t>
            </a:r>
            <a:endParaRPr lang="en-GB" sz="1600" b="1" baseline="-250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187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/>
      <p:bldP spid="11" grpId="0"/>
      <p:bldP spid="18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/>
      <p:bldP spid="32" grpId="0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51" grpId="0" animBg="1"/>
      <p:bldP spid="52" grpId="0" animBg="1"/>
      <p:bldP spid="53" grpId="0" animBg="1"/>
      <p:bldP spid="56" grpId="0" animBg="1"/>
      <p:bldP spid="57" grpId="0"/>
      <p:bldP spid="58" grpId="0"/>
      <p:bldP spid="59" grpId="0"/>
      <p:bldP spid="41" grpId="0" animBg="1"/>
      <p:bldP spid="4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2E7B70-0F40-F2D8-9655-FA48C35F0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980728"/>
            <a:ext cx="10657184" cy="590478"/>
          </a:xfrm>
        </p:spPr>
        <p:txBody>
          <a:bodyPr/>
          <a:lstStyle/>
          <a:p>
            <a:r>
              <a:rPr lang="en-GB" sz="2800" b="1" dirty="0" smtClean="0">
                <a:latin typeface="Arial Black" panose="020B0A04020102020204" pitchFamily="34" charset="0"/>
              </a:rPr>
              <a:t>Experiments </a:t>
            </a:r>
            <a:r>
              <a:rPr lang="en-GB" sz="2800" b="1" dirty="0">
                <a:latin typeface="Arial Black" panose="020B0A04020102020204" pitchFamily="34" charset="0"/>
              </a:rPr>
              <a:t>done </a:t>
            </a:r>
            <a:r>
              <a:rPr lang="en-GB" sz="2800" b="1" dirty="0" smtClean="0">
                <a:latin typeface="Arial Black" panose="020B0A04020102020204" pitchFamily="34" charset="0"/>
              </a:rPr>
              <a:t>and Glucose Samples tested</a:t>
            </a:r>
            <a:endParaRPr lang="aa-ET" sz="2800" b="1" dirty="0">
              <a:latin typeface="Arial Black" panose="020B0A040201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56" y="133057"/>
            <a:ext cx="2664183" cy="43285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51384" y="1819767"/>
            <a:ext cx="2232248" cy="60112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/>
              <a:t>Control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538" y="2996952"/>
            <a:ext cx="2232248" cy="60112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/>
              <a:t>Enzyme immobilized</a:t>
            </a:r>
          </a:p>
          <a:p>
            <a:pPr algn="ctr"/>
            <a:r>
              <a:rPr lang="en-GB" sz="1400" b="1" dirty="0" smtClean="0"/>
              <a:t>Steady state</a:t>
            </a:r>
            <a:endParaRPr lang="en-GB" sz="1400" b="1" dirty="0"/>
          </a:p>
        </p:txBody>
      </p:sp>
      <p:sp>
        <p:nvSpPr>
          <p:cNvPr id="11" name="Rounded Rectangle 10"/>
          <p:cNvSpPr/>
          <p:nvPr/>
        </p:nvSpPr>
        <p:spPr>
          <a:xfrm>
            <a:off x="540446" y="4171228"/>
            <a:ext cx="2232248" cy="60112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/>
              <a:t>Floating Enzyme</a:t>
            </a:r>
          </a:p>
          <a:p>
            <a:pPr algn="ctr"/>
            <a:r>
              <a:rPr lang="en-GB" sz="1400" b="1" dirty="0" smtClean="0"/>
              <a:t>Steady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538" y="5345504"/>
            <a:ext cx="2232248" cy="60112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/>
              <a:t>Floating Enzyme</a:t>
            </a:r>
          </a:p>
          <a:p>
            <a:pPr algn="ctr"/>
            <a:r>
              <a:rPr lang="en-GB" sz="1400" b="1" dirty="0" smtClean="0"/>
              <a:t>Real time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71664" y="1819767"/>
            <a:ext cx="720080" cy="601121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sp>
        <p:nvSpPr>
          <p:cNvPr id="14" name="Right Arrow 13"/>
          <p:cNvSpPr/>
          <p:nvPr/>
        </p:nvSpPr>
        <p:spPr>
          <a:xfrm>
            <a:off x="3071664" y="2977158"/>
            <a:ext cx="720080" cy="601121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sp>
        <p:nvSpPr>
          <p:cNvPr id="15" name="Right Arrow 14"/>
          <p:cNvSpPr/>
          <p:nvPr/>
        </p:nvSpPr>
        <p:spPr>
          <a:xfrm>
            <a:off x="3039284" y="4134549"/>
            <a:ext cx="720080" cy="601121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sp>
        <p:nvSpPr>
          <p:cNvPr id="18" name="Right Arrow 17"/>
          <p:cNvSpPr/>
          <p:nvPr/>
        </p:nvSpPr>
        <p:spPr>
          <a:xfrm>
            <a:off x="3071664" y="5345503"/>
            <a:ext cx="720080" cy="601121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688345"/>
              </p:ext>
            </p:extLst>
          </p:nvPr>
        </p:nvGraphicFramePr>
        <p:xfrm>
          <a:off x="3868147" y="3087515"/>
          <a:ext cx="509081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8163"/>
                <a:gridCol w="1018163"/>
                <a:gridCol w="1018163"/>
                <a:gridCol w="1018163"/>
                <a:gridCol w="1018163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1nM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2nM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3nM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4nM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5nM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588565"/>
              </p:ext>
            </p:extLst>
          </p:nvPr>
        </p:nvGraphicFramePr>
        <p:xfrm>
          <a:off x="3868147" y="4249689"/>
          <a:ext cx="8128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1nM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10nM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100nM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1µM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10µM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100µM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1mM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10mM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210739"/>
              </p:ext>
            </p:extLst>
          </p:nvPr>
        </p:nvGraphicFramePr>
        <p:xfrm>
          <a:off x="3868147" y="5460643"/>
          <a:ext cx="509081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8163"/>
                <a:gridCol w="1018163"/>
                <a:gridCol w="1018163"/>
                <a:gridCol w="1018163"/>
                <a:gridCol w="1018163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1µM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10µM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100µM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1mM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10mM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818434" y="1920272"/>
            <a:ext cx="2083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000" dirty="0" smtClean="0"/>
              <a:t>No Glucose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784632" y="6333538"/>
            <a:ext cx="2160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/>
              <a:t>9</a:t>
            </a:r>
            <a:endParaRPr lang="en-GB" sz="1600" dirty="0" smtClean="0"/>
          </a:p>
        </p:txBody>
      </p:sp>
    </p:spTree>
    <p:extLst>
      <p:ext uri="{BB962C8B-B14F-4D97-AF65-F5344CB8AC3E}">
        <p14:creationId xmlns:p14="http://schemas.microsoft.com/office/powerpoint/2010/main" val="3441633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animBg="1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2E7B70-0F40-F2D8-9655-FA48C35F0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81" y="929132"/>
            <a:ext cx="9145586" cy="590478"/>
          </a:xfrm>
        </p:spPr>
        <p:txBody>
          <a:bodyPr/>
          <a:lstStyle/>
          <a:p>
            <a:r>
              <a:rPr lang="en-GB" sz="2800" b="1" dirty="0" smtClean="0">
                <a:latin typeface="Arial Black" panose="020B0A04020102020204" pitchFamily="34" charset="0"/>
              </a:rPr>
              <a:t>Control Experiment</a:t>
            </a:r>
            <a:endParaRPr lang="aa-ET" sz="2800" b="1" dirty="0">
              <a:latin typeface="Arial Black" panose="020B0A04020102020204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xmlns="" id="{AFBC4E38-0941-EB54-045A-27AA2A445376}"/>
              </a:ext>
            </a:extLst>
          </p:cNvPr>
          <p:cNvSpPr txBox="1"/>
          <p:nvPr/>
        </p:nvSpPr>
        <p:spPr>
          <a:xfrm>
            <a:off x="796841" y="2060848"/>
            <a:ext cx="104411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0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56" y="133057"/>
            <a:ext cx="2664183" cy="4328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5152" y="3429000"/>
            <a:ext cx="4824536" cy="10938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09" b="33901"/>
          <a:stretch/>
        </p:blipFill>
        <p:spPr>
          <a:xfrm>
            <a:off x="8987" y="2670629"/>
            <a:ext cx="1728192" cy="32632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59" b="35368"/>
          <a:stretch/>
        </p:blipFill>
        <p:spPr>
          <a:xfrm>
            <a:off x="8987" y="5229201"/>
            <a:ext cx="1737417" cy="36004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9252" y="1678972"/>
            <a:ext cx="2847079" cy="2310584"/>
          </a:xfrm>
          <a:prstGeom prst="rect">
            <a:avLst/>
          </a:prstGeom>
          <a:effectLst/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3383" y="1344493"/>
            <a:ext cx="5220864" cy="322650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7059" y="1681262"/>
            <a:ext cx="2847079" cy="2414225"/>
          </a:xfrm>
          <a:prstGeom prst="rect">
            <a:avLst/>
          </a:prstGeom>
          <a:effectLst/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9667" y="4401836"/>
            <a:ext cx="2920237" cy="24142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89890" y="4346884"/>
            <a:ext cx="2847079" cy="241422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59661" y="3975924"/>
            <a:ext cx="5215624" cy="3190189"/>
          </a:xfrm>
          <a:prstGeom prst="rect">
            <a:avLst/>
          </a:prstGeom>
        </p:spPr>
      </p:pic>
      <p:sp>
        <p:nvSpPr>
          <p:cNvPr id="19" name="Right Arrow 18"/>
          <p:cNvSpPr/>
          <p:nvPr/>
        </p:nvSpPr>
        <p:spPr>
          <a:xfrm>
            <a:off x="1814450" y="2625225"/>
            <a:ext cx="194300" cy="18569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sp>
        <p:nvSpPr>
          <p:cNvPr id="20" name="Right Arrow 19"/>
          <p:cNvSpPr/>
          <p:nvPr/>
        </p:nvSpPr>
        <p:spPr>
          <a:xfrm>
            <a:off x="1814450" y="5270026"/>
            <a:ext cx="194300" cy="18569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sp>
        <p:nvSpPr>
          <p:cNvPr id="21" name="Right Arrow 20"/>
          <p:cNvSpPr/>
          <p:nvPr/>
        </p:nvSpPr>
        <p:spPr>
          <a:xfrm>
            <a:off x="4430400" y="2627286"/>
            <a:ext cx="194300" cy="18569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sp>
        <p:nvSpPr>
          <p:cNvPr id="22" name="Right Arrow 21"/>
          <p:cNvSpPr/>
          <p:nvPr/>
        </p:nvSpPr>
        <p:spPr>
          <a:xfrm>
            <a:off x="9402517" y="2625225"/>
            <a:ext cx="194300" cy="18569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sp>
        <p:nvSpPr>
          <p:cNvPr id="25" name="Right Arrow 24"/>
          <p:cNvSpPr/>
          <p:nvPr/>
        </p:nvSpPr>
        <p:spPr>
          <a:xfrm>
            <a:off x="4416175" y="5270026"/>
            <a:ext cx="194300" cy="18569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sp>
        <p:nvSpPr>
          <p:cNvPr id="26" name="Right Arrow 25"/>
          <p:cNvSpPr/>
          <p:nvPr/>
        </p:nvSpPr>
        <p:spPr>
          <a:xfrm>
            <a:off x="9415284" y="5270026"/>
            <a:ext cx="194300" cy="18569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sp>
        <p:nvSpPr>
          <p:cNvPr id="27" name="Rectangle 26"/>
          <p:cNvSpPr/>
          <p:nvPr/>
        </p:nvSpPr>
        <p:spPr>
          <a:xfrm>
            <a:off x="687166" y="3949262"/>
            <a:ext cx="115212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Vg- </a:t>
            </a:r>
            <a:r>
              <a:rPr lang="en-US" b="1" dirty="0"/>
              <a:t>0 V to 0.6 V </a:t>
            </a:r>
            <a:r>
              <a:rPr lang="en-US" dirty="0"/>
              <a:t>at a </a:t>
            </a:r>
            <a:r>
              <a:rPr lang="en-US" b="1" dirty="0"/>
              <a:t>scan rate of 0.01 </a:t>
            </a:r>
            <a:r>
              <a:rPr lang="en-US" b="1" dirty="0" smtClean="0"/>
              <a:t>V/s</a:t>
            </a:r>
            <a:r>
              <a:rPr lang="en-US" dirty="0"/>
              <a:t> </a:t>
            </a:r>
            <a:r>
              <a:rPr lang="en-US" dirty="0" smtClean="0"/>
              <a:t>and </a:t>
            </a:r>
            <a:r>
              <a:rPr lang="en-US" b="1" dirty="0" err="1" smtClean="0"/>
              <a:t>Vd</a:t>
            </a:r>
            <a:r>
              <a:rPr lang="en-US" b="1" dirty="0" smtClean="0"/>
              <a:t> </a:t>
            </a:r>
            <a:r>
              <a:rPr lang="en-US" b="1" dirty="0"/>
              <a:t>constant at –0.2 </a:t>
            </a:r>
            <a:r>
              <a:rPr lang="en-US" b="1" dirty="0" smtClean="0"/>
              <a:t>V </a:t>
            </a:r>
            <a:r>
              <a:rPr lang="en-US" dirty="0" smtClean="0"/>
              <a:t>with </a:t>
            </a:r>
            <a:r>
              <a:rPr lang="en-US" b="1" dirty="0" smtClean="0"/>
              <a:t>external overhanging Pt gate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712624" y="6499974"/>
            <a:ext cx="479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18891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5" grpId="0" animBg="1"/>
      <p:bldP spid="26" grpId="0" animBg="1"/>
      <p:bldP spid="27" grpId="0"/>
      <p:bldP spid="27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2E7B70-0F40-F2D8-9655-FA48C35F0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855798"/>
            <a:ext cx="11856640" cy="590478"/>
          </a:xfrm>
        </p:spPr>
        <p:txBody>
          <a:bodyPr/>
          <a:lstStyle/>
          <a:p>
            <a:r>
              <a:rPr lang="en-US" sz="2800" dirty="0">
                <a:latin typeface="Arial Black" panose="020B0A04020102020204" pitchFamily="34" charset="0"/>
              </a:rPr>
              <a:t>Steady state measurement of OECT with GDH enzyme immobilized on channel</a:t>
            </a:r>
            <a:endParaRPr lang="aa-ET" sz="2800" b="1" dirty="0">
              <a:latin typeface="Arial Black" panose="020B0A040201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56" y="133057"/>
            <a:ext cx="2664183" cy="4328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344" y="3034979"/>
            <a:ext cx="5760640" cy="352839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060" y="3018025"/>
            <a:ext cx="5648636" cy="35623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35360" y="1934452"/>
            <a:ext cx="115212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/>
              <a:t>Vg- 0 V to 0.6 V </a:t>
            </a:r>
            <a:r>
              <a:rPr lang="en-US"/>
              <a:t>at a </a:t>
            </a:r>
            <a:r>
              <a:rPr lang="en-US" b="1"/>
              <a:t>scan rate of 0.01 V/s</a:t>
            </a:r>
            <a:r>
              <a:rPr lang="en-US"/>
              <a:t> and </a:t>
            </a:r>
            <a:r>
              <a:rPr lang="en-US" b="1"/>
              <a:t>Vd constant at –0.2 V </a:t>
            </a:r>
            <a:r>
              <a:rPr lang="en-US"/>
              <a:t>with </a:t>
            </a:r>
            <a:r>
              <a:rPr lang="en-US" b="1"/>
              <a:t>external overhanging Pt gate</a:t>
            </a:r>
            <a:r>
              <a:rPr lang="en-US"/>
              <a:t>.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919536" y="2761182"/>
            <a:ext cx="2304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Transfer characteristics</a:t>
            </a:r>
            <a:endParaRPr lang="en-GB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7063096" y="2713065"/>
            <a:ext cx="45401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Max </a:t>
            </a:r>
            <a:r>
              <a:rPr lang="en-GB" sz="1400" dirty="0" err="1"/>
              <a:t>t</a:t>
            </a:r>
            <a:r>
              <a:rPr lang="en-GB" sz="1400" dirty="0" err="1" smtClean="0"/>
              <a:t>ransconductance</a:t>
            </a:r>
            <a:r>
              <a:rPr lang="en-GB" sz="1400" dirty="0" smtClean="0"/>
              <a:t> vs glucose concentration</a:t>
            </a:r>
            <a:endParaRPr lang="en-GB" sz="1400" dirty="0"/>
          </a:p>
        </p:txBody>
      </p:sp>
      <p:sp>
        <p:nvSpPr>
          <p:cNvPr id="14" name="Rectangle 13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740217" y="6519446"/>
            <a:ext cx="4073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93609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2E7B70-0F40-F2D8-9655-FA48C35F0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855798"/>
            <a:ext cx="11856640" cy="590478"/>
          </a:xfrm>
        </p:spPr>
        <p:txBody>
          <a:bodyPr/>
          <a:lstStyle/>
          <a:p>
            <a:r>
              <a:rPr lang="en-US" sz="2800" dirty="0">
                <a:latin typeface="Arial Black" panose="020B0A04020102020204" pitchFamily="34" charset="0"/>
              </a:rPr>
              <a:t>Steady state measurement of OECT with GDH enzyme immobilized on channel</a:t>
            </a:r>
            <a:endParaRPr lang="aa-ET" sz="2800" b="1" dirty="0">
              <a:latin typeface="Arial Black" panose="020B0A040201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56" y="133057"/>
            <a:ext cx="2664183" cy="4328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60" y="2984561"/>
            <a:ext cx="5616623" cy="346514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3790" y="3010085"/>
            <a:ext cx="5590798" cy="343961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9415" y="2702308"/>
            <a:ext cx="4608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On/Off Ratio vs glucose concentration</a:t>
            </a:r>
            <a:endParaRPr lang="en-GB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6960096" y="2702308"/>
            <a:ext cx="4859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err="1" smtClean="0"/>
              <a:t>Avg</a:t>
            </a:r>
            <a:r>
              <a:rPr lang="en-GB" sz="1400" dirty="0" smtClean="0"/>
              <a:t> current modulation vs glucose concentration</a:t>
            </a:r>
            <a:endParaRPr lang="en-GB" sz="1400" dirty="0"/>
          </a:p>
        </p:txBody>
      </p:sp>
      <p:sp>
        <p:nvSpPr>
          <p:cNvPr id="13" name="Rectangle 12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712624" y="6518975"/>
            <a:ext cx="479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373512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2E7B70-0F40-F2D8-9655-FA48C35F0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855798"/>
            <a:ext cx="11856640" cy="590478"/>
          </a:xfrm>
        </p:spPr>
        <p:txBody>
          <a:bodyPr/>
          <a:lstStyle/>
          <a:p>
            <a:r>
              <a:rPr lang="en-US" sz="2800" dirty="0">
                <a:latin typeface="Arial Black" panose="020B0A04020102020204" pitchFamily="34" charset="0"/>
              </a:rPr>
              <a:t>Steady state measurement of OECT with </a:t>
            </a:r>
            <a:r>
              <a:rPr lang="en-US" sz="2800" dirty="0" err="1">
                <a:latin typeface="Arial Black" panose="020B0A04020102020204" pitchFamily="34" charset="0"/>
              </a:rPr>
              <a:t>GOx</a:t>
            </a:r>
            <a:r>
              <a:rPr lang="en-US" sz="2800" dirty="0">
                <a:latin typeface="Arial Black" panose="020B0A04020102020204" pitchFamily="34" charset="0"/>
              </a:rPr>
              <a:t> enzyme as floating electrolyte</a:t>
            </a:r>
            <a:endParaRPr lang="aa-ET" sz="2800" b="1" dirty="0">
              <a:latin typeface="Arial Black" panose="020B0A040201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56" y="133057"/>
            <a:ext cx="2664183" cy="43285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35360" y="1934452"/>
            <a:ext cx="115212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Vg- 0 V to 0.6 V </a:t>
            </a:r>
            <a:r>
              <a:rPr lang="en-US" dirty="0"/>
              <a:t>at a </a:t>
            </a:r>
            <a:r>
              <a:rPr lang="en-US" b="1" dirty="0"/>
              <a:t>scan rate of 0.01 V/s</a:t>
            </a:r>
            <a:r>
              <a:rPr lang="en-US" dirty="0"/>
              <a:t> and </a:t>
            </a:r>
            <a:r>
              <a:rPr lang="en-US" b="1" dirty="0" err="1"/>
              <a:t>Vd</a:t>
            </a:r>
            <a:r>
              <a:rPr lang="en-US" b="1" dirty="0"/>
              <a:t> constant at –0.2 V </a:t>
            </a:r>
            <a:r>
              <a:rPr lang="en-US" dirty="0"/>
              <a:t>with </a:t>
            </a:r>
            <a:r>
              <a:rPr lang="en-US" b="1" dirty="0"/>
              <a:t>external overhanging Pt gate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36" y="3098799"/>
            <a:ext cx="5760640" cy="343530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3432" y="2915070"/>
            <a:ext cx="48965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Transfer characteristics</a:t>
            </a:r>
            <a:endParaRPr lang="en-GB" sz="1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4959" y="3098799"/>
            <a:ext cx="5757592" cy="35162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94148" y="2896527"/>
            <a:ext cx="45401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Max </a:t>
            </a:r>
            <a:r>
              <a:rPr lang="en-GB" sz="1400" dirty="0" err="1"/>
              <a:t>t</a:t>
            </a:r>
            <a:r>
              <a:rPr lang="en-GB" sz="1400" dirty="0" err="1" smtClean="0"/>
              <a:t>ransconductance</a:t>
            </a:r>
            <a:r>
              <a:rPr lang="en-GB" sz="1400" dirty="0" smtClean="0"/>
              <a:t> vs glucose concentration</a:t>
            </a:r>
            <a:endParaRPr lang="en-GB" sz="1400" dirty="0"/>
          </a:p>
        </p:txBody>
      </p:sp>
      <p:sp>
        <p:nvSpPr>
          <p:cNvPr id="14" name="Rectangle 13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725674" y="6500845"/>
            <a:ext cx="4663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82513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2E7B70-0F40-F2D8-9655-FA48C35F0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855798"/>
            <a:ext cx="11856640" cy="590478"/>
          </a:xfrm>
        </p:spPr>
        <p:txBody>
          <a:bodyPr/>
          <a:lstStyle/>
          <a:p>
            <a:r>
              <a:rPr lang="en-US" sz="2800" dirty="0">
                <a:latin typeface="Arial Black" panose="020B0A04020102020204" pitchFamily="34" charset="0"/>
              </a:rPr>
              <a:t>Steady state measurement of OECT with </a:t>
            </a:r>
            <a:r>
              <a:rPr lang="en-US" sz="2800" dirty="0" err="1">
                <a:latin typeface="Arial Black" panose="020B0A04020102020204" pitchFamily="34" charset="0"/>
              </a:rPr>
              <a:t>GOx</a:t>
            </a:r>
            <a:r>
              <a:rPr lang="en-US" sz="2800" dirty="0">
                <a:latin typeface="Arial Black" panose="020B0A04020102020204" pitchFamily="34" charset="0"/>
              </a:rPr>
              <a:t> enzyme as floating electrolyte</a:t>
            </a:r>
            <a:endParaRPr lang="aa-ET" sz="2800" b="1" dirty="0">
              <a:latin typeface="Arial Black" panose="020B0A040201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56" y="133057"/>
            <a:ext cx="2664183" cy="4328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760" y="2672213"/>
            <a:ext cx="4608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On/Off Ratio vs glucose concentration</a:t>
            </a:r>
            <a:endParaRPr lang="en-GB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6744072" y="2672213"/>
            <a:ext cx="4859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err="1" smtClean="0"/>
              <a:t>Avg</a:t>
            </a:r>
            <a:r>
              <a:rPr lang="en-GB" sz="1400" dirty="0" smtClean="0"/>
              <a:t> current modulation vs glucose concentration</a:t>
            </a:r>
            <a:endParaRPr lang="en-GB"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05" y="2992747"/>
            <a:ext cx="5363822" cy="358726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8184" y="2979990"/>
            <a:ext cx="5976666" cy="343249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22500" y="6550983"/>
            <a:ext cx="5004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64016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2E7B70-0F40-F2D8-9655-FA48C35F0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855798"/>
            <a:ext cx="11856640" cy="590478"/>
          </a:xfrm>
        </p:spPr>
        <p:txBody>
          <a:bodyPr/>
          <a:lstStyle/>
          <a:p>
            <a:r>
              <a:rPr lang="en-US" sz="2800" dirty="0">
                <a:latin typeface="Arial Black" panose="020B0A04020102020204" pitchFamily="34" charset="0"/>
              </a:rPr>
              <a:t>Steady state measurement of OECT with </a:t>
            </a:r>
            <a:r>
              <a:rPr lang="en-US" sz="2800" dirty="0" smtClean="0">
                <a:latin typeface="Arial Black" panose="020B0A04020102020204" pitchFamily="34" charset="0"/>
              </a:rPr>
              <a:t>GDH </a:t>
            </a:r>
            <a:r>
              <a:rPr lang="en-US" sz="2800" dirty="0">
                <a:latin typeface="Arial Black" panose="020B0A04020102020204" pitchFamily="34" charset="0"/>
              </a:rPr>
              <a:t>enzyme as floating electrolyte</a:t>
            </a:r>
            <a:endParaRPr lang="aa-ET" sz="2800" b="1" dirty="0">
              <a:latin typeface="Arial Black" panose="020B0A040201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56" y="133057"/>
            <a:ext cx="2664183" cy="43285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35360" y="1934452"/>
            <a:ext cx="115212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Vg- 0 V to 0.6 V </a:t>
            </a:r>
            <a:r>
              <a:rPr lang="en-US" dirty="0"/>
              <a:t>at a </a:t>
            </a:r>
            <a:r>
              <a:rPr lang="en-US" b="1" dirty="0"/>
              <a:t>scan rate of 0.01 V/s</a:t>
            </a:r>
            <a:r>
              <a:rPr lang="en-US" dirty="0"/>
              <a:t> and </a:t>
            </a:r>
            <a:r>
              <a:rPr lang="en-US" b="1" dirty="0" err="1"/>
              <a:t>Vd</a:t>
            </a:r>
            <a:r>
              <a:rPr lang="en-US" b="1" dirty="0"/>
              <a:t> constant at –0.2 V </a:t>
            </a:r>
            <a:r>
              <a:rPr lang="en-US" dirty="0"/>
              <a:t>with </a:t>
            </a:r>
            <a:r>
              <a:rPr lang="en-US" b="1" dirty="0"/>
              <a:t>external overhanging Pt gate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76" y="3084338"/>
            <a:ext cx="5760640" cy="33689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27448" y="3050415"/>
            <a:ext cx="48965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Transfer characteristics</a:t>
            </a:r>
            <a:endParaRPr lang="en-GB" sz="1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6040" y="3204303"/>
            <a:ext cx="5227600" cy="343113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7912" y="3047609"/>
            <a:ext cx="45401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Max </a:t>
            </a:r>
            <a:r>
              <a:rPr lang="en-GB" sz="1400" dirty="0" err="1"/>
              <a:t>t</a:t>
            </a:r>
            <a:r>
              <a:rPr lang="en-GB" sz="1400" dirty="0" err="1" smtClean="0"/>
              <a:t>ransconductance</a:t>
            </a:r>
            <a:r>
              <a:rPr lang="en-GB" sz="1400" dirty="0" smtClean="0"/>
              <a:t> vs glucose concentration</a:t>
            </a:r>
            <a:endParaRPr lang="en-GB" sz="1400" dirty="0"/>
          </a:p>
        </p:txBody>
      </p:sp>
      <p:sp>
        <p:nvSpPr>
          <p:cNvPr id="14" name="Rectangle 13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856640" y="6549426"/>
            <a:ext cx="504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21216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2E7B70-0F40-F2D8-9655-FA48C35F0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855798"/>
            <a:ext cx="11856640" cy="590478"/>
          </a:xfrm>
        </p:spPr>
        <p:txBody>
          <a:bodyPr/>
          <a:lstStyle/>
          <a:p>
            <a:r>
              <a:rPr lang="en-US" sz="2800" dirty="0">
                <a:latin typeface="Arial Black" panose="020B0A04020102020204" pitchFamily="34" charset="0"/>
              </a:rPr>
              <a:t>Steady state measurement of OECT with </a:t>
            </a:r>
            <a:r>
              <a:rPr lang="en-US" sz="2800" dirty="0" smtClean="0">
                <a:latin typeface="Arial Black" panose="020B0A04020102020204" pitchFamily="34" charset="0"/>
              </a:rPr>
              <a:t>GDH </a:t>
            </a:r>
            <a:r>
              <a:rPr lang="en-US" sz="2800" dirty="0">
                <a:latin typeface="Arial Black" panose="020B0A04020102020204" pitchFamily="34" charset="0"/>
              </a:rPr>
              <a:t>enzyme as floating electrolyte</a:t>
            </a:r>
            <a:endParaRPr lang="aa-ET" sz="2800" b="1" dirty="0">
              <a:latin typeface="Arial Black" panose="020B0A040201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56" y="133057"/>
            <a:ext cx="2664183" cy="43285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44072" y="2672213"/>
            <a:ext cx="4859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err="1" smtClean="0"/>
              <a:t>Avg</a:t>
            </a:r>
            <a:r>
              <a:rPr lang="en-GB" sz="1400" dirty="0" smtClean="0"/>
              <a:t> current modulation vs glucose concentration</a:t>
            </a:r>
            <a:endParaRPr lang="en-GB" sz="1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59" y="2979990"/>
            <a:ext cx="5680161" cy="361736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6728" y="2723170"/>
            <a:ext cx="4608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On/Off Ratio vs glucose concentration</a:t>
            </a:r>
            <a:endParaRPr lang="en-GB" sz="1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2152" y="2979990"/>
            <a:ext cx="6050464" cy="347334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775108" y="6497239"/>
            <a:ext cx="435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87778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2E7B70-0F40-F2D8-9655-FA48C35F0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12" y="932823"/>
            <a:ext cx="11689652" cy="590478"/>
          </a:xfrm>
        </p:spPr>
        <p:txBody>
          <a:bodyPr/>
          <a:lstStyle/>
          <a:p>
            <a:r>
              <a:rPr lang="en-US" sz="2800" dirty="0">
                <a:latin typeface="Arial Black" panose="020B0A04020102020204" pitchFamily="34" charset="0"/>
              </a:rPr>
              <a:t>Real time measurement of OECT with </a:t>
            </a:r>
            <a:r>
              <a:rPr lang="en-US" sz="2800" dirty="0" err="1">
                <a:latin typeface="Arial Black" panose="020B0A04020102020204" pitchFamily="34" charset="0"/>
              </a:rPr>
              <a:t>GOx</a:t>
            </a:r>
            <a:r>
              <a:rPr lang="en-US" sz="2800" dirty="0">
                <a:latin typeface="Arial Black" panose="020B0A04020102020204" pitchFamily="34" charset="0"/>
              </a:rPr>
              <a:t> enzyme as floating electrolyte</a:t>
            </a:r>
            <a:endParaRPr lang="aa-ET" sz="2800" b="1" dirty="0">
              <a:latin typeface="Arial Black" panose="020B0A040201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56" y="143417"/>
            <a:ext cx="2664183" cy="4328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689" y="3284984"/>
            <a:ext cx="5466949" cy="33362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838" y="3204186"/>
            <a:ext cx="5196754" cy="34978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67608" y="3131095"/>
            <a:ext cx="10005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 Id vs time</a:t>
            </a:r>
            <a:endParaRPr lang="en-GB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7549391" y="3050297"/>
            <a:ext cx="25536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 </a:t>
            </a:r>
            <a:r>
              <a:rPr lang="el-GR" sz="1400" dirty="0"/>
              <a:t>Δ</a:t>
            </a:r>
            <a:r>
              <a:rPr lang="en-GB" sz="1400" dirty="0" smtClean="0"/>
              <a:t>Id vs Glucose concentration</a:t>
            </a:r>
            <a:endParaRPr lang="en-GB" sz="1400" dirty="0"/>
          </a:p>
        </p:txBody>
      </p:sp>
      <p:sp>
        <p:nvSpPr>
          <p:cNvPr id="10" name="Rectangle 9"/>
          <p:cNvSpPr/>
          <p:nvPr/>
        </p:nvSpPr>
        <p:spPr>
          <a:xfrm>
            <a:off x="383012" y="1840751"/>
            <a:ext cx="106095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Measurement setup: </a:t>
            </a:r>
            <a:r>
              <a:rPr lang="en-GB" b="1" dirty="0"/>
              <a:t>Drain voltage fixed at </a:t>
            </a:r>
            <a:r>
              <a:rPr lang="en-GB" b="1" dirty="0" err="1"/>
              <a:t>Vd</a:t>
            </a:r>
            <a:r>
              <a:rPr lang="en-GB" b="1" dirty="0"/>
              <a:t> = –0.2 V </a:t>
            </a:r>
            <a:r>
              <a:rPr lang="en-GB" dirty="0"/>
              <a:t>and </a:t>
            </a:r>
            <a:r>
              <a:rPr lang="en-GB" b="1" dirty="0"/>
              <a:t>gate voltage held at Vg = 0.6 </a:t>
            </a:r>
            <a:r>
              <a:rPr lang="en-GB" b="1" dirty="0" smtClean="0"/>
              <a:t>V </a:t>
            </a:r>
            <a:r>
              <a:rPr lang="en-GB" dirty="0" smtClean="0"/>
              <a:t>with external</a:t>
            </a:r>
            <a:r>
              <a:rPr lang="en-GB" b="1" dirty="0" smtClean="0"/>
              <a:t> overhanging Pt gate</a:t>
            </a:r>
            <a:r>
              <a:rPr lang="en-GB" dirty="0" smtClean="0"/>
              <a:t>.</a:t>
            </a: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808296" y="6532801"/>
            <a:ext cx="767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166421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2E7B70-0F40-F2D8-9655-FA48C35F0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12" y="932823"/>
            <a:ext cx="11689652" cy="590478"/>
          </a:xfrm>
        </p:spPr>
        <p:txBody>
          <a:bodyPr/>
          <a:lstStyle/>
          <a:p>
            <a:r>
              <a:rPr lang="en-US" sz="2800" dirty="0">
                <a:latin typeface="Arial Black" panose="020B0A04020102020204" pitchFamily="34" charset="0"/>
              </a:rPr>
              <a:t>Real time measurement of OECT with </a:t>
            </a:r>
            <a:r>
              <a:rPr lang="en-US" sz="2800" dirty="0" smtClean="0">
                <a:latin typeface="Arial Black" panose="020B0A04020102020204" pitchFamily="34" charset="0"/>
              </a:rPr>
              <a:t>GDH </a:t>
            </a:r>
            <a:r>
              <a:rPr lang="en-US" sz="2800" dirty="0">
                <a:latin typeface="Arial Black" panose="020B0A04020102020204" pitchFamily="34" charset="0"/>
              </a:rPr>
              <a:t>enzyme as floating electrolyte</a:t>
            </a:r>
            <a:endParaRPr lang="aa-ET" sz="2800" b="1" dirty="0">
              <a:latin typeface="Arial Black" panose="020B0A040201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56" y="143417"/>
            <a:ext cx="2664183" cy="4328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53" y="3356992"/>
            <a:ext cx="5645385" cy="327207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644" y="3355179"/>
            <a:ext cx="5072312" cy="33621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87976" y="3201290"/>
            <a:ext cx="25536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 </a:t>
            </a:r>
            <a:r>
              <a:rPr lang="el-GR" sz="1400" dirty="0"/>
              <a:t>Δ</a:t>
            </a:r>
            <a:r>
              <a:rPr lang="en-GB" sz="1400" dirty="0" smtClean="0"/>
              <a:t>Id vs Glucose concentration</a:t>
            </a:r>
            <a:endParaRPr lang="en-GB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2711624" y="3201290"/>
            <a:ext cx="10005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 Id vs time</a:t>
            </a:r>
            <a:endParaRPr lang="en-GB" sz="1400" dirty="0"/>
          </a:p>
        </p:txBody>
      </p:sp>
      <p:sp>
        <p:nvSpPr>
          <p:cNvPr id="9" name="Rectangle 8"/>
          <p:cNvSpPr/>
          <p:nvPr/>
        </p:nvSpPr>
        <p:spPr>
          <a:xfrm>
            <a:off x="383012" y="1840751"/>
            <a:ext cx="106095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Measurement setup: </a:t>
            </a:r>
            <a:r>
              <a:rPr lang="en-GB" b="1" dirty="0"/>
              <a:t>Drain voltage fixed at </a:t>
            </a:r>
            <a:r>
              <a:rPr lang="en-GB" b="1" dirty="0" err="1"/>
              <a:t>Vd</a:t>
            </a:r>
            <a:r>
              <a:rPr lang="en-GB" b="1" dirty="0"/>
              <a:t> = –0.2 V </a:t>
            </a:r>
            <a:r>
              <a:rPr lang="en-GB" dirty="0"/>
              <a:t>and </a:t>
            </a:r>
            <a:r>
              <a:rPr lang="en-GB" b="1" dirty="0"/>
              <a:t>gate voltage held at Vg = 0.6 </a:t>
            </a:r>
            <a:r>
              <a:rPr lang="en-GB" b="1" dirty="0" smtClean="0"/>
              <a:t>V </a:t>
            </a:r>
            <a:r>
              <a:rPr lang="en-GB" dirty="0" smtClean="0"/>
              <a:t>with external</a:t>
            </a:r>
            <a:r>
              <a:rPr lang="en-GB" b="1" dirty="0" smtClean="0"/>
              <a:t> overhanging Pt gate</a:t>
            </a:r>
            <a:r>
              <a:rPr lang="en-GB" dirty="0" smtClean="0"/>
              <a:t>.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784632" y="6548040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616481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12912" y="1125929"/>
            <a:ext cx="10515600" cy="666480"/>
          </a:xfrm>
        </p:spPr>
        <p:txBody>
          <a:bodyPr>
            <a:normAutofit/>
          </a:bodyPr>
          <a:lstStyle/>
          <a:p>
            <a:r>
              <a:rPr lang="en-GB" sz="2800" dirty="0" smtClean="0">
                <a:latin typeface="Arial Black" panose="020B0A04020102020204" pitchFamily="34" charset="0"/>
              </a:rPr>
              <a:t>Conclusion</a:t>
            </a:r>
            <a:endParaRPr lang="en-GB" sz="2800" dirty="0"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12024" y="260648"/>
            <a:ext cx="3096344" cy="5040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endParaRPr lang="en-GB" sz="16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11712624" y="6453336"/>
            <a:ext cx="479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19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35360" y="1570195"/>
            <a:ext cx="1144927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control,</a:t>
            </a:r>
            <a:r>
              <a:rPr kumimoji="0" lang="en-US" altLang="en-US" sz="1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800" b="1" dirty="0">
                <a:latin typeface="Arial" panose="020B0604020202020204" pitchFamily="34" charset="0"/>
              </a:rPr>
              <a:t>d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ual-layer PEDOT:PSS channels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mPEDOT:PSS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PH1000) showed higher stability and reproducibility than single-layer devices.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4724" y="2236675"/>
            <a:ext cx="113978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Arial" panose="020B0604020202020204" pitchFamily="34" charset="0"/>
              </a:rPr>
              <a:t>Floating-enzyme configuration</a:t>
            </a:r>
            <a:r>
              <a:rPr lang="en-US" altLang="en-US" dirty="0">
                <a:latin typeface="Arial" panose="020B0604020202020204" pitchFamily="34" charset="0"/>
              </a:rPr>
              <a:t> provided consistent signals, while </a:t>
            </a:r>
            <a:r>
              <a:rPr lang="en-US" altLang="en-US" b="1" dirty="0">
                <a:latin typeface="Arial" panose="020B0604020202020204" pitchFamily="34" charset="0"/>
              </a:rPr>
              <a:t>immobilized enzymes </a:t>
            </a:r>
            <a:r>
              <a:rPr lang="en-US" altLang="en-US" dirty="0">
                <a:latin typeface="Arial" panose="020B0604020202020204" pitchFamily="34" charset="0"/>
              </a:rPr>
              <a:t>tended to detach</a:t>
            </a:r>
            <a:r>
              <a:rPr lang="en-US" altLang="en-US" dirty="0" smtClean="0">
                <a:latin typeface="Arial" panose="020B0604020202020204" pitchFamily="34" charset="0"/>
              </a:rPr>
              <a:t>.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4724" y="2893318"/>
            <a:ext cx="111098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 err="1">
                <a:latin typeface="Arial" panose="020B0604020202020204" pitchFamily="34" charset="0"/>
              </a:rPr>
              <a:t>GOx</a:t>
            </a:r>
            <a:r>
              <a:rPr lang="en-US" altLang="en-US" b="1" dirty="0">
                <a:latin typeface="Arial" panose="020B0604020202020204" pitchFamily="34" charset="0"/>
              </a:rPr>
              <a:t>-based OECTs:</a:t>
            </a:r>
            <a:r>
              <a:rPr lang="en-US" altLang="en-US" dirty="0">
                <a:latin typeface="Arial" panose="020B0604020202020204" pitchFamily="34" charset="0"/>
              </a:rPr>
              <a:t> qualitative detection (1 µM–100 µM, steady-state) and linear response (10 µM–1 </a:t>
            </a:r>
            <a:r>
              <a:rPr lang="en-US" altLang="en-US" dirty="0" err="1">
                <a:latin typeface="Arial" panose="020B0604020202020204" pitchFamily="34" charset="0"/>
              </a:rPr>
              <a:t>mM</a:t>
            </a:r>
            <a:r>
              <a:rPr lang="en-US" altLang="en-US" dirty="0">
                <a:latin typeface="Arial" panose="020B0604020202020204" pitchFamily="34" charset="0"/>
              </a:rPr>
              <a:t>, real-time) — ideal for </a:t>
            </a:r>
            <a:r>
              <a:rPr lang="en-US" altLang="en-US" b="1" dirty="0">
                <a:latin typeface="Arial" panose="020B0604020202020204" pitchFamily="34" charset="0"/>
              </a:rPr>
              <a:t>saliva and sweat sensing</a:t>
            </a:r>
            <a:r>
              <a:rPr lang="en-US" altLang="en-US" dirty="0" smtClean="0">
                <a:latin typeface="Arial" panose="020B0604020202020204" pitchFamily="34" charset="0"/>
              </a:rPr>
              <a:t>.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6963" y="3628095"/>
            <a:ext cx="114734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Arial" panose="020B0604020202020204" pitchFamily="34" charset="0"/>
              </a:rPr>
              <a:t>GDH-based OECTs:</a:t>
            </a:r>
            <a:r>
              <a:rPr lang="en-US" altLang="en-US" dirty="0">
                <a:latin typeface="Arial" panose="020B0604020202020204" pitchFamily="34" charset="0"/>
              </a:rPr>
              <a:t> qualitative detection (100 </a:t>
            </a:r>
            <a:r>
              <a:rPr lang="en-US" altLang="en-US" dirty="0" err="1">
                <a:latin typeface="Arial" panose="020B0604020202020204" pitchFamily="34" charset="0"/>
              </a:rPr>
              <a:t>nM</a:t>
            </a:r>
            <a:r>
              <a:rPr lang="en-US" altLang="en-US" dirty="0">
                <a:latin typeface="Arial" panose="020B0604020202020204" pitchFamily="34" charset="0"/>
              </a:rPr>
              <a:t>–10 µM, steady-state) and linearity (10 µM–10 </a:t>
            </a:r>
            <a:r>
              <a:rPr lang="en-US" altLang="en-US" dirty="0" err="1">
                <a:latin typeface="Arial" panose="020B0604020202020204" pitchFamily="34" charset="0"/>
              </a:rPr>
              <a:t>mM</a:t>
            </a:r>
            <a:r>
              <a:rPr lang="en-US" altLang="en-US" dirty="0">
                <a:latin typeface="Arial" panose="020B0604020202020204" pitchFamily="34" charset="0"/>
              </a:rPr>
              <a:t>, real-time) — covering both </a:t>
            </a:r>
            <a:r>
              <a:rPr lang="en-US" altLang="en-US" b="1" dirty="0" err="1">
                <a:latin typeface="Arial" panose="020B0604020202020204" pitchFamily="34" charset="0"/>
              </a:rPr>
              <a:t>biofluid</a:t>
            </a:r>
            <a:r>
              <a:rPr lang="en-US" altLang="en-US" b="1" dirty="0">
                <a:latin typeface="Arial" panose="020B0604020202020204" pitchFamily="34" charset="0"/>
              </a:rPr>
              <a:t> and blood glucose levels</a:t>
            </a:r>
            <a:r>
              <a:rPr lang="en-US" altLang="en-US" dirty="0" smtClean="0">
                <a:latin typeface="Arial" panose="020B0604020202020204" pitchFamily="34" charset="0"/>
              </a:rPr>
              <a:t>.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35360" y="4415585"/>
            <a:ext cx="11586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 smtClean="0">
                <a:latin typeface="Arial" panose="020B0604020202020204" pitchFamily="34" charset="0"/>
              </a:rPr>
              <a:t>Enzyme </a:t>
            </a:r>
            <a:r>
              <a:rPr lang="en-US" altLang="en-US" b="1" dirty="0" smtClean="0">
                <a:latin typeface="Arial" panose="020B0604020202020204" pitchFamily="34" charset="0"/>
              </a:rPr>
              <a:t>type and configuration </a:t>
            </a:r>
            <a:r>
              <a:rPr lang="en-US" altLang="en-US" dirty="0" smtClean="0">
                <a:latin typeface="Arial" panose="020B0604020202020204" pitchFamily="34" charset="0"/>
              </a:rPr>
              <a:t>strongly </a:t>
            </a:r>
            <a:r>
              <a:rPr lang="en-US" altLang="en-US" dirty="0">
                <a:latin typeface="Arial" panose="020B0604020202020204" pitchFamily="34" charset="0"/>
              </a:rPr>
              <a:t>affect OECT glucose sensing performance and stability.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558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1" grpId="0"/>
      <p:bldP spid="12" grpId="0"/>
      <p:bldP spid="13" grpId="0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312024" y="260648"/>
            <a:ext cx="3096344" cy="5040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endParaRPr lang="en-GB" sz="16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11712624" y="6453336"/>
            <a:ext cx="479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19</a:t>
            </a:r>
          </a:p>
        </p:txBody>
      </p: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376532" y="1433316"/>
            <a:ext cx="92544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gate voltage from 0.6 V to 0.3 V for </a:t>
            </a:r>
            <a:r>
              <a:rPr lang="en-US" altLang="en-US" dirty="0" smtClean="0">
                <a:latin typeface="Arial" panose="020B0604020202020204" pitchFamily="34" charset="0"/>
              </a:rPr>
              <a:t>reaching saturation faster in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signals.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9116" y="1785486"/>
            <a:ext cx="9135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Immobilize enzyme on the gate electrode to improve stability and sensitivity.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2536" y="846538"/>
            <a:ext cx="7599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Arial Black" panose="020B0A04020102020204" pitchFamily="34" charset="0"/>
              </a:rPr>
              <a:t>Future Perspectives</a:t>
            </a:r>
          </a:p>
        </p:txBody>
      </p:sp>
    </p:spTree>
    <p:extLst>
      <p:ext uri="{BB962C8B-B14F-4D97-AF65-F5344CB8AC3E}">
        <p14:creationId xmlns:p14="http://schemas.microsoft.com/office/powerpoint/2010/main" val="25928340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8200" y="1024208"/>
            <a:ext cx="10515600" cy="666480"/>
          </a:xfrm>
        </p:spPr>
        <p:txBody>
          <a:bodyPr>
            <a:normAutofit/>
          </a:bodyPr>
          <a:lstStyle/>
          <a:p>
            <a:r>
              <a:rPr lang="en-GB" sz="2800" b="1" dirty="0" smtClean="0">
                <a:latin typeface="Arial Black" panose="020B0A04020102020204" pitchFamily="34" charset="0"/>
              </a:rPr>
              <a:t>Questions?</a:t>
            </a:r>
            <a:endParaRPr lang="en-GB" sz="2800" b="1" dirty="0"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12024" y="260648"/>
            <a:ext cx="3096344" cy="5040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endParaRPr lang="en-GB" sz="1600" dirty="0" smtClean="0"/>
          </a:p>
        </p:txBody>
      </p:sp>
      <p:pic>
        <p:nvPicPr>
          <p:cNvPr id="2050" name="Picture 2" descr="Question Mark Person Vector Art, Icons, and Graphics for 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528" y="1988840"/>
            <a:ext cx="3767491" cy="3684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1712624" y="6453336"/>
            <a:ext cx="479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577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6800"/>
          <a:stretch/>
        </p:blipFill>
        <p:spPr>
          <a:xfrm>
            <a:off x="1271464" y="1340768"/>
            <a:ext cx="9865096" cy="45018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034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0958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b="1" dirty="0" smtClean="0">
                <a:latin typeface="Arial Black" panose="020B0A04020102020204" pitchFamily="34" charset="0"/>
              </a:rPr>
              <a:t>References</a:t>
            </a:r>
            <a:endParaRPr lang="en-GB" sz="2800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[1]</a:t>
            </a:r>
            <a:r>
              <a:rPr lang="en-GB" dirty="0"/>
              <a:t> S. </a:t>
            </a:r>
            <a:r>
              <a:rPr lang="en-GB" dirty="0" err="1"/>
              <a:t>Ferri</a:t>
            </a:r>
            <a:r>
              <a:rPr lang="en-GB" dirty="0"/>
              <a:t>, K. Kojima, and K. </a:t>
            </a:r>
            <a:r>
              <a:rPr lang="en-GB" dirty="0" err="1"/>
              <a:t>Sode</a:t>
            </a:r>
            <a:r>
              <a:rPr lang="en-GB" b="1" dirty="0"/>
              <a:t>, “Review of glucose oxidases and glucose dehydrogenases: a bird's eye view of glucose sensing enzymes,”</a:t>
            </a:r>
            <a:r>
              <a:rPr lang="en-GB" dirty="0"/>
              <a:t> </a:t>
            </a:r>
            <a:r>
              <a:rPr lang="en-GB" i="1" dirty="0"/>
              <a:t>J. Diabetes Sci. Technol.</a:t>
            </a:r>
            <a:r>
              <a:rPr lang="en-GB" dirty="0"/>
              <a:t>, vol. 5, no. 5, pp. 1068–1076, 2011, </a:t>
            </a:r>
            <a:r>
              <a:rPr lang="en-GB" dirty="0" err="1"/>
              <a:t>doi</a:t>
            </a:r>
            <a:r>
              <a:rPr lang="en-GB" dirty="0"/>
              <a:t>: 10.1177/193229681100500507</a:t>
            </a:r>
            <a:r>
              <a:rPr lang="en-GB" dirty="0" smtClean="0"/>
              <a:t>.</a:t>
            </a:r>
          </a:p>
          <a:p>
            <a:r>
              <a:rPr lang="en-GB" b="1" dirty="0"/>
              <a:t>[2]</a:t>
            </a:r>
            <a:r>
              <a:rPr lang="en-GB" dirty="0"/>
              <a:t> E. M. </a:t>
            </a:r>
            <a:r>
              <a:rPr lang="en-GB" dirty="0" err="1"/>
              <a:t>Thaning</a:t>
            </a:r>
            <a:r>
              <a:rPr lang="en-GB" dirty="0"/>
              <a:t>, M. L. M. </a:t>
            </a:r>
            <a:r>
              <a:rPr lang="en-GB" dirty="0" err="1"/>
              <a:t>Asplund</a:t>
            </a:r>
            <a:r>
              <a:rPr lang="en-GB" dirty="0"/>
              <a:t>, T. A. Nyberg, O. W. </a:t>
            </a:r>
            <a:r>
              <a:rPr lang="en-GB" dirty="0" err="1"/>
              <a:t>Inganäs</a:t>
            </a:r>
            <a:r>
              <a:rPr lang="en-GB" dirty="0"/>
              <a:t>, and H. von Holst</a:t>
            </a:r>
            <a:r>
              <a:rPr lang="en-GB" b="1" dirty="0"/>
              <a:t>, “Stability of poly(3,4-ethylene </a:t>
            </a:r>
            <a:r>
              <a:rPr lang="en-GB" b="1" dirty="0" err="1"/>
              <a:t>dioxythiophene</a:t>
            </a:r>
            <a:r>
              <a:rPr lang="en-GB" b="1" dirty="0"/>
              <a:t>) materials intended for implants,” </a:t>
            </a:r>
            <a:r>
              <a:rPr lang="en-GB" i="1" dirty="0"/>
              <a:t>J. Biomed. Mater. Res. Part B Appl. </a:t>
            </a:r>
            <a:r>
              <a:rPr lang="en-GB" i="1" dirty="0" err="1"/>
              <a:t>Biomater</a:t>
            </a:r>
            <a:r>
              <a:rPr lang="en-GB" i="1" dirty="0"/>
              <a:t>.</a:t>
            </a:r>
            <a:r>
              <a:rPr lang="en-GB" dirty="0"/>
              <a:t>, vol. 94B, no. 1, pp. 254–262, 2010</a:t>
            </a:r>
            <a:r>
              <a:rPr lang="en-GB" dirty="0" smtClean="0"/>
              <a:t>, </a:t>
            </a:r>
            <a:r>
              <a:rPr lang="en-GB" dirty="0" err="1"/>
              <a:t>doi</a:t>
            </a:r>
            <a:r>
              <a:rPr lang="en-GB" dirty="0"/>
              <a:t>: 10.1002/jbm.b.31597</a:t>
            </a:r>
            <a:r>
              <a:rPr lang="en-GB" dirty="0" smtClean="0"/>
              <a:t>.</a:t>
            </a:r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b="1" dirty="0"/>
              <a:t>[3]</a:t>
            </a:r>
            <a:r>
              <a:rPr lang="en-GB" dirty="0"/>
              <a:t> C. O. </a:t>
            </a:r>
            <a:r>
              <a:rPr lang="en-GB" dirty="0" err="1"/>
              <a:t>Malikkides</a:t>
            </a:r>
            <a:r>
              <a:rPr lang="en-GB" dirty="0"/>
              <a:t> and R. H. Weiland, </a:t>
            </a:r>
            <a:r>
              <a:rPr lang="en-GB" b="1" dirty="0"/>
              <a:t>“On the mechanism of immobilized glucose oxidase deactivation by hydrogen peroxide,”</a:t>
            </a:r>
            <a:r>
              <a:rPr lang="en-GB" dirty="0"/>
              <a:t> </a:t>
            </a:r>
            <a:r>
              <a:rPr lang="en-GB" i="1" dirty="0" err="1"/>
              <a:t>Biotechnol</a:t>
            </a:r>
            <a:r>
              <a:rPr lang="en-GB" i="1" dirty="0"/>
              <a:t>. </a:t>
            </a:r>
            <a:r>
              <a:rPr lang="en-GB" i="1" dirty="0" err="1"/>
              <a:t>Bioeng</a:t>
            </a:r>
            <a:r>
              <a:rPr lang="en-GB" i="1" dirty="0"/>
              <a:t>.</a:t>
            </a:r>
            <a:r>
              <a:rPr lang="en-GB" dirty="0"/>
              <a:t>, vol. 74, no. 1, pp. 109–116, 2001, </a:t>
            </a:r>
            <a:r>
              <a:rPr lang="en-GB" dirty="0" err="1"/>
              <a:t>doi</a:t>
            </a:r>
            <a:r>
              <a:rPr lang="en-GB" dirty="0"/>
              <a:t>: 10.1002/bit.260241109.</a:t>
            </a:r>
          </a:p>
        </p:txBody>
      </p:sp>
      <p:pic>
        <p:nvPicPr>
          <p:cNvPr id="5" name="Content Placeholder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gray">
          <a:xfrm>
            <a:off x="4799856" y="4653136"/>
            <a:ext cx="3191320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924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2027238" y="3160554"/>
          <a:ext cx="9145588" cy="2468880"/>
        </p:xfrm>
        <a:graphic>
          <a:graphicData uri="http://schemas.openxmlformats.org/drawingml/2006/table">
            <a:tbl>
              <a:tblPr/>
              <a:tblGrid>
                <a:gridCol w="2286397"/>
                <a:gridCol w="2286397"/>
                <a:gridCol w="2286397"/>
                <a:gridCol w="2286397"/>
              </a:tblGrid>
              <a:tr h="640080">
                <a:tc>
                  <a:txBody>
                    <a:bodyPr/>
                    <a:lstStyle/>
                    <a:p>
                      <a:r>
                        <a:rPr lang="en-GB" sz="1800"/>
                        <a:t>Quantity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Low glucose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Medium glucose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High glucose (saturation)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GB" sz="1800"/>
                        <a:t>I_ON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Decreasing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Constant (saturated)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GB" sz="1800"/>
                        <a:t>I_OFF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Decreasing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Constant (saturated)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GB" sz="1800"/>
                        <a:t>Transconductance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Decreasing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Plateau / minimum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GB" sz="1800"/>
                        <a:t>On–off ratio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Increasing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Saturated / plateau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GB" sz="1800"/>
                        <a:t>Current modulation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Increasing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Saturated / plateau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3404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51384" y="938501"/>
            <a:ext cx="10515600" cy="666480"/>
          </a:xfrm>
        </p:spPr>
        <p:txBody>
          <a:bodyPr>
            <a:normAutofit/>
          </a:bodyPr>
          <a:lstStyle/>
          <a:p>
            <a:r>
              <a:rPr lang="en-GB" sz="2800" b="1" dirty="0" smtClean="0">
                <a:latin typeface="Arial Black" panose="020B0A04020102020204" pitchFamily="34" charset="0"/>
              </a:rPr>
              <a:t>Appendix</a:t>
            </a:r>
            <a:endParaRPr lang="en-GB" sz="2800" b="1" dirty="0"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12024" y="260648"/>
            <a:ext cx="3096344" cy="5040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endParaRPr lang="en-GB" sz="16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11712624" y="6453336"/>
            <a:ext cx="479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2708920"/>
            <a:ext cx="5622416" cy="3744416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016" y="2741712"/>
            <a:ext cx="5335600" cy="371162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1D2E7B70-0F40-F2D8-9655-FA48C35F080A}"/>
              </a:ext>
            </a:extLst>
          </p:cNvPr>
          <p:cNvSpPr txBox="1">
            <a:spLocks/>
          </p:cNvSpPr>
          <p:nvPr/>
        </p:nvSpPr>
        <p:spPr bwMode="gray">
          <a:xfrm>
            <a:off x="551384" y="1862294"/>
            <a:ext cx="11856640" cy="5904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50" baseline="0">
                <a:solidFill>
                  <a:schemeClr val="tx1"/>
                </a:solidFill>
                <a:latin typeface="Sharp Sans Semibold" pitchFamily="2" charset="0"/>
                <a:ea typeface="Sharp Sans Semibold" pitchFamily="2" charset="0"/>
                <a:cs typeface="Sharp Sans Semibold" pitchFamily="2" charset="0"/>
              </a:defRPr>
            </a:lvl1pPr>
          </a:lstStyle>
          <a:p>
            <a:r>
              <a:rPr lang="en-US" sz="2000" dirty="0" smtClean="0">
                <a:latin typeface="Arial Black" panose="020B0A04020102020204" pitchFamily="34" charset="0"/>
              </a:rPr>
              <a:t>1.Steady state measurement of OECT with GDH enzyme immobilized on channel</a:t>
            </a:r>
            <a:endParaRPr lang="aa-ET" sz="2000" b="1" dirty="0">
              <a:latin typeface="Arial Black" panose="020B0A040201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78516" y="2413355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OECT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8832" y="2445325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OECT 3</a:t>
            </a:r>
          </a:p>
        </p:txBody>
      </p:sp>
    </p:spTree>
    <p:extLst>
      <p:ext uri="{BB962C8B-B14F-4D97-AF65-F5344CB8AC3E}">
        <p14:creationId xmlns:p14="http://schemas.microsoft.com/office/powerpoint/2010/main" val="1170552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51384" y="938501"/>
            <a:ext cx="10515600" cy="666480"/>
          </a:xfrm>
        </p:spPr>
        <p:txBody>
          <a:bodyPr>
            <a:normAutofit/>
          </a:bodyPr>
          <a:lstStyle/>
          <a:p>
            <a:r>
              <a:rPr lang="en-GB" sz="2800" b="1" dirty="0" smtClean="0">
                <a:latin typeface="Arial Black" panose="020B0A04020102020204" pitchFamily="34" charset="0"/>
              </a:rPr>
              <a:t>Appendix</a:t>
            </a:r>
            <a:endParaRPr lang="en-GB" sz="2800" b="1" dirty="0"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12024" y="260648"/>
            <a:ext cx="3096344" cy="5040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endParaRPr lang="en-GB" sz="1600" dirty="0" smtClean="0"/>
          </a:p>
        </p:txBody>
      </p:sp>
      <p:sp>
        <p:nvSpPr>
          <p:cNvPr id="10" name="Rectangle 9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1D2E7B70-0F40-F2D8-9655-FA48C35F080A}"/>
              </a:ext>
            </a:extLst>
          </p:cNvPr>
          <p:cNvSpPr txBox="1">
            <a:spLocks/>
          </p:cNvSpPr>
          <p:nvPr/>
        </p:nvSpPr>
        <p:spPr bwMode="gray">
          <a:xfrm>
            <a:off x="551384" y="1546788"/>
            <a:ext cx="11856640" cy="5904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50" baseline="0">
                <a:solidFill>
                  <a:schemeClr val="tx1"/>
                </a:solidFill>
                <a:latin typeface="Sharp Sans Semibold" pitchFamily="2" charset="0"/>
                <a:ea typeface="Sharp Sans Semibold" pitchFamily="2" charset="0"/>
                <a:cs typeface="Sharp Sans Semibold" pitchFamily="2" charset="0"/>
              </a:defRPr>
            </a:lvl1pPr>
          </a:lstStyle>
          <a:p>
            <a:endParaRPr lang="aa-ET" sz="2000" b="1" dirty="0">
              <a:latin typeface="Arial Black" panose="020B0A040201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xmlns="" id="{1D2E7B70-0F40-F2D8-9655-FA48C35F080A}"/>
              </a:ext>
            </a:extLst>
          </p:cNvPr>
          <p:cNvSpPr txBox="1">
            <a:spLocks/>
          </p:cNvSpPr>
          <p:nvPr/>
        </p:nvSpPr>
        <p:spPr bwMode="gray">
          <a:xfrm>
            <a:off x="551384" y="1700379"/>
            <a:ext cx="11856640" cy="5904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50" baseline="0">
                <a:solidFill>
                  <a:schemeClr val="tx1"/>
                </a:solidFill>
                <a:latin typeface="Sharp Sans Semibold" pitchFamily="2" charset="0"/>
                <a:ea typeface="Sharp Sans Semibold" pitchFamily="2" charset="0"/>
                <a:cs typeface="Sharp Sans Semibold" pitchFamily="2" charset="0"/>
              </a:defRPr>
            </a:lvl1pPr>
          </a:lstStyle>
          <a:p>
            <a:r>
              <a:rPr lang="en-US" sz="2000" dirty="0" smtClean="0">
                <a:latin typeface="Arial Black" panose="020B0A04020102020204" pitchFamily="34" charset="0"/>
              </a:rPr>
              <a:t>2.Steady state measurement of OECT with </a:t>
            </a:r>
            <a:r>
              <a:rPr lang="en-US" sz="2000" dirty="0" err="1" smtClean="0">
                <a:latin typeface="Arial Black" panose="020B0A04020102020204" pitchFamily="34" charset="0"/>
              </a:rPr>
              <a:t>GOx</a:t>
            </a:r>
            <a:r>
              <a:rPr lang="en-US" sz="2000" dirty="0" smtClean="0">
                <a:latin typeface="Arial Black" panose="020B0A04020102020204" pitchFamily="34" charset="0"/>
              </a:rPr>
              <a:t> enzyme as floating electrolyte</a:t>
            </a:r>
            <a:endParaRPr lang="aa-ET" sz="2000" b="1" dirty="0">
              <a:latin typeface="Arial Black" panose="020B0A040201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44" y="2720048"/>
            <a:ext cx="5706454" cy="391795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598" y="2047718"/>
            <a:ext cx="5976714" cy="475748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47578" y="2566457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OECT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24292" y="2617141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OECT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12624" y="6453336"/>
            <a:ext cx="479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859012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51384" y="938501"/>
            <a:ext cx="10515600" cy="666480"/>
          </a:xfrm>
        </p:spPr>
        <p:txBody>
          <a:bodyPr>
            <a:normAutofit/>
          </a:bodyPr>
          <a:lstStyle/>
          <a:p>
            <a:r>
              <a:rPr lang="en-GB" sz="2800" b="1" dirty="0" smtClean="0">
                <a:latin typeface="Arial Black" panose="020B0A04020102020204" pitchFamily="34" charset="0"/>
              </a:rPr>
              <a:t>Appendix</a:t>
            </a:r>
            <a:endParaRPr lang="en-GB" sz="2800" b="1" dirty="0"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12024" y="260648"/>
            <a:ext cx="3096344" cy="5040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endParaRPr lang="en-GB" sz="16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11712624" y="6453336"/>
            <a:ext cx="479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1D2E7B70-0F40-F2D8-9655-FA48C35F080A}"/>
              </a:ext>
            </a:extLst>
          </p:cNvPr>
          <p:cNvSpPr txBox="1">
            <a:spLocks/>
          </p:cNvSpPr>
          <p:nvPr/>
        </p:nvSpPr>
        <p:spPr bwMode="gray">
          <a:xfrm>
            <a:off x="551384" y="1546788"/>
            <a:ext cx="11856640" cy="5904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50" baseline="0">
                <a:solidFill>
                  <a:schemeClr val="tx1"/>
                </a:solidFill>
                <a:latin typeface="Sharp Sans Semibold" pitchFamily="2" charset="0"/>
                <a:ea typeface="Sharp Sans Semibold" pitchFamily="2" charset="0"/>
                <a:cs typeface="Sharp Sans Semibold" pitchFamily="2" charset="0"/>
              </a:defRPr>
            </a:lvl1pPr>
          </a:lstStyle>
          <a:p>
            <a:endParaRPr lang="aa-ET" sz="2000" b="1" dirty="0">
              <a:latin typeface="Arial Black" panose="020B0A040201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xmlns="" id="{1D2E7B70-0F40-F2D8-9655-FA48C35F080A}"/>
              </a:ext>
            </a:extLst>
          </p:cNvPr>
          <p:cNvSpPr txBox="1">
            <a:spLocks/>
          </p:cNvSpPr>
          <p:nvPr/>
        </p:nvSpPr>
        <p:spPr bwMode="gray">
          <a:xfrm>
            <a:off x="527720" y="1863187"/>
            <a:ext cx="11856640" cy="5904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50" baseline="0">
                <a:solidFill>
                  <a:schemeClr val="tx1"/>
                </a:solidFill>
                <a:latin typeface="Sharp Sans Semibold" pitchFamily="2" charset="0"/>
                <a:ea typeface="Sharp Sans Semibold" pitchFamily="2" charset="0"/>
                <a:cs typeface="Sharp Sans Semibold" pitchFamily="2" charset="0"/>
              </a:defRPr>
            </a:lvl1pPr>
          </a:lstStyle>
          <a:p>
            <a:r>
              <a:rPr lang="en-US" sz="2000" dirty="0">
                <a:latin typeface="Arial Black" panose="020B0A04020102020204" pitchFamily="34" charset="0"/>
              </a:rPr>
              <a:t>3</a:t>
            </a:r>
            <a:r>
              <a:rPr lang="en-US" sz="2000" dirty="0" smtClean="0">
                <a:latin typeface="Arial Black" panose="020B0A04020102020204" pitchFamily="34" charset="0"/>
              </a:rPr>
              <a:t>.Steady state measurement of OECT with GDH enzyme as floating electrolyte</a:t>
            </a:r>
            <a:endParaRPr lang="aa-ET" sz="2000" b="1" dirty="0">
              <a:latin typeface="Arial Black" panose="020B0A040201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2780927"/>
            <a:ext cx="5904656" cy="373651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23592" y="2853566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OECT 2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125" y="2780926"/>
            <a:ext cx="5565875" cy="373651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24292" y="2853566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OECT 3</a:t>
            </a:r>
          </a:p>
        </p:txBody>
      </p:sp>
    </p:spTree>
    <p:extLst>
      <p:ext uri="{BB962C8B-B14F-4D97-AF65-F5344CB8AC3E}">
        <p14:creationId xmlns:p14="http://schemas.microsoft.com/office/powerpoint/2010/main" val="2659844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51384" y="938501"/>
            <a:ext cx="10515600" cy="666480"/>
          </a:xfrm>
        </p:spPr>
        <p:txBody>
          <a:bodyPr>
            <a:normAutofit/>
          </a:bodyPr>
          <a:lstStyle/>
          <a:p>
            <a:r>
              <a:rPr lang="en-GB" sz="2800" b="1" dirty="0" smtClean="0">
                <a:latin typeface="Arial Black" panose="020B0A04020102020204" pitchFamily="34" charset="0"/>
              </a:rPr>
              <a:t>Appendix</a:t>
            </a:r>
            <a:endParaRPr lang="en-GB" sz="2800" b="1" dirty="0"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12024" y="260648"/>
            <a:ext cx="3096344" cy="5040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endParaRPr lang="en-GB" sz="16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11712624" y="6453336"/>
            <a:ext cx="479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1D2E7B70-0F40-F2D8-9655-FA48C35F080A}"/>
              </a:ext>
            </a:extLst>
          </p:cNvPr>
          <p:cNvSpPr txBox="1">
            <a:spLocks/>
          </p:cNvSpPr>
          <p:nvPr/>
        </p:nvSpPr>
        <p:spPr bwMode="gray">
          <a:xfrm>
            <a:off x="551384" y="1546788"/>
            <a:ext cx="11856640" cy="5904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50" baseline="0">
                <a:solidFill>
                  <a:schemeClr val="tx1"/>
                </a:solidFill>
                <a:latin typeface="Sharp Sans Semibold" pitchFamily="2" charset="0"/>
                <a:ea typeface="Sharp Sans Semibold" pitchFamily="2" charset="0"/>
                <a:cs typeface="Sharp Sans Semibold" pitchFamily="2" charset="0"/>
              </a:defRPr>
            </a:lvl1pPr>
          </a:lstStyle>
          <a:p>
            <a:endParaRPr lang="aa-ET" sz="2000" b="1" dirty="0">
              <a:latin typeface="Arial Black" panose="020B0A040201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xmlns="" id="{1D2E7B70-0F40-F2D8-9655-FA48C35F080A}"/>
              </a:ext>
            </a:extLst>
          </p:cNvPr>
          <p:cNvSpPr txBox="1">
            <a:spLocks/>
          </p:cNvSpPr>
          <p:nvPr/>
        </p:nvSpPr>
        <p:spPr bwMode="gray">
          <a:xfrm>
            <a:off x="551384" y="1918029"/>
            <a:ext cx="11856640" cy="5904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50" baseline="0">
                <a:solidFill>
                  <a:schemeClr val="tx1"/>
                </a:solidFill>
                <a:latin typeface="Sharp Sans Semibold" pitchFamily="2" charset="0"/>
                <a:ea typeface="Sharp Sans Semibold" pitchFamily="2" charset="0"/>
                <a:cs typeface="Sharp Sans Semibold" pitchFamily="2" charset="0"/>
              </a:defRPr>
            </a:lvl1pPr>
          </a:lstStyle>
          <a:p>
            <a:r>
              <a:rPr lang="en-US" sz="2000" dirty="0">
                <a:latin typeface="Arial Black" panose="020B0A04020102020204" pitchFamily="34" charset="0"/>
              </a:rPr>
              <a:t>3</a:t>
            </a:r>
            <a:r>
              <a:rPr lang="en-US" sz="2000" dirty="0" smtClean="0">
                <a:latin typeface="Arial Black" panose="020B0A04020102020204" pitchFamily="34" charset="0"/>
              </a:rPr>
              <a:t>.Steady state measurement of OECT with GDH enzyme as floating electrolyte</a:t>
            </a:r>
            <a:endParaRPr lang="aa-ET" sz="2000" b="1" dirty="0">
              <a:latin typeface="Arial Black" panose="020B0A040201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976" y="2566457"/>
            <a:ext cx="6637647" cy="396973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31233" y="2610484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OECT 4</a:t>
            </a:r>
          </a:p>
        </p:txBody>
      </p:sp>
    </p:spTree>
    <p:extLst>
      <p:ext uri="{BB962C8B-B14F-4D97-AF65-F5344CB8AC3E}">
        <p14:creationId xmlns:p14="http://schemas.microsoft.com/office/powerpoint/2010/main" val="205144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51384" y="938501"/>
            <a:ext cx="10515600" cy="666480"/>
          </a:xfrm>
        </p:spPr>
        <p:txBody>
          <a:bodyPr>
            <a:normAutofit/>
          </a:bodyPr>
          <a:lstStyle/>
          <a:p>
            <a:r>
              <a:rPr lang="en-GB" sz="2800" b="1" dirty="0" smtClean="0">
                <a:latin typeface="Arial Black" panose="020B0A04020102020204" pitchFamily="34" charset="0"/>
              </a:rPr>
              <a:t>Appendix</a:t>
            </a:r>
            <a:endParaRPr lang="en-GB" sz="2800" b="1" dirty="0"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12024" y="260648"/>
            <a:ext cx="3096344" cy="5040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endParaRPr lang="en-GB" sz="16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11712624" y="6453336"/>
            <a:ext cx="479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1D2E7B70-0F40-F2D8-9655-FA48C35F080A}"/>
              </a:ext>
            </a:extLst>
          </p:cNvPr>
          <p:cNvSpPr txBox="1">
            <a:spLocks/>
          </p:cNvSpPr>
          <p:nvPr/>
        </p:nvSpPr>
        <p:spPr bwMode="gray">
          <a:xfrm>
            <a:off x="551384" y="1546788"/>
            <a:ext cx="11856640" cy="5904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50" baseline="0">
                <a:solidFill>
                  <a:schemeClr val="tx1"/>
                </a:solidFill>
                <a:latin typeface="Sharp Sans Semibold" pitchFamily="2" charset="0"/>
                <a:ea typeface="Sharp Sans Semibold" pitchFamily="2" charset="0"/>
                <a:cs typeface="Sharp Sans Semibold" pitchFamily="2" charset="0"/>
              </a:defRPr>
            </a:lvl1pPr>
          </a:lstStyle>
          <a:p>
            <a:endParaRPr lang="aa-ET" sz="2000" b="1" dirty="0">
              <a:latin typeface="Arial Black" panose="020B0A040201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16" y="2905011"/>
            <a:ext cx="6192688" cy="358359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27648" y="2735734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OECT 2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800" y="2912998"/>
            <a:ext cx="6018200" cy="35835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5076" y="2753462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OECT 3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52" y="1972616"/>
            <a:ext cx="115794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Arial Black" panose="020B0A04020102020204" pitchFamily="34" charset="0"/>
              </a:rPr>
              <a:t>4.Real </a:t>
            </a:r>
            <a:r>
              <a:rPr lang="en-US" sz="2000" dirty="0">
                <a:latin typeface="Arial Black" panose="020B0A04020102020204" pitchFamily="34" charset="0"/>
              </a:rPr>
              <a:t>time measurement of OECT with </a:t>
            </a:r>
            <a:r>
              <a:rPr lang="en-US" sz="2000" dirty="0" err="1">
                <a:latin typeface="Arial Black" panose="020B0A04020102020204" pitchFamily="34" charset="0"/>
              </a:rPr>
              <a:t>GOx</a:t>
            </a:r>
            <a:r>
              <a:rPr lang="en-US" sz="2000" dirty="0">
                <a:latin typeface="Arial Black" panose="020B0A04020102020204" pitchFamily="34" charset="0"/>
              </a:rPr>
              <a:t> enzyme as floating electrolyte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528869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51384" y="938501"/>
            <a:ext cx="10515600" cy="666480"/>
          </a:xfrm>
        </p:spPr>
        <p:txBody>
          <a:bodyPr>
            <a:normAutofit/>
          </a:bodyPr>
          <a:lstStyle/>
          <a:p>
            <a:r>
              <a:rPr lang="en-GB" sz="2800" b="1" dirty="0" smtClean="0">
                <a:latin typeface="Arial Black" panose="020B0A04020102020204" pitchFamily="34" charset="0"/>
              </a:rPr>
              <a:t>Appendix</a:t>
            </a:r>
            <a:endParaRPr lang="en-GB" sz="2800" b="1" dirty="0"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12024" y="260648"/>
            <a:ext cx="3096344" cy="5040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endParaRPr lang="en-GB" sz="1600" dirty="0" smtClean="0"/>
          </a:p>
        </p:txBody>
      </p:sp>
      <p:sp>
        <p:nvSpPr>
          <p:cNvPr id="10" name="Rectangle 9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1D2E7B70-0F40-F2D8-9655-FA48C35F080A}"/>
              </a:ext>
            </a:extLst>
          </p:cNvPr>
          <p:cNvSpPr txBox="1">
            <a:spLocks/>
          </p:cNvSpPr>
          <p:nvPr/>
        </p:nvSpPr>
        <p:spPr bwMode="gray">
          <a:xfrm>
            <a:off x="551384" y="1546788"/>
            <a:ext cx="11856640" cy="5904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50" baseline="0">
                <a:solidFill>
                  <a:schemeClr val="tx1"/>
                </a:solidFill>
                <a:latin typeface="Sharp Sans Semibold" pitchFamily="2" charset="0"/>
                <a:ea typeface="Sharp Sans Semibold" pitchFamily="2" charset="0"/>
                <a:cs typeface="Sharp Sans Semibold" pitchFamily="2" charset="0"/>
              </a:defRPr>
            </a:lvl1pPr>
          </a:lstStyle>
          <a:p>
            <a:endParaRPr lang="aa-ET" sz="2000" b="1" dirty="0">
              <a:latin typeface="Arial Black" panose="020B0A040201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52" y="1899399"/>
            <a:ext cx="115794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Arial Black" panose="020B0A04020102020204" pitchFamily="34" charset="0"/>
              </a:rPr>
              <a:t>5.Real </a:t>
            </a:r>
            <a:r>
              <a:rPr lang="en-US" sz="2000" dirty="0">
                <a:latin typeface="Arial Black" panose="020B0A04020102020204" pitchFamily="34" charset="0"/>
              </a:rPr>
              <a:t>time measurement of OECT with </a:t>
            </a:r>
            <a:r>
              <a:rPr lang="en-US" sz="2000" dirty="0" smtClean="0">
                <a:latin typeface="Arial Black" panose="020B0A04020102020204" pitchFamily="34" charset="0"/>
              </a:rPr>
              <a:t>GDH </a:t>
            </a:r>
            <a:r>
              <a:rPr lang="en-US" sz="2000" dirty="0">
                <a:latin typeface="Arial Black" panose="020B0A04020102020204" pitchFamily="34" charset="0"/>
              </a:rPr>
              <a:t>enzyme as floating electrolyte</a:t>
            </a:r>
            <a:endParaRPr lang="en-GB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216" y="2912998"/>
            <a:ext cx="5956386" cy="36738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27648" y="2735734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OECT 2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6157" y="2947603"/>
            <a:ext cx="5976664" cy="36392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5076" y="2753462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smtClean="0"/>
              <a:t>OECT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12624" y="6453336"/>
            <a:ext cx="479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314010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5360" y="1276857"/>
            <a:ext cx="10515600" cy="666480"/>
          </a:xfrm>
        </p:spPr>
        <p:txBody>
          <a:bodyPr>
            <a:normAutofit/>
          </a:bodyPr>
          <a:lstStyle/>
          <a:p>
            <a:r>
              <a:rPr lang="en-GB" sz="2800" dirty="0" smtClean="0">
                <a:latin typeface="Arial Black" panose="020B0A04020102020204" pitchFamily="34" charset="0"/>
              </a:rPr>
              <a:t>6.Fabrication of OECT</a:t>
            </a:r>
            <a:endParaRPr lang="en-GB" sz="28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86699" y="1879573"/>
            <a:ext cx="4825752" cy="720080"/>
          </a:xfrm>
        </p:spPr>
        <p:txBody>
          <a:bodyPr>
            <a:normAutofit fontScale="25000" lnSpcReduction="20000"/>
          </a:bodyPr>
          <a:lstStyle/>
          <a:p>
            <a:pPr marL="457200" indent="-457200">
              <a:buAutoNum type="arabicPeriod"/>
            </a:pPr>
            <a:r>
              <a:rPr lang="en-GB" sz="8000" b="1" dirty="0" smtClean="0"/>
              <a:t>Mask </a:t>
            </a:r>
            <a:r>
              <a:rPr lang="en-GB" sz="8000" b="1" dirty="0"/>
              <a:t>Design and </a:t>
            </a:r>
            <a:r>
              <a:rPr lang="en-GB" sz="8000" b="1" dirty="0" smtClean="0"/>
              <a:t>Layout</a:t>
            </a:r>
          </a:p>
          <a:p>
            <a:pPr marL="457200" lvl="1" indent="0">
              <a:buNone/>
            </a:pPr>
            <a:r>
              <a:rPr lang="en-US" sz="6400" dirty="0"/>
              <a:t>Chip layout (21 × 21 mm) with 3 channels (500 × 500 µm) designed in AutoCAD and aligned on wafer template</a:t>
            </a:r>
            <a:endParaRPr lang="en-GB" sz="6400" b="1" dirty="0"/>
          </a:p>
          <a:p>
            <a:pPr marL="0" indent="0">
              <a:buNone/>
            </a:pPr>
            <a:endParaRPr lang="en-GB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12024" y="260648"/>
            <a:ext cx="3096344" cy="5040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endParaRPr lang="en-GB" sz="1600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7258771" y="3057597"/>
            <a:ext cx="490700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/>
              <a:t>2. Electrode Deposition and </a:t>
            </a:r>
            <a:r>
              <a:rPr lang="en-GB" sz="2200" b="1" dirty="0" smtClean="0"/>
              <a:t> Patterning</a:t>
            </a:r>
          </a:p>
          <a:p>
            <a:pPr lvl="1"/>
            <a:r>
              <a:rPr lang="en-US" sz="1600" dirty="0"/>
              <a:t>Gold source, drain, and gate interconnects patterned on Si/</a:t>
            </a:r>
            <a:r>
              <a:rPr lang="en-US" sz="1600" dirty="0" err="1"/>
              <a:t>SiO</a:t>
            </a:r>
            <a:r>
              <a:rPr lang="en-US" sz="1600" dirty="0"/>
              <a:t>₂ wafer using photolithography and PI insulation layers</a:t>
            </a:r>
            <a:endParaRPr lang="en-GB" sz="1600" b="1" dirty="0"/>
          </a:p>
          <a:p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9541" y="4842701"/>
            <a:ext cx="417765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</a:t>
            </a:r>
            <a:r>
              <a:rPr lang="en-GB" sz="2200" b="1" dirty="0"/>
              <a:t>PEDOT:PSS </a:t>
            </a:r>
            <a:r>
              <a:rPr lang="en-GB" sz="2200" b="1" dirty="0" smtClean="0"/>
              <a:t>Deposition</a:t>
            </a:r>
          </a:p>
          <a:p>
            <a:pPr lvl="1"/>
            <a:r>
              <a:rPr lang="en-US" sz="1600" dirty="0"/>
              <a:t>Modified PEDOT:PSS (with EG, DBSA, </a:t>
            </a:r>
            <a:r>
              <a:rPr lang="en-US" sz="1600" dirty="0" smtClean="0"/>
              <a:t>GOPS</a:t>
            </a:r>
            <a:r>
              <a:rPr lang="en-US" sz="1600" dirty="0"/>
              <a:t>) spin-coated, baked at 110 °C</a:t>
            </a:r>
            <a:r>
              <a:rPr lang="en-US" sz="1600" dirty="0" smtClean="0"/>
              <a:t>, similarly pure PEDOT:PSS on top </a:t>
            </a:r>
            <a:r>
              <a:rPr lang="en-US" sz="1600" dirty="0"/>
              <a:t>and sacrificial PI </a:t>
            </a:r>
            <a:r>
              <a:rPr lang="en-US" sz="1600" dirty="0" smtClean="0"/>
              <a:t>layer lifted off to form final channel.</a:t>
            </a:r>
            <a:endParaRPr lang="en-GB" sz="1600" b="1" dirty="0"/>
          </a:p>
          <a:p>
            <a:endParaRPr lang="en-GB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76" y="1866759"/>
            <a:ext cx="3457575" cy="34480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16" t="53623" r="7430" b="-352"/>
          <a:stretch/>
        </p:blipFill>
        <p:spPr>
          <a:xfrm>
            <a:off x="4367809" y="4149080"/>
            <a:ext cx="2736304" cy="23217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435" y="1610097"/>
            <a:ext cx="2716678" cy="24669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11497194" y="6453336"/>
            <a:ext cx="575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2024" y="188640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05/11/2025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5" name="Title 6"/>
          <p:cNvSpPr txBox="1">
            <a:spLocks/>
          </p:cNvSpPr>
          <p:nvPr/>
        </p:nvSpPr>
        <p:spPr bwMode="gray">
          <a:xfrm>
            <a:off x="335360" y="773695"/>
            <a:ext cx="10515600" cy="66648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50" baseline="0">
                <a:solidFill>
                  <a:schemeClr val="tx1"/>
                </a:solidFill>
                <a:latin typeface="Sharp Sans Semibold" pitchFamily="2" charset="0"/>
                <a:ea typeface="Sharp Sans Semibold" pitchFamily="2" charset="0"/>
                <a:cs typeface="Sharp Sans Semibold" pitchFamily="2" charset="0"/>
              </a:defRPr>
            </a:lvl1pPr>
          </a:lstStyle>
          <a:p>
            <a:r>
              <a:rPr lang="en-GB" sz="2800" b="1" dirty="0" smtClean="0">
                <a:latin typeface="Arial Black" panose="020B0A04020102020204" pitchFamily="34" charset="0"/>
              </a:rPr>
              <a:t>Appendix</a:t>
            </a:r>
            <a:endParaRPr lang="en-GB" sz="28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1038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5360" y="1281045"/>
            <a:ext cx="10515600" cy="666480"/>
          </a:xfrm>
        </p:spPr>
        <p:txBody>
          <a:bodyPr>
            <a:normAutofit/>
          </a:bodyPr>
          <a:lstStyle/>
          <a:p>
            <a:r>
              <a:rPr lang="en-GB" sz="2800" dirty="0" smtClean="0">
                <a:latin typeface="Arial Black" panose="020B0A04020102020204" pitchFamily="34" charset="0"/>
              </a:rPr>
              <a:t>7.Enzyme Preparation</a:t>
            </a:r>
            <a:endParaRPr lang="en-GB" sz="2800" dirty="0"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12024" y="260648"/>
            <a:ext cx="3096344" cy="5040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endParaRPr lang="en-GB" sz="16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11568608" y="64533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29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632" y="4509120"/>
            <a:ext cx="7558743" cy="2038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14898" y="2762623"/>
            <a:ext cx="1656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 smtClean="0"/>
              <a:t>GDH</a:t>
            </a:r>
            <a:endParaRPr lang="en-GB" sz="32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014898" y="5301208"/>
            <a:ext cx="1656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 err="1" smtClean="0"/>
              <a:t>GOx</a:t>
            </a:r>
            <a:endParaRPr lang="en-GB" sz="3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0870" y="1788743"/>
            <a:ext cx="7990456" cy="221267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312024" y="188640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05/11/2025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1" name="Title 6"/>
          <p:cNvSpPr txBox="1">
            <a:spLocks/>
          </p:cNvSpPr>
          <p:nvPr/>
        </p:nvSpPr>
        <p:spPr bwMode="gray">
          <a:xfrm>
            <a:off x="335360" y="773695"/>
            <a:ext cx="10515600" cy="66648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50" baseline="0">
                <a:solidFill>
                  <a:schemeClr val="tx1"/>
                </a:solidFill>
                <a:latin typeface="Sharp Sans Semibold" pitchFamily="2" charset="0"/>
                <a:ea typeface="Sharp Sans Semibold" pitchFamily="2" charset="0"/>
                <a:cs typeface="Sharp Sans Semibold" pitchFamily="2" charset="0"/>
              </a:defRPr>
            </a:lvl1pPr>
          </a:lstStyle>
          <a:p>
            <a:r>
              <a:rPr lang="en-GB" sz="2800" b="1" dirty="0" smtClean="0">
                <a:latin typeface="Arial Black" panose="020B0A04020102020204" pitchFamily="34" charset="0"/>
              </a:rPr>
              <a:t>Appendix</a:t>
            </a:r>
            <a:endParaRPr lang="en-GB" sz="28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8828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  <p:bldP spid="1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1190852"/>
            <a:ext cx="10515600" cy="864694"/>
          </a:xfrm>
        </p:spPr>
        <p:txBody>
          <a:bodyPr/>
          <a:lstStyle/>
          <a:p>
            <a:r>
              <a:rPr lang="en-GB" sz="2800" dirty="0" smtClean="0">
                <a:latin typeface="Arial Black" panose="020B0A04020102020204" pitchFamily="34" charset="0"/>
              </a:rPr>
              <a:t>8.Glucose Preparation</a:t>
            </a:r>
            <a:endParaRPr lang="en-GB" sz="2800" dirty="0">
              <a:latin typeface="Arial Black" panose="020B0A040201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424592" y="6381328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smtClean="0"/>
              <a:t>30</a:t>
            </a:r>
            <a:endParaRPr lang="en-GB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528" y="1772816"/>
            <a:ext cx="3830418" cy="42577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Rounded Rectangle 23"/>
          <p:cNvSpPr/>
          <p:nvPr/>
        </p:nvSpPr>
        <p:spPr>
          <a:xfrm>
            <a:off x="6856131" y="4563492"/>
            <a:ext cx="847262" cy="6354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/>
              <a:t>PBS</a:t>
            </a:r>
          </a:p>
          <a:p>
            <a:r>
              <a:rPr lang="en-GB" sz="1600" dirty="0"/>
              <a:t>(</a:t>
            </a:r>
            <a:r>
              <a:rPr lang="en-GB" sz="1600" dirty="0" err="1" smtClean="0"/>
              <a:t>GOx</a:t>
            </a:r>
            <a:r>
              <a:rPr lang="en-GB" sz="1600" dirty="0" smtClean="0"/>
              <a:t>)</a:t>
            </a:r>
            <a:endParaRPr lang="en-GB" sz="1600" dirty="0"/>
          </a:p>
        </p:txBody>
      </p:sp>
      <p:sp>
        <p:nvSpPr>
          <p:cNvPr id="26" name="Rounded Rectangle 25"/>
          <p:cNvSpPr/>
          <p:nvPr/>
        </p:nvSpPr>
        <p:spPr>
          <a:xfrm>
            <a:off x="6856131" y="2852936"/>
            <a:ext cx="847262" cy="6354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 smtClean="0"/>
              <a:t>MES</a:t>
            </a:r>
          </a:p>
          <a:p>
            <a:r>
              <a:rPr lang="en-GB" sz="1600" dirty="0" smtClean="0"/>
              <a:t>(GDH)</a:t>
            </a:r>
            <a:endParaRPr lang="en-GB" sz="1600" dirty="0"/>
          </a:p>
        </p:txBody>
      </p:sp>
      <p:sp>
        <p:nvSpPr>
          <p:cNvPr id="29" name="Rounded Rectangle 28"/>
          <p:cNvSpPr/>
          <p:nvPr/>
        </p:nvSpPr>
        <p:spPr>
          <a:xfrm>
            <a:off x="574394" y="3700996"/>
            <a:ext cx="847262" cy="6354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 smtClean="0"/>
              <a:t>MES</a:t>
            </a:r>
          </a:p>
          <a:p>
            <a:r>
              <a:rPr lang="en-GB" sz="1600" dirty="0" smtClean="0"/>
              <a:t>(GDH)</a:t>
            </a:r>
            <a:endParaRPr lang="en-GB" sz="16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6542" y="1623199"/>
            <a:ext cx="3448050" cy="47910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6312024" y="188640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05/11/2025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1" name="Title 6"/>
          <p:cNvSpPr txBox="1">
            <a:spLocks/>
          </p:cNvSpPr>
          <p:nvPr/>
        </p:nvSpPr>
        <p:spPr bwMode="gray">
          <a:xfrm>
            <a:off x="335360" y="773695"/>
            <a:ext cx="10515600" cy="66648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50" baseline="0">
                <a:solidFill>
                  <a:schemeClr val="tx1"/>
                </a:solidFill>
                <a:latin typeface="Sharp Sans Semibold" pitchFamily="2" charset="0"/>
                <a:ea typeface="Sharp Sans Semibold" pitchFamily="2" charset="0"/>
                <a:cs typeface="Sharp Sans Semibold" pitchFamily="2" charset="0"/>
              </a:defRPr>
            </a:lvl1pPr>
          </a:lstStyle>
          <a:p>
            <a:r>
              <a:rPr lang="en-GB" sz="2800" b="1" dirty="0" smtClean="0">
                <a:latin typeface="Arial Black" panose="020B0A04020102020204" pitchFamily="34" charset="0"/>
              </a:rPr>
              <a:t>Appendix</a:t>
            </a:r>
            <a:endParaRPr lang="en-GB" sz="28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1617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4" grpId="0" animBg="1"/>
      <p:bldP spid="26" grpId="0" animBg="1"/>
      <p:bldP spid="2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2E7B70-0F40-F2D8-9655-FA48C35F0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427" y="759308"/>
            <a:ext cx="9145586" cy="590478"/>
          </a:xfrm>
        </p:spPr>
        <p:txBody>
          <a:bodyPr/>
          <a:lstStyle/>
          <a:p>
            <a:r>
              <a:rPr lang="en-GB" sz="2800" b="1" dirty="0">
                <a:latin typeface="Arial Black" panose="020B0A04020102020204" pitchFamily="34" charset="0"/>
              </a:rPr>
              <a:t>Motivation Slide</a:t>
            </a:r>
            <a:endParaRPr lang="aa-ET" sz="2800" b="1" dirty="0">
              <a:latin typeface="Arial Black" panose="020B0A040201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528048" y="188640"/>
            <a:ext cx="2664296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33" y="1349786"/>
            <a:ext cx="2304256" cy="202910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2490" y="1349786"/>
            <a:ext cx="2304256" cy="202910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047" y="1349786"/>
            <a:ext cx="2304256" cy="202910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0376" y="1344200"/>
            <a:ext cx="2304256" cy="204028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6173800" y="214939"/>
            <a:ext cx="337279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Masters Project              Emmanuel Joseph </a:t>
            </a:r>
            <a:r>
              <a:rPr lang="en-GB" sz="1100" dirty="0" err="1" smtClean="0">
                <a:solidFill>
                  <a:schemeClr val="tx1"/>
                </a:solidFill>
              </a:rPr>
              <a:t>Shaji</a:t>
            </a:r>
            <a:endParaRPr lang="en-GB" sz="1100" dirty="0" smtClean="0">
              <a:solidFill>
                <a:schemeClr val="tx1"/>
              </a:solidFill>
            </a:endParaRPr>
          </a:p>
          <a:p>
            <a:pPr algn="ctr"/>
            <a:r>
              <a:rPr lang="en-GB" sz="1100" dirty="0" smtClean="0">
                <a:solidFill>
                  <a:schemeClr val="tx1"/>
                </a:solidFill>
              </a:rPr>
              <a:t>                      11/11/2025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784632" y="6333538"/>
            <a:ext cx="2160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/>
              <a:t>2</a:t>
            </a:r>
            <a:endParaRPr lang="en-GB" sz="1600" dirty="0" smtClean="0"/>
          </a:p>
        </p:txBody>
      </p:sp>
      <p:sp>
        <p:nvSpPr>
          <p:cNvPr id="17" name="Rectangle 16"/>
          <p:cNvSpPr/>
          <p:nvPr/>
        </p:nvSpPr>
        <p:spPr>
          <a:xfrm>
            <a:off x="911424" y="3861048"/>
            <a:ext cx="1909765" cy="457101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ysClr val="windowText" lastClr="000000"/>
                </a:solidFill>
              </a:rPr>
              <a:t>Non invasive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667" y="4485642"/>
            <a:ext cx="1909765" cy="457101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ysClr val="windowText" lastClr="000000"/>
                </a:solidFill>
              </a:rPr>
              <a:t>Real time </a:t>
            </a:r>
            <a:r>
              <a:rPr lang="en-GB" sz="1200" b="1" dirty="0">
                <a:solidFill>
                  <a:sysClr val="windowText" lastClr="000000"/>
                </a:solidFill>
              </a:rPr>
              <a:t>d</a:t>
            </a:r>
            <a:r>
              <a:rPr lang="en-GB" sz="1200" b="1" dirty="0" smtClean="0">
                <a:solidFill>
                  <a:sysClr val="windowText" lastClr="000000"/>
                </a:solidFill>
              </a:rPr>
              <a:t>etection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9667" y="5106000"/>
            <a:ext cx="1909765" cy="457101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Light scattering &amp; Tissue absorption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1424" y="5725961"/>
            <a:ext cx="1909765" cy="457101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Expensive</a:t>
            </a:r>
          </a:p>
        </p:txBody>
      </p:sp>
      <p:cxnSp>
        <p:nvCxnSpPr>
          <p:cNvPr id="24" name="Straight Connector 23"/>
          <p:cNvCxnSpPr>
            <a:stCxn id="17" idx="1"/>
            <a:endCxn id="17" idx="1"/>
          </p:cNvCxnSpPr>
          <p:nvPr/>
        </p:nvCxnSpPr>
        <p:spPr>
          <a:xfrm>
            <a:off x="911424" y="4089599"/>
            <a:ext cx="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7" idx="1"/>
          </p:cNvCxnSpPr>
          <p:nvPr/>
        </p:nvCxnSpPr>
        <p:spPr>
          <a:xfrm flipH="1" flipV="1">
            <a:off x="695400" y="4089598"/>
            <a:ext cx="216024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9" idx="1"/>
          </p:cNvCxnSpPr>
          <p:nvPr/>
        </p:nvCxnSpPr>
        <p:spPr>
          <a:xfrm flipH="1" flipV="1">
            <a:off x="683643" y="4714192"/>
            <a:ext cx="216024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20" idx="1"/>
          </p:cNvCxnSpPr>
          <p:nvPr/>
        </p:nvCxnSpPr>
        <p:spPr>
          <a:xfrm flipH="1" flipV="1">
            <a:off x="683643" y="5334550"/>
            <a:ext cx="216024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1" idx="1"/>
          </p:cNvCxnSpPr>
          <p:nvPr/>
        </p:nvCxnSpPr>
        <p:spPr>
          <a:xfrm flipH="1">
            <a:off x="683643" y="5954512"/>
            <a:ext cx="227781" cy="3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916981" y="3861047"/>
            <a:ext cx="1909765" cy="457101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ysClr val="windowText" lastClr="000000"/>
                </a:solidFill>
              </a:rPr>
              <a:t>Non invasive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05224" y="4485641"/>
            <a:ext cx="1909765" cy="457101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ysClr val="windowText" lastClr="000000"/>
                </a:solidFill>
              </a:rPr>
              <a:t>Simple design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05224" y="5105999"/>
            <a:ext cx="1909765" cy="457101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Indirect measurement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16981" y="5725960"/>
            <a:ext cx="1909765" cy="457101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No real time detection</a:t>
            </a:r>
          </a:p>
        </p:txBody>
      </p:sp>
      <p:cxnSp>
        <p:nvCxnSpPr>
          <p:cNvPr id="44" name="Straight Connector 43"/>
          <p:cNvCxnSpPr>
            <a:stCxn id="40" idx="1"/>
          </p:cNvCxnSpPr>
          <p:nvPr/>
        </p:nvCxnSpPr>
        <p:spPr>
          <a:xfrm flipH="1" flipV="1">
            <a:off x="3700957" y="4089597"/>
            <a:ext cx="216024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1" idx="1"/>
          </p:cNvCxnSpPr>
          <p:nvPr/>
        </p:nvCxnSpPr>
        <p:spPr>
          <a:xfrm flipH="1" flipV="1">
            <a:off x="3689200" y="4714191"/>
            <a:ext cx="216024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42" idx="1"/>
          </p:cNvCxnSpPr>
          <p:nvPr/>
        </p:nvCxnSpPr>
        <p:spPr>
          <a:xfrm flipH="1" flipV="1">
            <a:off x="3689200" y="5334549"/>
            <a:ext cx="216024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43" idx="1"/>
          </p:cNvCxnSpPr>
          <p:nvPr/>
        </p:nvCxnSpPr>
        <p:spPr>
          <a:xfrm flipH="1" flipV="1">
            <a:off x="3700957" y="5954510"/>
            <a:ext cx="216024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6926523" y="3854892"/>
            <a:ext cx="1909765" cy="457101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ysClr val="windowText" lastClr="000000"/>
                </a:solidFill>
              </a:rPr>
              <a:t>Non invasive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14766" y="4479486"/>
            <a:ext cx="1909765" cy="457101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ysClr val="windowText" lastClr="000000"/>
                </a:solidFill>
              </a:rPr>
              <a:t>Real time detection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14766" y="5099844"/>
            <a:ext cx="1909765" cy="457101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Complex circuitry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26523" y="5719805"/>
            <a:ext cx="1909765" cy="457101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Still in study phase</a:t>
            </a:r>
          </a:p>
        </p:txBody>
      </p:sp>
      <p:cxnSp>
        <p:nvCxnSpPr>
          <p:cNvPr id="53" name="Straight Connector 52"/>
          <p:cNvCxnSpPr>
            <a:stCxn id="49" idx="1"/>
          </p:cNvCxnSpPr>
          <p:nvPr/>
        </p:nvCxnSpPr>
        <p:spPr>
          <a:xfrm flipH="1" flipV="1">
            <a:off x="6710499" y="4083442"/>
            <a:ext cx="216024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50" idx="1"/>
          </p:cNvCxnSpPr>
          <p:nvPr/>
        </p:nvCxnSpPr>
        <p:spPr>
          <a:xfrm flipH="1" flipV="1">
            <a:off x="6698742" y="4708036"/>
            <a:ext cx="216024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51" idx="1"/>
          </p:cNvCxnSpPr>
          <p:nvPr/>
        </p:nvCxnSpPr>
        <p:spPr>
          <a:xfrm flipH="1" flipV="1">
            <a:off x="6698742" y="5328394"/>
            <a:ext cx="216024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52" idx="1"/>
          </p:cNvCxnSpPr>
          <p:nvPr/>
        </p:nvCxnSpPr>
        <p:spPr>
          <a:xfrm flipH="1" flipV="1">
            <a:off x="6710499" y="5948355"/>
            <a:ext cx="216024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9866083" y="3861046"/>
            <a:ext cx="1909765" cy="457101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ysClr val="windowText" lastClr="000000"/>
                </a:solidFill>
              </a:rPr>
              <a:t>Well established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854326" y="4485640"/>
            <a:ext cx="1909765" cy="457101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ysClr val="windowText" lastClr="000000"/>
                </a:solidFill>
              </a:rPr>
              <a:t>High sensitivity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54326" y="5105998"/>
            <a:ext cx="1909765" cy="457101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/>
              <a:t>Invasive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866083" y="5725959"/>
            <a:ext cx="1909765" cy="457101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err="1" smtClean="0"/>
              <a:t>Temparature</a:t>
            </a:r>
            <a:r>
              <a:rPr lang="en-GB" sz="1200" b="1" dirty="0" smtClean="0"/>
              <a:t> and pH dependent</a:t>
            </a:r>
          </a:p>
        </p:txBody>
      </p:sp>
      <p:cxnSp>
        <p:nvCxnSpPr>
          <p:cNvPr id="62" name="Straight Connector 61"/>
          <p:cNvCxnSpPr>
            <a:stCxn id="58" idx="1"/>
          </p:cNvCxnSpPr>
          <p:nvPr/>
        </p:nvCxnSpPr>
        <p:spPr>
          <a:xfrm flipH="1" flipV="1">
            <a:off x="9650059" y="4089596"/>
            <a:ext cx="216024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59" idx="1"/>
          </p:cNvCxnSpPr>
          <p:nvPr/>
        </p:nvCxnSpPr>
        <p:spPr>
          <a:xfrm flipH="1" flipV="1">
            <a:off x="9638302" y="4714190"/>
            <a:ext cx="216024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stCxn id="60" idx="1"/>
          </p:cNvCxnSpPr>
          <p:nvPr/>
        </p:nvCxnSpPr>
        <p:spPr>
          <a:xfrm flipH="1" flipV="1">
            <a:off x="9638302" y="5334548"/>
            <a:ext cx="216024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61" idx="1"/>
          </p:cNvCxnSpPr>
          <p:nvPr/>
        </p:nvCxnSpPr>
        <p:spPr>
          <a:xfrm flipH="1" flipV="1">
            <a:off x="9650059" y="5954509"/>
            <a:ext cx="216024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V="1">
            <a:off x="683643" y="3397791"/>
            <a:ext cx="0" cy="1310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 flipV="1">
            <a:off x="683643" y="4723302"/>
            <a:ext cx="0" cy="12316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 flipV="1">
            <a:off x="3689200" y="3397791"/>
            <a:ext cx="0" cy="1310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flipV="1">
            <a:off x="6698742" y="3378894"/>
            <a:ext cx="0" cy="1310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flipV="1">
            <a:off x="9638302" y="3397791"/>
            <a:ext cx="0" cy="1310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 flipV="1">
            <a:off x="3689200" y="4723302"/>
            <a:ext cx="0" cy="12316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 flipV="1">
            <a:off x="6698742" y="4723302"/>
            <a:ext cx="0" cy="12316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 flipV="1">
            <a:off x="9638302" y="4723302"/>
            <a:ext cx="0" cy="12316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021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0" grpId="0" animBg="1"/>
      <p:bldP spid="21" grpId="0" animBg="1"/>
      <p:bldP spid="40" grpId="0" animBg="1"/>
      <p:bldP spid="41" grpId="0" animBg="1"/>
      <p:bldP spid="42" grpId="0" animBg="1"/>
      <p:bldP spid="43" grpId="0" animBg="1"/>
      <p:bldP spid="49" grpId="0" animBg="1"/>
      <p:bldP spid="50" grpId="0" animBg="1"/>
      <p:bldP spid="51" grpId="0" animBg="1"/>
      <p:bldP spid="52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spect="1"/>
          </p:cNvSpPr>
          <p:nvPr/>
        </p:nvSpPr>
        <p:spPr>
          <a:xfrm>
            <a:off x="3332031" y="5677913"/>
            <a:ext cx="6120679" cy="504057"/>
          </a:xfrm>
          <a:prstGeom prst="rect">
            <a:avLst/>
          </a:prstGeom>
          <a:solidFill>
            <a:srgbClr val="43A42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smtClean="0"/>
              <a:t>Substrate</a:t>
            </a:r>
          </a:p>
        </p:txBody>
      </p:sp>
      <p:sp>
        <p:nvSpPr>
          <p:cNvPr id="6" name="Rectangle 5"/>
          <p:cNvSpPr>
            <a:spLocks noChangeAspect="1"/>
          </p:cNvSpPr>
          <p:nvPr/>
        </p:nvSpPr>
        <p:spPr>
          <a:xfrm>
            <a:off x="3332030" y="5132391"/>
            <a:ext cx="1224136" cy="545522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chemeClr val="tx1"/>
                </a:solidFill>
              </a:rPr>
              <a:t>Source</a:t>
            </a:r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8218120" y="5132391"/>
            <a:ext cx="1234589" cy="545522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chemeClr val="tx1"/>
                </a:solidFill>
              </a:rPr>
              <a:t>Drain</a:t>
            </a:r>
          </a:p>
        </p:txBody>
      </p:sp>
      <p:sp>
        <p:nvSpPr>
          <p:cNvPr id="8" name="Rectangle 7"/>
          <p:cNvSpPr>
            <a:spLocks noChangeAspect="1"/>
          </p:cNvSpPr>
          <p:nvPr/>
        </p:nvSpPr>
        <p:spPr>
          <a:xfrm>
            <a:off x="7148455" y="3622723"/>
            <a:ext cx="3661954" cy="241297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err="1" smtClean="0"/>
              <a:t>mPEDOT:PSS</a:t>
            </a:r>
            <a:endParaRPr lang="en-GB" sz="2000" b="1" dirty="0" smtClean="0"/>
          </a:p>
        </p:txBody>
      </p:sp>
      <p:cxnSp>
        <p:nvCxnSpPr>
          <p:cNvPr id="11" name="Straight Connector 10"/>
          <p:cNvCxnSpPr>
            <a:cxnSpLocks noChangeAspect="1"/>
            <a:stCxn id="29" idx="0"/>
          </p:cNvCxnSpPr>
          <p:nvPr/>
        </p:nvCxnSpPr>
        <p:spPr>
          <a:xfrm flipH="1" flipV="1">
            <a:off x="6373624" y="2293544"/>
            <a:ext cx="887" cy="7200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cxnSpLocks noChangeAspect="1"/>
          </p:cNvCxnSpPr>
          <p:nvPr/>
        </p:nvCxnSpPr>
        <p:spPr>
          <a:xfrm>
            <a:off x="6021726" y="2149521"/>
            <a:ext cx="648072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 noChangeAspect="1"/>
          </p:cNvCxnSpPr>
          <p:nvPr/>
        </p:nvCxnSpPr>
        <p:spPr>
          <a:xfrm>
            <a:off x="1459822" y="5389881"/>
            <a:ext cx="18722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cxnSpLocks noChangeAspect="1"/>
          </p:cNvCxnSpPr>
          <p:nvPr/>
        </p:nvCxnSpPr>
        <p:spPr>
          <a:xfrm flipV="1">
            <a:off x="1459822" y="5389881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 noChangeAspect="1"/>
          </p:cNvCxnSpPr>
          <p:nvPr/>
        </p:nvCxnSpPr>
        <p:spPr>
          <a:xfrm flipH="1">
            <a:off x="1459822" y="1501449"/>
            <a:ext cx="491368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cxnSpLocks noChangeAspect="1"/>
          </p:cNvCxnSpPr>
          <p:nvPr/>
        </p:nvCxnSpPr>
        <p:spPr>
          <a:xfrm>
            <a:off x="1459822" y="1501449"/>
            <a:ext cx="0" cy="38884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cxnSpLocks noChangeAspect="1"/>
          </p:cNvCxnSpPr>
          <p:nvPr/>
        </p:nvCxnSpPr>
        <p:spPr>
          <a:xfrm>
            <a:off x="1135786" y="5677913"/>
            <a:ext cx="648072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cxnSpLocks noChangeAspect="1"/>
          </p:cNvCxnSpPr>
          <p:nvPr/>
        </p:nvCxnSpPr>
        <p:spPr>
          <a:xfrm>
            <a:off x="6193486" y="2293537"/>
            <a:ext cx="36004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cxnSpLocks noChangeAspect="1"/>
          </p:cNvCxnSpPr>
          <p:nvPr/>
        </p:nvCxnSpPr>
        <p:spPr>
          <a:xfrm>
            <a:off x="1279802" y="5821929"/>
            <a:ext cx="36004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cxnSpLocks noChangeAspect="1"/>
          </p:cNvCxnSpPr>
          <p:nvPr/>
        </p:nvCxnSpPr>
        <p:spPr>
          <a:xfrm flipV="1">
            <a:off x="9442257" y="5402134"/>
            <a:ext cx="1069667" cy="60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cxnSpLocks noChangeAspect="1"/>
          </p:cNvCxnSpPr>
          <p:nvPr/>
        </p:nvCxnSpPr>
        <p:spPr>
          <a:xfrm>
            <a:off x="1459822" y="5821929"/>
            <a:ext cx="0" cy="6480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cxnSpLocks noChangeAspect="1"/>
          </p:cNvCxnSpPr>
          <p:nvPr/>
        </p:nvCxnSpPr>
        <p:spPr>
          <a:xfrm>
            <a:off x="10461630" y="5389881"/>
            <a:ext cx="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cxnSpLocks noChangeAspect="1"/>
          </p:cNvCxnSpPr>
          <p:nvPr/>
        </p:nvCxnSpPr>
        <p:spPr>
          <a:xfrm>
            <a:off x="10511924" y="5389881"/>
            <a:ext cx="0" cy="10801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 noChangeAspect="1"/>
          </p:cNvCxnSpPr>
          <p:nvPr/>
        </p:nvCxnSpPr>
        <p:spPr>
          <a:xfrm>
            <a:off x="1459823" y="6470001"/>
            <a:ext cx="90521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cxnSpLocks noChangeAspect="1"/>
          </p:cNvCxnSpPr>
          <p:nvPr/>
        </p:nvCxnSpPr>
        <p:spPr>
          <a:xfrm>
            <a:off x="6373506" y="1501449"/>
            <a:ext cx="0" cy="6480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>
            <a:spLocks noChangeAspect="1"/>
          </p:cNvSpPr>
          <p:nvPr/>
        </p:nvSpPr>
        <p:spPr>
          <a:xfrm>
            <a:off x="1792726" y="5600533"/>
            <a:ext cx="720080" cy="400110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2000" b="1" dirty="0" err="1" smtClean="0"/>
              <a:t>Vds</a:t>
            </a:r>
            <a:endParaRPr lang="en-GB" sz="2000" b="1" dirty="0" smtClean="0"/>
          </a:p>
        </p:txBody>
      </p:sp>
      <p:sp>
        <p:nvSpPr>
          <p:cNvPr id="27" name="TextBox 26"/>
          <p:cNvSpPr txBox="1">
            <a:spLocks noChangeAspect="1"/>
          </p:cNvSpPr>
          <p:nvPr/>
        </p:nvSpPr>
        <p:spPr>
          <a:xfrm>
            <a:off x="6752914" y="2061245"/>
            <a:ext cx="655949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b="1" dirty="0" err="1" smtClean="0"/>
              <a:t>Vgs</a:t>
            </a:r>
            <a:endParaRPr lang="en-GB" sz="2000" b="1" dirty="0" smtClean="0"/>
          </a:p>
        </p:txBody>
      </p:sp>
      <p:sp>
        <p:nvSpPr>
          <p:cNvPr id="28" name="Freeform 27"/>
          <p:cNvSpPr>
            <a:spLocks noChangeAspect="1"/>
          </p:cNvSpPr>
          <p:nvPr/>
        </p:nvSpPr>
        <p:spPr>
          <a:xfrm>
            <a:off x="4556165" y="4075448"/>
            <a:ext cx="3658843" cy="1063624"/>
          </a:xfrm>
          <a:custGeom>
            <a:avLst/>
            <a:gdLst>
              <a:gd name="connsiteX0" fmla="*/ 1822637 w 3652058"/>
              <a:gd name="connsiteY0" fmla="*/ 0 h 1063624"/>
              <a:gd name="connsiteX1" fmla="*/ 3652058 w 3652058"/>
              <a:gd name="connsiteY1" fmla="*/ 1053436 h 1063624"/>
              <a:gd name="connsiteX2" fmla="*/ 3651165 w 3652058"/>
              <a:gd name="connsiteY2" fmla="*/ 1063624 h 1063624"/>
              <a:gd name="connsiteX3" fmla="*/ 0 w 3652058"/>
              <a:gd name="connsiteY3" fmla="*/ 1063624 h 1063624"/>
              <a:gd name="connsiteX4" fmla="*/ 0 w 3652058"/>
              <a:gd name="connsiteY4" fmla="*/ 976074 h 1063624"/>
              <a:gd name="connsiteX5" fmla="*/ 2661 w 3652058"/>
              <a:gd name="connsiteY5" fmla="*/ 945728 h 1063624"/>
              <a:gd name="connsiteX6" fmla="*/ 1822637 w 3652058"/>
              <a:gd name="connsiteY6" fmla="*/ 0 h 1063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52058" h="1063624">
                <a:moveTo>
                  <a:pt x="1822637" y="0"/>
                </a:moveTo>
                <a:cubicBezTo>
                  <a:pt x="2832998" y="0"/>
                  <a:pt x="3652058" y="471639"/>
                  <a:pt x="3652058" y="1053436"/>
                </a:cubicBezTo>
                <a:lnTo>
                  <a:pt x="3651165" y="1063624"/>
                </a:lnTo>
                <a:lnTo>
                  <a:pt x="0" y="1063624"/>
                </a:lnTo>
                <a:lnTo>
                  <a:pt x="0" y="976074"/>
                </a:lnTo>
                <a:lnTo>
                  <a:pt x="2661" y="945728"/>
                </a:lnTo>
                <a:cubicBezTo>
                  <a:pt x="96346" y="414527"/>
                  <a:pt x="875424" y="0"/>
                  <a:pt x="1822637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smtClean="0">
              <a:solidFill>
                <a:schemeClr val="tx1"/>
              </a:solidFill>
            </a:endParaRPr>
          </a:p>
          <a:p>
            <a:pPr algn="ctr"/>
            <a:r>
              <a:rPr lang="en-GB" sz="2000" b="1" dirty="0" smtClean="0">
                <a:solidFill>
                  <a:schemeClr val="tx1"/>
                </a:solidFill>
              </a:rPr>
              <a:t>Electrolyte</a:t>
            </a:r>
          </a:p>
        </p:txBody>
      </p:sp>
      <p:sp>
        <p:nvSpPr>
          <p:cNvPr id="29" name="Rectangle 28"/>
          <p:cNvSpPr>
            <a:spLocks noChangeAspect="1"/>
          </p:cNvSpPr>
          <p:nvPr/>
        </p:nvSpPr>
        <p:spPr>
          <a:xfrm>
            <a:off x="6104623" y="3013617"/>
            <a:ext cx="539775" cy="139063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2000" b="1" dirty="0" smtClean="0"/>
              <a:t>Gate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739742" y="997393"/>
            <a:ext cx="103691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11108894" y="997393"/>
            <a:ext cx="0" cy="57455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739742" y="997393"/>
            <a:ext cx="0" cy="57332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739742" y="6730649"/>
            <a:ext cx="10369152" cy="1225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>
            <a:spLocks noChangeAspect="1"/>
          </p:cNvSpPr>
          <p:nvPr/>
        </p:nvSpPr>
        <p:spPr>
          <a:xfrm>
            <a:off x="1886688" y="2737088"/>
            <a:ext cx="3658843" cy="1052123"/>
          </a:xfrm>
          <a:custGeom>
            <a:avLst/>
            <a:gdLst>
              <a:gd name="connsiteX0" fmla="*/ 2082526 w 3658843"/>
              <a:gd name="connsiteY0" fmla="*/ 0 h 1052123"/>
              <a:gd name="connsiteX1" fmla="*/ 2195400 w 3658843"/>
              <a:gd name="connsiteY1" fmla="*/ 9901 h 1052123"/>
              <a:gd name="connsiteX2" fmla="*/ 3658843 w 3658843"/>
              <a:gd name="connsiteY2" fmla="*/ 1041935 h 1052123"/>
              <a:gd name="connsiteX3" fmla="*/ 3657948 w 3658843"/>
              <a:gd name="connsiteY3" fmla="*/ 1052123 h 1052123"/>
              <a:gd name="connsiteX4" fmla="*/ 0 w 3658843"/>
              <a:gd name="connsiteY4" fmla="*/ 1052123 h 1052123"/>
              <a:gd name="connsiteX5" fmla="*/ 0 w 3658843"/>
              <a:gd name="connsiteY5" fmla="*/ 964573 h 1052123"/>
              <a:gd name="connsiteX6" fmla="*/ 2666 w 3658843"/>
              <a:gd name="connsiteY6" fmla="*/ 934227 h 1052123"/>
              <a:gd name="connsiteX7" fmla="*/ 1479067 w 3658843"/>
              <a:gd name="connsiteY7" fmla="*/ 7348 h 1052123"/>
              <a:gd name="connsiteX8" fmla="*/ 1542751 w 3658843"/>
              <a:gd name="connsiteY8" fmla="*/ 2114 h 1052123"/>
              <a:gd name="connsiteX9" fmla="*/ 1542751 w 3658843"/>
              <a:gd name="connsiteY9" fmla="*/ 296140 h 1052123"/>
              <a:gd name="connsiteX10" fmla="*/ 2082526 w 3658843"/>
              <a:gd name="connsiteY10" fmla="*/ 296140 h 1052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658843" h="1052123">
                <a:moveTo>
                  <a:pt x="2082526" y="0"/>
                </a:moveTo>
                <a:lnTo>
                  <a:pt x="2195400" y="9901"/>
                </a:lnTo>
                <a:cubicBezTo>
                  <a:pt x="3030585" y="108130"/>
                  <a:pt x="3658843" y="532863"/>
                  <a:pt x="3658843" y="1041935"/>
                </a:cubicBezTo>
                <a:lnTo>
                  <a:pt x="3657948" y="1052123"/>
                </a:lnTo>
                <a:lnTo>
                  <a:pt x="0" y="1052123"/>
                </a:lnTo>
                <a:lnTo>
                  <a:pt x="0" y="964573"/>
                </a:lnTo>
                <a:lnTo>
                  <a:pt x="2666" y="934227"/>
                </a:lnTo>
                <a:cubicBezTo>
                  <a:pt x="84793" y="469426"/>
                  <a:pt x="692648" y="93954"/>
                  <a:pt x="1479067" y="7348"/>
                </a:cubicBezTo>
                <a:lnTo>
                  <a:pt x="1542751" y="2114"/>
                </a:lnTo>
                <a:lnTo>
                  <a:pt x="1542751" y="296140"/>
                </a:lnTo>
                <a:lnTo>
                  <a:pt x="2082526" y="296140"/>
                </a:lnTo>
                <a:close/>
              </a:path>
            </a:pathLst>
          </a:custGeom>
          <a:solidFill>
            <a:srgbClr val="F39CA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2000" b="1" dirty="0" smtClean="0">
              <a:solidFill>
                <a:schemeClr val="tx1"/>
              </a:solidFill>
            </a:endParaRPr>
          </a:p>
          <a:p>
            <a:pPr algn="ctr"/>
            <a:r>
              <a:rPr lang="en-GB" sz="2000" b="1" dirty="0" smtClean="0">
                <a:solidFill>
                  <a:schemeClr val="tx1"/>
                </a:solidFill>
              </a:rPr>
              <a:t>Electrolyte + </a:t>
            </a:r>
            <a:r>
              <a:rPr lang="en-GB" sz="2000" b="1" dirty="0" err="1" smtClean="0">
                <a:solidFill>
                  <a:schemeClr val="tx1"/>
                </a:solidFill>
              </a:rPr>
              <a:t>GOx</a:t>
            </a:r>
            <a:endParaRPr lang="en-GB" sz="2000" b="1" dirty="0" smtClean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413599" y="2708920"/>
            <a:ext cx="576064" cy="34188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cxnSp>
        <p:nvCxnSpPr>
          <p:cNvPr id="41" name="Straight Connector 40"/>
          <p:cNvCxnSpPr>
            <a:stCxn id="39" idx="8"/>
            <a:endCxn id="39" idx="9"/>
          </p:cNvCxnSpPr>
          <p:nvPr/>
        </p:nvCxnSpPr>
        <p:spPr>
          <a:xfrm>
            <a:off x="3429439" y="2739202"/>
            <a:ext cx="0" cy="2940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endCxn id="39" idx="10"/>
          </p:cNvCxnSpPr>
          <p:nvPr/>
        </p:nvCxnSpPr>
        <p:spPr>
          <a:xfrm>
            <a:off x="3429439" y="3033228"/>
            <a:ext cx="5397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39" idx="0"/>
          </p:cNvCxnSpPr>
          <p:nvPr/>
        </p:nvCxnSpPr>
        <p:spPr>
          <a:xfrm>
            <a:off x="3969214" y="2737088"/>
            <a:ext cx="0" cy="2961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>
            <a:spLocks noChangeAspect="1"/>
          </p:cNvSpPr>
          <p:nvPr/>
        </p:nvSpPr>
        <p:spPr>
          <a:xfrm>
            <a:off x="7148455" y="3372382"/>
            <a:ext cx="3661954" cy="241297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smtClean="0"/>
              <a:t>Pure PEDOT:PSS</a:t>
            </a:r>
          </a:p>
        </p:txBody>
      </p:sp>
    </p:spTree>
    <p:extLst>
      <p:ext uri="{BB962C8B-B14F-4D97-AF65-F5344CB8AC3E}">
        <p14:creationId xmlns:p14="http://schemas.microsoft.com/office/powerpoint/2010/main" val="1919654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spect="1"/>
          </p:cNvSpPr>
          <p:nvPr/>
        </p:nvSpPr>
        <p:spPr>
          <a:xfrm>
            <a:off x="3332031" y="5677913"/>
            <a:ext cx="6120679" cy="504057"/>
          </a:xfrm>
          <a:prstGeom prst="rect">
            <a:avLst/>
          </a:prstGeom>
          <a:solidFill>
            <a:srgbClr val="43A42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smtClean="0"/>
              <a:t>Substrate</a:t>
            </a:r>
          </a:p>
        </p:txBody>
      </p:sp>
      <p:sp>
        <p:nvSpPr>
          <p:cNvPr id="6" name="Rectangle 5"/>
          <p:cNvSpPr>
            <a:spLocks noChangeAspect="1"/>
          </p:cNvSpPr>
          <p:nvPr/>
        </p:nvSpPr>
        <p:spPr>
          <a:xfrm>
            <a:off x="3332030" y="5132391"/>
            <a:ext cx="1224136" cy="545522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chemeClr val="tx1"/>
                </a:solidFill>
              </a:rPr>
              <a:t>Source</a:t>
            </a:r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8218120" y="5132391"/>
            <a:ext cx="1234589" cy="545522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chemeClr val="tx1"/>
                </a:solidFill>
              </a:rPr>
              <a:t>Drain</a:t>
            </a:r>
          </a:p>
        </p:txBody>
      </p:sp>
      <p:sp>
        <p:nvSpPr>
          <p:cNvPr id="8" name="Rectangle 7"/>
          <p:cNvSpPr>
            <a:spLocks noChangeAspect="1"/>
          </p:cNvSpPr>
          <p:nvPr/>
        </p:nvSpPr>
        <p:spPr>
          <a:xfrm>
            <a:off x="4556165" y="5419966"/>
            <a:ext cx="3661954" cy="241297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err="1" smtClean="0"/>
              <a:t>mPEDOT:PSS</a:t>
            </a:r>
            <a:endParaRPr lang="en-GB" sz="2000" b="1" dirty="0" smtClean="0"/>
          </a:p>
        </p:txBody>
      </p:sp>
      <p:cxnSp>
        <p:nvCxnSpPr>
          <p:cNvPr id="11" name="Straight Connector 10"/>
          <p:cNvCxnSpPr>
            <a:cxnSpLocks noChangeAspect="1"/>
            <a:stCxn id="29" idx="0"/>
          </p:cNvCxnSpPr>
          <p:nvPr/>
        </p:nvCxnSpPr>
        <p:spPr>
          <a:xfrm flipH="1" flipV="1">
            <a:off x="6214487" y="714505"/>
            <a:ext cx="887" cy="7200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cxnSpLocks noChangeAspect="1"/>
          </p:cNvCxnSpPr>
          <p:nvPr/>
        </p:nvCxnSpPr>
        <p:spPr>
          <a:xfrm>
            <a:off x="10461630" y="5389881"/>
            <a:ext cx="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>
            <a:spLocks noChangeAspect="1"/>
          </p:cNvSpPr>
          <p:nvPr/>
        </p:nvSpPr>
        <p:spPr>
          <a:xfrm>
            <a:off x="5591944" y="3150401"/>
            <a:ext cx="3658843" cy="1063624"/>
          </a:xfrm>
          <a:custGeom>
            <a:avLst/>
            <a:gdLst>
              <a:gd name="connsiteX0" fmla="*/ 1822637 w 3652058"/>
              <a:gd name="connsiteY0" fmla="*/ 0 h 1063624"/>
              <a:gd name="connsiteX1" fmla="*/ 3652058 w 3652058"/>
              <a:gd name="connsiteY1" fmla="*/ 1053436 h 1063624"/>
              <a:gd name="connsiteX2" fmla="*/ 3651165 w 3652058"/>
              <a:gd name="connsiteY2" fmla="*/ 1063624 h 1063624"/>
              <a:gd name="connsiteX3" fmla="*/ 0 w 3652058"/>
              <a:gd name="connsiteY3" fmla="*/ 1063624 h 1063624"/>
              <a:gd name="connsiteX4" fmla="*/ 0 w 3652058"/>
              <a:gd name="connsiteY4" fmla="*/ 976074 h 1063624"/>
              <a:gd name="connsiteX5" fmla="*/ 2661 w 3652058"/>
              <a:gd name="connsiteY5" fmla="*/ 945728 h 1063624"/>
              <a:gd name="connsiteX6" fmla="*/ 1822637 w 3652058"/>
              <a:gd name="connsiteY6" fmla="*/ 0 h 1063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52058" h="1063624">
                <a:moveTo>
                  <a:pt x="1822637" y="0"/>
                </a:moveTo>
                <a:cubicBezTo>
                  <a:pt x="2832998" y="0"/>
                  <a:pt x="3652058" y="471639"/>
                  <a:pt x="3652058" y="1053436"/>
                </a:cubicBezTo>
                <a:lnTo>
                  <a:pt x="3651165" y="1063624"/>
                </a:lnTo>
                <a:lnTo>
                  <a:pt x="0" y="1063624"/>
                </a:lnTo>
                <a:lnTo>
                  <a:pt x="0" y="976074"/>
                </a:lnTo>
                <a:lnTo>
                  <a:pt x="2661" y="945728"/>
                </a:lnTo>
                <a:cubicBezTo>
                  <a:pt x="96346" y="414527"/>
                  <a:pt x="875424" y="0"/>
                  <a:pt x="1822637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smtClean="0">
              <a:solidFill>
                <a:schemeClr val="tx1"/>
              </a:solidFill>
            </a:endParaRPr>
          </a:p>
          <a:p>
            <a:pPr algn="ctr"/>
            <a:r>
              <a:rPr lang="en-GB" sz="2000" b="1" dirty="0" smtClean="0">
                <a:solidFill>
                  <a:schemeClr val="tx1"/>
                </a:solidFill>
              </a:rPr>
              <a:t>Electrolyte</a:t>
            </a:r>
          </a:p>
        </p:txBody>
      </p:sp>
      <p:sp>
        <p:nvSpPr>
          <p:cNvPr id="29" name="Rectangle 28"/>
          <p:cNvSpPr>
            <a:spLocks noChangeAspect="1"/>
          </p:cNvSpPr>
          <p:nvPr/>
        </p:nvSpPr>
        <p:spPr>
          <a:xfrm>
            <a:off x="5945486" y="1434578"/>
            <a:ext cx="539775" cy="139063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2000" b="1" dirty="0" smtClean="0"/>
              <a:t>Gate</a:t>
            </a:r>
          </a:p>
        </p:txBody>
      </p:sp>
      <p:sp>
        <p:nvSpPr>
          <p:cNvPr id="50" name="Rectangle 49"/>
          <p:cNvSpPr>
            <a:spLocks noChangeAspect="1"/>
          </p:cNvSpPr>
          <p:nvPr/>
        </p:nvSpPr>
        <p:spPr>
          <a:xfrm>
            <a:off x="4556165" y="5169625"/>
            <a:ext cx="3661954" cy="241297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smtClean="0"/>
              <a:t>Pure PEDOT:PSS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4" y="908720"/>
            <a:ext cx="2808312" cy="57606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chemeClr val="tx1"/>
                </a:solidFill>
              </a:rPr>
              <a:t>GDH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4" y="1484784"/>
            <a:ext cx="2808312" cy="5760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sp>
        <p:nvSpPr>
          <p:cNvPr id="14" name="Rectangle 13"/>
          <p:cNvSpPr/>
          <p:nvPr/>
        </p:nvSpPr>
        <p:spPr>
          <a:xfrm>
            <a:off x="333754" y="1474118"/>
            <a:ext cx="2808312" cy="57606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smtClean="0"/>
              <a:t>Pure PEDOT:PSS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4" y="2039516"/>
            <a:ext cx="2808312" cy="576064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chemeClr val="tx1"/>
                </a:solidFill>
              </a:rPr>
              <a:t>Au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2166" y="2828062"/>
            <a:ext cx="2808312" cy="57606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chemeClr val="tx1"/>
                </a:solidFill>
              </a:rPr>
              <a:t>GDH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2166" y="3404126"/>
            <a:ext cx="2808312" cy="5760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 smtClean="0"/>
          </a:p>
        </p:txBody>
      </p:sp>
      <p:sp>
        <p:nvSpPr>
          <p:cNvPr id="18" name="Rectangle 17"/>
          <p:cNvSpPr/>
          <p:nvPr/>
        </p:nvSpPr>
        <p:spPr>
          <a:xfrm>
            <a:off x="332166" y="3393460"/>
            <a:ext cx="2808312" cy="576064"/>
          </a:xfrm>
          <a:prstGeom prst="rect">
            <a:avLst/>
          </a:prstGeom>
          <a:solidFill>
            <a:srgbClr val="4E80C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err="1" smtClean="0">
                <a:solidFill>
                  <a:schemeClr val="bg1"/>
                </a:solidFill>
              </a:rPr>
              <a:t>mPEDOT:PSS</a:t>
            </a:r>
            <a:endParaRPr lang="en-GB" sz="2000" b="1" dirty="0" smtClean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2166" y="3958858"/>
            <a:ext cx="2808312" cy="576064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chemeClr val="tx1"/>
                </a:solidFill>
              </a:rPr>
              <a:t>Au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2166" y="4801622"/>
            <a:ext cx="2808312" cy="57606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chemeClr val="tx1"/>
                </a:solidFill>
              </a:rPr>
              <a:t>GDH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2166" y="5918716"/>
            <a:ext cx="2808312" cy="576064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chemeClr val="tx1"/>
                </a:solidFill>
              </a:rPr>
              <a:t>Au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2166" y="5656210"/>
            <a:ext cx="2808312" cy="253370"/>
          </a:xfrm>
          <a:prstGeom prst="rect">
            <a:avLst/>
          </a:prstGeom>
          <a:solidFill>
            <a:srgbClr val="4E80C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err="1" smtClean="0"/>
              <a:t>mPEDOT:PSS</a:t>
            </a:r>
            <a:endParaRPr lang="en-GB" sz="2000" b="1" dirty="0" smtClean="0"/>
          </a:p>
        </p:txBody>
      </p:sp>
      <p:sp>
        <p:nvSpPr>
          <p:cNvPr id="24" name="Rectangle 23"/>
          <p:cNvSpPr/>
          <p:nvPr/>
        </p:nvSpPr>
        <p:spPr>
          <a:xfrm>
            <a:off x="332166" y="5382254"/>
            <a:ext cx="2808312" cy="2648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chemeClr val="bg1"/>
                </a:solidFill>
              </a:rPr>
              <a:t>Pure PEDOT:PSS</a:t>
            </a:r>
          </a:p>
        </p:txBody>
      </p:sp>
      <p:sp>
        <p:nvSpPr>
          <p:cNvPr id="25" name="TextBox 24"/>
          <p:cNvSpPr txBox="1"/>
          <p:nvPr/>
        </p:nvSpPr>
        <p:spPr>
          <a:xfrm flipH="1">
            <a:off x="9718" y="1556762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000" b="1" dirty="0" smtClean="0"/>
              <a:t>a)</a:t>
            </a:r>
          </a:p>
        </p:txBody>
      </p:sp>
      <p:sp>
        <p:nvSpPr>
          <p:cNvPr id="26" name="TextBox 25"/>
          <p:cNvSpPr txBox="1"/>
          <p:nvPr/>
        </p:nvSpPr>
        <p:spPr>
          <a:xfrm flipH="1">
            <a:off x="8130" y="2818926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000" b="1" dirty="0"/>
              <a:t>b</a:t>
            </a:r>
            <a:r>
              <a:rPr lang="en-GB" sz="2000" b="1" dirty="0" smtClean="0"/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 flipH="1">
            <a:off x="8130" y="5422984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000" b="1" dirty="0"/>
              <a:t>c</a:t>
            </a:r>
            <a:r>
              <a:rPr lang="en-GB" sz="2000" b="1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63816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xmlns="" id="{A2551FAD-2F60-4DD6-9204-3C60F56137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44423" y="413303"/>
            <a:ext cx="2313978" cy="819453"/>
          </a:xfrm>
        </p:spPr>
        <p:txBody>
          <a:bodyPr/>
          <a:lstStyle/>
          <a:p>
            <a:r>
              <a:rPr lang="de-DE" dirty="0"/>
              <a:t>Universität Bremen</a:t>
            </a:r>
          </a:p>
          <a:p>
            <a:r>
              <a:rPr lang="de-DE" dirty="0"/>
              <a:t>IMSAS </a:t>
            </a:r>
          </a:p>
          <a:p>
            <a:r>
              <a:rPr lang="en-GB" sz="1400" dirty="0"/>
              <a:t>Institute for Microsensors, </a:t>
            </a:r>
          </a:p>
          <a:p>
            <a:r>
              <a:rPr lang="en-GB" sz="1400" dirty="0"/>
              <a:t>-actuators and -systems</a:t>
            </a:r>
            <a:endParaRPr lang="de-DE" sz="1400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xmlns="" id="{AA2F27A8-B409-4DCC-BFA0-1392BD04DE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644423" y="1317273"/>
            <a:ext cx="2313978" cy="699951"/>
          </a:xfrm>
        </p:spPr>
        <p:txBody>
          <a:bodyPr/>
          <a:lstStyle/>
          <a:p>
            <a:r>
              <a:rPr lang="de-DE" b="1" dirty="0"/>
              <a:t>Faculty 01</a:t>
            </a:r>
          </a:p>
          <a:p>
            <a:r>
              <a:rPr lang="en-GB" dirty="0"/>
              <a:t>Physics / Electrical Engineering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xmlns="" id="{82186A16-B394-48EE-ADF7-7D5341A42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7237" y="2365928"/>
            <a:ext cx="9143999" cy="1351104"/>
          </a:xfrm>
        </p:spPr>
        <p:txBody>
          <a:bodyPr/>
          <a:lstStyle/>
          <a:p>
            <a:r>
              <a:rPr lang="de-DE" sz="4000" dirty="0"/>
              <a:t>OECT </a:t>
            </a:r>
            <a:r>
              <a:rPr lang="de-DE" sz="4000" dirty="0" err="1"/>
              <a:t>fabrication</a:t>
            </a:r>
            <a:r>
              <a:rPr lang="de-DE" sz="4000" dirty="0"/>
              <a:t> </a:t>
            </a:r>
            <a:r>
              <a:rPr lang="de-DE" sz="4000" dirty="0" err="1"/>
              <a:t>with</a:t>
            </a:r>
            <a:r>
              <a:rPr lang="de-DE" sz="4000" dirty="0"/>
              <a:t> 3 PI </a:t>
            </a:r>
            <a:r>
              <a:rPr lang="de-DE" sz="4000" dirty="0" err="1"/>
              <a:t>layers</a:t>
            </a:r>
            <a:endParaRPr lang="de-DE" sz="400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xmlns="" id="{309C4298-788C-4DEB-B7FE-12CB45FA66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27238" y="5355020"/>
            <a:ext cx="5076825" cy="1055663"/>
          </a:xfrm>
        </p:spPr>
        <p:txBody>
          <a:bodyPr/>
          <a:lstStyle/>
          <a:p>
            <a:r>
              <a:rPr lang="de-DE" dirty="0"/>
              <a:t>Henrique F. P. Barbosa</a:t>
            </a:r>
          </a:p>
          <a:p>
            <a:r>
              <a:rPr lang="de-DE" dirty="0"/>
              <a:t>Bremen 08.01.2024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6AA9ADB-B54F-41F8-BB51-5E313246A6F8}"/>
              </a:ext>
            </a:extLst>
          </p:cNvPr>
          <p:cNvSpPr/>
          <p:nvPr/>
        </p:nvSpPr>
        <p:spPr>
          <a:xfrm>
            <a:off x="7536160" y="5661248"/>
            <a:ext cx="3744416" cy="10556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dirty="0" err="1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xmlns="" id="{A587D190-6249-47AC-8EEB-4D19DA344A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aa-ET" dirty="0"/>
          </a:p>
        </p:txBody>
      </p:sp>
    </p:spTree>
    <p:extLst>
      <p:ext uri="{BB962C8B-B14F-4D97-AF65-F5344CB8AC3E}">
        <p14:creationId xmlns:p14="http://schemas.microsoft.com/office/powerpoint/2010/main" val="788497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B70217BF-EBBE-431E-AF7E-D9D92370E1C7}"/>
              </a:ext>
            </a:extLst>
          </p:cNvPr>
          <p:cNvSpPr/>
          <p:nvPr/>
        </p:nvSpPr>
        <p:spPr>
          <a:xfrm>
            <a:off x="648758" y="3151714"/>
            <a:ext cx="2362200" cy="21166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SiO2</a:t>
            </a:r>
            <a:endParaRPr lang="aa-ET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E49CAA2-68A9-4ACE-930D-E9B69C2922F2}"/>
              </a:ext>
            </a:extLst>
          </p:cNvPr>
          <p:cNvSpPr/>
          <p:nvPr/>
        </p:nvSpPr>
        <p:spPr>
          <a:xfrm>
            <a:off x="3349625" y="3151714"/>
            <a:ext cx="2362200" cy="21166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SiO2</a:t>
            </a:r>
            <a:endParaRPr lang="aa-ET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0EDF109-8859-4522-98EB-B9E005EAC138}"/>
              </a:ext>
            </a:extLst>
          </p:cNvPr>
          <p:cNvSpPr/>
          <p:nvPr/>
        </p:nvSpPr>
        <p:spPr>
          <a:xfrm>
            <a:off x="3349625" y="2956981"/>
            <a:ext cx="2362200" cy="194733"/>
          </a:xfrm>
          <a:prstGeom prst="rect">
            <a:avLst/>
          </a:prstGeom>
          <a:solidFill>
            <a:srgbClr val="FA50E2"/>
          </a:solidFill>
          <a:ln>
            <a:solidFill>
              <a:srgbClr val="FA50E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195E6E5-E92B-4901-8384-D0000723B382}"/>
              </a:ext>
            </a:extLst>
          </p:cNvPr>
          <p:cNvSpPr/>
          <p:nvPr/>
        </p:nvSpPr>
        <p:spPr>
          <a:xfrm>
            <a:off x="3349625" y="2753784"/>
            <a:ext cx="2362200" cy="194733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Au</a:t>
            </a:r>
            <a:endParaRPr lang="aa-ET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B7844462-D687-476C-92EE-FB8233DD0FB7}"/>
              </a:ext>
            </a:extLst>
          </p:cNvPr>
          <p:cNvSpPr/>
          <p:nvPr/>
        </p:nvSpPr>
        <p:spPr>
          <a:xfrm>
            <a:off x="6355292" y="3151714"/>
            <a:ext cx="2362200" cy="21166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SiO2</a:t>
            </a:r>
            <a:endParaRPr lang="aa-ET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CB80F98C-F3BE-4AA6-8E80-994CE8DB4D2E}"/>
              </a:ext>
            </a:extLst>
          </p:cNvPr>
          <p:cNvSpPr/>
          <p:nvPr/>
        </p:nvSpPr>
        <p:spPr>
          <a:xfrm>
            <a:off x="6355292" y="2956981"/>
            <a:ext cx="2362200" cy="194733"/>
          </a:xfrm>
          <a:prstGeom prst="rect">
            <a:avLst/>
          </a:prstGeom>
          <a:solidFill>
            <a:srgbClr val="FA50E2"/>
          </a:solidFill>
          <a:ln>
            <a:solidFill>
              <a:srgbClr val="FA50E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E9235AE-5834-4ED6-B159-22B6EC2E37B9}"/>
              </a:ext>
            </a:extLst>
          </p:cNvPr>
          <p:cNvSpPr/>
          <p:nvPr/>
        </p:nvSpPr>
        <p:spPr>
          <a:xfrm>
            <a:off x="6355292" y="2753784"/>
            <a:ext cx="2362200" cy="194733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Au</a:t>
            </a:r>
            <a:endParaRPr lang="aa-ET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4D2ABE96-EFBA-4F2C-9552-7BBCFC2E9C38}"/>
              </a:ext>
            </a:extLst>
          </p:cNvPr>
          <p:cNvSpPr/>
          <p:nvPr/>
        </p:nvSpPr>
        <p:spPr>
          <a:xfrm>
            <a:off x="6355292" y="2550582"/>
            <a:ext cx="2362200" cy="194733"/>
          </a:xfrm>
          <a:prstGeom prst="rect">
            <a:avLst/>
          </a:prstGeom>
          <a:solidFill>
            <a:srgbClr val="C00000"/>
          </a:solidFill>
          <a:ln>
            <a:solidFill>
              <a:srgbClr val="A8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PR1</a:t>
            </a:r>
            <a:endParaRPr lang="aa-ET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19CE06BD-4EB9-4FCF-BA96-BB43885FA630}"/>
              </a:ext>
            </a:extLst>
          </p:cNvPr>
          <p:cNvSpPr/>
          <p:nvPr/>
        </p:nvSpPr>
        <p:spPr>
          <a:xfrm>
            <a:off x="9208559" y="3151714"/>
            <a:ext cx="2362200" cy="21166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SiO2</a:t>
            </a:r>
            <a:endParaRPr lang="aa-ET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0862AC78-9B70-4B5E-994F-D1D48D5D9003}"/>
              </a:ext>
            </a:extLst>
          </p:cNvPr>
          <p:cNvSpPr/>
          <p:nvPr/>
        </p:nvSpPr>
        <p:spPr>
          <a:xfrm>
            <a:off x="9208559" y="2956981"/>
            <a:ext cx="2362200" cy="194733"/>
          </a:xfrm>
          <a:prstGeom prst="rect">
            <a:avLst/>
          </a:prstGeom>
          <a:solidFill>
            <a:srgbClr val="FA50E2"/>
          </a:solidFill>
          <a:ln>
            <a:solidFill>
              <a:srgbClr val="FA50E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272BE82B-BB2C-4107-9803-6DD982ED085A}"/>
              </a:ext>
            </a:extLst>
          </p:cNvPr>
          <p:cNvSpPr/>
          <p:nvPr/>
        </p:nvSpPr>
        <p:spPr>
          <a:xfrm>
            <a:off x="9208559" y="2753784"/>
            <a:ext cx="2362200" cy="194733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Au</a:t>
            </a:r>
            <a:endParaRPr lang="aa-ET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7CA1898-D11B-4B2C-A8E8-8C0F377E4A00}"/>
              </a:ext>
            </a:extLst>
          </p:cNvPr>
          <p:cNvSpPr/>
          <p:nvPr/>
        </p:nvSpPr>
        <p:spPr>
          <a:xfrm>
            <a:off x="9208559" y="2550582"/>
            <a:ext cx="2362200" cy="194733"/>
          </a:xfrm>
          <a:prstGeom prst="rect">
            <a:avLst/>
          </a:prstGeom>
          <a:solidFill>
            <a:srgbClr val="C00000"/>
          </a:solidFill>
          <a:ln>
            <a:solidFill>
              <a:srgbClr val="A8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PR1</a:t>
            </a:r>
            <a:endParaRPr lang="aa-ET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xmlns="" id="{7D606904-0056-4F77-B478-D1E3C8D99C34}"/>
              </a:ext>
            </a:extLst>
          </p:cNvPr>
          <p:cNvSpPr/>
          <p:nvPr/>
        </p:nvSpPr>
        <p:spPr>
          <a:xfrm>
            <a:off x="546100" y="5776384"/>
            <a:ext cx="2362200" cy="21166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SiO2</a:t>
            </a:r>
            <a:endParaRPr lang="aa-ET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xmlns="" id="{C31FC131-DF63-4108-9EB8-CAA57241F9C8}"/>
              </a:ext>
            </a:extLst>
          </p:cNvPr>
          <p:cNvSpPr/>
          <p:nvPr/>
        </p:nvSpPr>
        <p:spPr>
          <a:xfrm>
            <a:off x="546100" y="5581651"/>
            <a:ext cx="2362200" cy="194733"/>
          </a:xfrm>
          <a:prstGeom prst="rect">
            <a:avLst/>
          </a:prstGeom>
          <a:solidFill>
            <a:srgbClr val="FA50E2"/>
          </a:solidFill>
          <a:ln>
            <a:solidFill>
              <a:srgbClr val="FA50E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xmlns="" id="{3C9FC3EB-198C-4E75-AE43-7DCC9A561A0D}"/>
              </a:ext>
            </a:extLst>
          </p:cNvPr>
          <p:cNvSpPr/>
          <p:nvPr/>
        </p:nvSpPr>
        <p:spPr>
          <a:xfrm>
            <a:off x="546100" y="5378454"/>
            <a:ext cx="2362200" cy="194733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Au</a:t>
            </a:r>
            <a:endParaRPr lang="aa-ET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xmlns="" id="{DF9531EB-FD35-4B06-BF15-3412A2F67570}"/>
              </a:ext>
            </a:extLst>
          </p:cNvPr>
          <p:cNvSpPr/>
          <p:nvPr/>
        </p:nvSpPr>
        <p:spPr>
          <a:xfrm>
            <a:off x="3476623" y="5776384"/>
            <a:ext cx="2362200" cy="21166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SiO2</a:t>
            </a:r>
            <a:endParaRPr lang="aa-ET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xmlns="" id="{9832A10C-45C5-4D00-9175-DD5E48FD340C}"/>
              </a:ext>
            </a:extLst>
          </p:cNvPr>
          <p:cNvSpPr/>
          <p:nvPr/>
        </p:nvSpPr>
        <p:spPr>
          <a:xfrm>
            <a:off x="3476623" y="5581651"/>
            <a:ext cx="2362200" cy="194733"/>
          </a:xfrm>
          <a:prstGeom prst="rect">
            <a:avLst/>
          </a:prstGeom>
          <a:solidFill>
            <a:srgbClr val="FA50E2"/>
          </a:solidFill>
          <a:ln>
            <a:solidFill>
              <a:srgbClr val="FA50E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xmlns="" id="{6504BD32-67BF-4E89-A6F7-08C0F662DEA3}"/>
              </a:ext>
            </a:extLst>
          </p:cNvPr>
          <p:cNvSpPr/>
          <p:nvPr/>
        </p:nvSpPr>
        <p:spPr>
          <a:xfrm>
            <a:off x="3476623" y="5378454"/>
            <a:ext cx="2362200" cy="194733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Au</a:t>
            </a:r>
            <a:endParaRPr lang="aa-ET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xmlns="" id="{70C27DD4-6BBE-4024-87BA-2E6DAF8747FB}"/>
              </a:ext>
            </a:extLst>
          </p:cNvPr>
          <p:cNvSpPr/>
          <p:nvPr/>
        </p:nvSpPr>
        <p:spPr>
          <a:xfrm>
            <a:off x="6383867" y="5767918"/>
            <a:ext cx="2362200" cy="21166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SiO2</a:t>
            </a:r>
            <a:endParaRPr lang="aa-ET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xmlns="" id="{40F77FAC-7097-42A4-AF3B-DFF047444F44}"/>
              </a:ext>
            </a:extLst>
          </p:cNvPr>
          <p:cNvSpPr/>
          <p:nvPr/>
        </p:nvSpPr>
        <p:spPr>
          <a:xfrm>
            <a:off x="6383867" y="5573185"/>
            <a:ext cx="2362200" cy="194733"/>
          </a:xfrm>
          <a:prstGeom prst="rect">
            <a:avLst/>
          </a:prstGeom>
          <a:solidFill>
            <a:srgbClr val="FA50E2"/>
          </a:solidFill>
          <a:ln>
            <a:solidFill>
              <a:srgbClr val="FA50E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xmlns="" id="{9A9D3CCC-5872-4AC8-9F96-98868F059A5A}"/>
              </a:ext>
            </a:extLst>
          </p:cNvPr>
          <p:cNvSpPr/>
          <p:nvPr/>
        </p:nvSpPr>
        <p:spPr>
          <a:xfrm>
            <a:off x="6383867" y="5369988"/>
            <a:ext cx="2362200" cy="194733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Au</a:t>
            </a:r>
            <a:endParaRPr lang="aa-ET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xmlns="" id="{D890514A-8E82-4EE6-8076-AC9A01F52CB0}"/>
              </a:ext>
            </a:extLst>
          </p:cNvPr>
          <p:cNvSpPr/>
          <p:nvPr/>
        </p:nvSpPr>
        <p:spPr>
          <a:xfrm>
            <a:off x="9332385" y="5750980"/>
            <a:ext cx="2362200" cy="21166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SiO2</a:t>
            </a:r>
            <a:endParaRPr lang="aa-ET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xmlns="" id="{6754AE5C-BB12-42DA-AAAA-DCD0868DE35D}"/>
              </a:ext>
            </a:extLst>
          </p:cNvPr>
          <p:cNvSpPr/>
          <p:nvPr/>
        </p:nvSpPr>
        <p:spPr>
          <a:xfrm>
            <a:off x="9332385" y="5556247"/>
            <a:ext cx="2362200" cy="194733"/>
          </a:xfrm>
          <a:prstGeom prst="rect">
            <a:avLst/>
          </a:prstGeom>
          <a:solidFill>
            <a:srgbClr val="FA50E2"/>
          </a:solidFill>
          <a:ln>
            <a:solidFill>
              <a:srgbClr val="FA50E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xmlns="" id="{593A0771-3D42-4B53-9D44-0EBA24D2EFA3}"/>
              </a:ext>
            </a:extLst>
          </p:cNvPr>
          <p:cNvSpPr/>
          <p:nvPr/>
        </p:nvSpPr>
        <p:spPr>
          <a:xfrm>
            <a:off x="9713384" y="5353046"/>
            <a:ext cx="169334" cy="186266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xmlns="" id="{9A25D37C-7E7F-4862-B481-4560FC606E67}"/>
              </a:ext>
            </a:extLst>
          </p:cNvPr>
          <p:cNvSpPr/>
          <p:nvPr/>
        </p:nvSpPr>
        <p:spPr>
          <a:xfrm>
            <a:off x="10932584" y="5353050"/>
            <a:ext cx="579966" cy="186262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xmlns="" id="{BBD66F33-61B8-47B0-B7ED-5F59288351F5}"/>
              </a:ext>
            </a:extLst>
          </p:cNvPr>
          <p:cNvGrpSpPr/>
          <p:nvPr/>
        </p:nvGrpSpPr>
        <p:grpSpPr>
          <a:xfrm>
            <a:off x="9932459" y="1241354"/>
            <a:ext cx="914400" cy="914400"/>
            <a:chOff x="9961034" y="97369"/>
            <a:chExt cx="914400" cy="914400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xmlns="" id="{B86DAF13-BCDB-45A0-973B-BC99D173A3ED}"/>
                </a:ext>
              </a:extLst>
            </p:cNvPr>
            <p:cNvGrpSpPr/>
            <p:nvPr/>
          </p:nvGrpSpPr>
          <p:grpSpPr>
            <a:xfrm>
              <a:off x="9961034" y="97369"/>
              <a:ext cx="914400" cy="914400"/>
              <a:chOff x="9961034" y="97369"/>
              <a:chExt cx="914400" cy="914400"/>
            </a:xfrm>
          </p:grpSpPr>
          <p:pic>
            <p:nvPicPr>
              <p:cNvPr id="36" name="Graphic 35" descr="Lightbulb and gear">
                <a:extLst>
                  <a:ext uri="{FF2B5EF4-FFF2-40B4-BE49-F238E27FC236}">
                    <a16:creationId xmlns:a16="http://schemas.microsoft.com/office/drawing/2014/main" xmlns="" id="{4EEC9CA1-EF85-48AB-8164-659998B6A8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p:blipFill>
            <p:spPr>
              <a:xfrm rot="10800000">
                <a:off x="9961034" y="97369"/>
                <a:ext cx="914400" cy="914400"/>
              </a:xfrm>
              <a:prstGeom prst="rect">
                <a:avLst/>
              </a:prstGeom>
            </p:spPr>
          </p:pic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xmlns="" id="{B3E76754-DACB-4661-A737-2F3225AC6D29}"/>
                  </a:ext>
                </a:extLst>
              </p:cNvPr>
              <p:cNvSpPr/>
              <p:nvPr/>
            </p:nvSpPr>
            <p:spPr>
              <a:xfrm>
                <a:off x="10308168" y="454024"/>
                <a:ext cx="262467" cy="262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aa-ET" dirty="0"/>
              </a:p>
            </p:txBody>
          </p:sp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xmlns="" id="{FD5F31FA-9650-4E26-813D-CF1BFA29386F}"/>
                </a:ext>
              </a:extLst>
            </p:cNvPr>
            <p:cNvSpPr txBox="1"/>
            <p:nvPr/>
          </p:nvSpPr>
          <p:spPr>
            <a:xfrm>
              <a:off x="10167407" y="398506"/>
              <a:ext cx="5656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rgbClr val="00B0F0"/>
                  </a:solidFill>
                </a:rPr>
                <a:t>MA</a:t>
              </a:r>
              <a:endParaRPr lang="aa-ET" dirty="0">
                <a:solidFill>
                  <a:srgbClr val="00B0F0"/>
                </a:solidFill>
              </a:endParaRPr>
            </a:p>
          </p:txBody>
        </p:sp>
      </p:grpSp>
      <p:sp>
        <p:nvSpPr>
          <p:cNvPr id="157" name="Rectangle 156">
            <a:extLst>
              <a:ext uri="{FF2B5EF4-FFF2-40B4-BE49-F238E27FC236}">
                <a16:creationId xmlns:a16="http://schemas.microsoft.com/office/drawing/2014/main" xmlns="" id="{D6E67907-DCAC-44D5-A7DB-526D8EAF6AB3}"/>
              </a:ext>
            </a:extLst>
          </p:cNvPr>
          <p:cNvSpPr/>
          <p:nvPr/>
        </p:nvSpPr>
        <p:spPr>
          <a:xfrm>
            <a:off x="10812990" y="2359689"/>
            <a:ext cx="571501" cy="1862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Mask</a:t>
            </a:r>
            <a:endParaRPr lang="aa-ET" sz="1200" dirty="0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xmlns="" id="{E3DADF5F-66CF-477E-A247-FFEBEDA716DD}"/>
              </a:ext>
            </a:extLst>
          </p:cNvPr>
          <p:cNvSpPr/>
          <p:nvPr/>
        </p:nvSpPr>
        <p:spPr>
          <a:xfrm>
            <a:off x="9581090" y="2379329"/>
            <a:ext cx="169335" cy="16759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xmlns="" id="{C6D22C34-2B16-4547-8D11-F82F5850C6D0}"/>
              </a:ext>
            </a:extLst>
          </p:cNvPr>
          <p:cNvSpPr/>
          <p:nvPr/>
        </p:nvSpPr>
        <p:spPr>
          <a:xfrm>
            <a:off x="546099" y="5179354"/>
            <a:ext cx="2362200" cy="194733"/>
          </a:xfrm>
          <a:prstGeom prst="rect">
            <a:avLst/>
          </a:prstGeom>
          <a:solidFill>
            <a:srgbClr val="320000"/>
          </a:solidFill>
          <a:ln>
            <a:solidFill>
              <a:srgbClr val="32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PR1</a:t>
            </a:r>
            <a:endParaRPr lang="aa-ET" dirty="0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xmlns="" id="{D7EF9DB8-63CA-4103-8CC2-36A08B6FCAEF}"/>
              </a:ext>
            </a:extLst>
          </p:cNvPr>
          <p:cNvSpPr/>
          <p:nvPr/>
        </p:nvSpPr>
        <p:spPr>
          <a:xfrm>
            <a:off x="2150531" y="5176214"/>
            <a:ext cx="571501" cy="203196"/>
          </a:xfrm>
          <a:prstGeom prst="rect">
            <a:avLst/>
          </a:prstGeom>
          <a:solidFill>
            <a:srgbClr val="C00000"/>
          </a:solidFill>
          <a:ln>
            <a:solidFill>
              <a:srgbClr val="A8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xmlns="" id="{50354A6F-F6A6-4401-B148-00ECF5C490CA}"/>
              </a:ext>
            </a:extLst>
          </p:cNvPr>
          <p:cNvSpPr/>
          <p:nvPr/>
        </p:nvSpPr>
        <p:spPr>
          <a:xfrm>
            <a:off x="927100" y="5176472"/>
            <a:ext cx="169334" cy="203196"/>
          </a:xfrm>
          <a:prstGeom prst="rect">
            <a:avLst/>
          </a:prstGeom>
          <a:solidFill>
            <a:srgbClr val="C00000"/>
          </a:solidFill>
          <a:ln>
            <a:solidFill>
              <a:srgbClr val="A8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xmlns="" id="{D3BAE97A-0CD1-4EC0-8454-E2FB97EAC05D}"/>
              </a:ext>
            </a:extLst>
          </p:cNvPr>
          <p:cNvSpPr/>
          <p:nvPr/>
        </p:nvSpPr>
        <p:spPr>
          <a:xfrm>
            <a:off x="2150531" y="4975089"/>
            <a:ext cx="571501" cy="1862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Mask</a:t>
            </a:r>
            <a:endParaRPr lang="aa-ET" sz="1200" dirty="0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xmlns="" id="{ED2CB41B-9DBD-4DDC-AFB5-F6041A2B0822}"/>
              </a:ext>
            </a:extLst>
          </p:cNvPr>
          <p:cNvSpPr/>
          <p:nvPr/>
        </p:nvSpPr>
        <p:spPr>
          <a:xfrm>
            <a:off x="918631" y="4994729"/>
            <a:ext cx="169335" cy="16759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xmlns="" id="{8580547F-DD4C-49DF-8709-4C0BB7FB06F3}"/>
              </a:ext>
            </a:extLst>
          </p:cNvPr>
          <p:cNvSpPr/>
          <p:nvPr/>
        </p:nvSpPr>
        <p:spPr>
          <a:xfrm>
            <a:off x="3476623" y="5178673"/>
            <a:ext cx="2362200" cy="194733"/>
          </a:xfrm>
          <a:prstGeom prst="rect">
            <a:avLst/>
          </a:prstGeom>
          <a:solidFill>
            <a:srgbClr val="320000"/>
          </a:solidFill>
          <a:ln>
            <a:solidFill>
              <a:srgbClr val="32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PR1</a:t>
            </a:r>
            <a:endParaRPr lang="aa-ET" dirty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xmlns="" id="{3C1103DF-8E9B-4A61-9C92-C759D65EF9FC}"/>
              </a:ext>
            </a:extLst>
          </p:cNvPr>
          <p:cNvSpPr/>
          <p:nvPr/>
        </p:nvSpPr>
        <p:spPr>
          <a:xfrm>
            <a:off x="5081055" y="5175533"/>
            <a:ext cx="571501" cy="203196"/>
          </a:xfrm>
          <a:prstGeom prst="rect">
            <a:avLst/>
          </a:prstGeom>
          <a:solidFill>
            <a:srgbClr val="C00000"/>
          </a:solidFill>
          <a:ln>
            <a:solidFill>
              <a:srgbClr val="A8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xmlns="" id="{ABBD8881-DF16-4BE1-9E9F-4CCE1135E73E}"/>
              </a:ext>
            </a:extLst>
          </p:cNvPr>
          <p:cNvSpPr/>
          <p:nvPr/>
        </p:nvSpPr>
        <p:spPr>
          <a:xfrm>
            <a:off x="3857624" y="5175791"/>
            <a:ext cx="169334" cy="203196"/>
          </a:xfrm>
          <a:prstGeom prst="rect">
            <a:avLst/>
          </a:prstGeom>
          <a:solidFill>
            <a:srgbClr val="C00000"/>
          </a:solidFill>
          <a:ln>
            <a:solidFill>
              <a:srgbClr val="A8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xmlns="" id="{23705204-8343-489C-977D-02E173F16CB4}"/>
              </a:ext>
            </a:extLst>
          </p:cNvPr>
          <p:cNvSpPr/>
          <p:nvPr/>
        </p:nvSpPr>
        <p:spPr>
          <a:xfrm>
            <a:off x="7909982" y="5166662"/>
            <a:ext cx="571501" cy="203196"/>
          </a:xfrm>
          <a:prstGeom prst="rect">
            <a:avLst/>
          </a:prstGeom>
          <a:solidFill>
            <a:srgbClr val="C00000"/>
          </a:solidFill>
          <a:ln>
            <a:solidFill>
              <a:srgbClr val="A8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xmlns="" id="{44D27CE5-6AE5-437B-B2D0-1B1989C87B70}"/>
              </a:ext>
            </a:extLst>
          </p:cNvPr>
          <p:cNvSpPr/>
          <p:nvPr/>
        </p:nvSpPr>
        <p:spPr>
          <a:xfrm>
            <a:off x="6686551" y="5166920"/>
            <a:ext cx="169334" cy="203196"/>
          </a:xfrm>
          <a:prstGeom prst="rect">
            <a:avLst/>
          </a:prstGeom>
          <a:solidFill>
            <a:srgbClr val="C00000"/>
          </a:solidFill>
          <a:ln>
            <a:solidFill>
              <a:srgbClr val="A8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xmlns="" id="{0BFBE783-67CB-4897-AB6A-FFFCA1EA4D5F}"/>
              </a:ext>
            </a:extLst>
          </p:cNvPr>
          <p:cNvSpPr/>
          <p:nvPr/>
        </p:nvSpPr>
        <p:spPr>
          <a:xfrm>
            <a:off x="10936815" y="5137548"/>
            <a:ext cx="571501" cy="203196"/>
          </a:xfrm>
          <a:prstGeom prst="rect">
            <a:avLst/>
          </a:prstGeom>
          <a:solidFill>
            <a:srgbClr val="C00000"/>
          </a:solidFill>
          <a:ln>
            <a:solidFill>
              <a:srgbClr val="A8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xmlns="" id="{C41F8200-D76A-4F20-B0C7-B9D268AA4E8A}"/>
              </a:ext>
            </a:extLst>
          </p:cNvPr>
          <p:cNvSpPr/>
          <p:nvPr/>
        </p:nvSpPr>
        <p:spPr>
          <a:xfrm>
            <a:off x="9713384" y="5137806"/>
            <a:ext cx="169334" cy="203196"/>
          </a:xfrm>
          <a:prstGeom prst="rect">
            <a:avLst/>
          </a:prstGeom>
          <a:solidFill>
            <a:srgbClr val="C00000"/>
          </a:solidFill>
          <a:ln>
            <a:solidFill>
              <a:srgbClr val="A8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xmlns="" id="{AEB6776E-9E9B-4109-8F81-16E1815F86CE}"/>
              </a:ext>
            </a:extLst>
          </p:cNvPr>
          <p:cNvSpPr txBox="1"/>
          <p:nvPr/>
        </p:nvSpPr>
        <p:spPr>
          <a:xfrm>
            <a:off x="1345141" y="813884"/>
            <a:ext cx="910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Wafer</a:t>
            </a:r>
            <a:endParaRPr lang="aa-ET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xmlns="" id="{EDD864AF-9035-42CC-B087-4FE52A51B1CB}"/>
              </a:ext>
            </a:extLst>
          </p:cNvPr>
          <p:cNvSpPr txBox="1"/>
          <p:nvPr/>
        </p:nvSpPr>
        <p:spPr>
          <a:xfrm>
            <a:off x="3536949" y="801193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Au sputtering over PI</a:t>
            </a:r>
            <a:endParaRPr lang="aa-ET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xmlns="" id="{6CA7C55A-1279-437C-BFFB-8425720DFB56}"/>
              </a:ext>
            </a:extLst>
          </p:cNvPr>
          <p:cNvSpPr txBox="1"/>
          <p:nvPr/>
        </p:nvSpPr>
        <p:spPr>
          <a:xfrm>
            <a:off x="6695018" y="801193"/>
            <a:ext cx="1786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PR1 deposition</a:t>
            </a:r>
            <a:endParaRPr lang="aa-ET" dirty="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xmlns="" id="{5FA05EEC-FC86-4C54-BFDD-405B26D580ED}"/>
              </a:ext>
            </a:extLst>
          </p:cNvPr>
          <p:cNvSpPr txBox="1"/>
          <p:nvPr/>
        </p:nvSpPr>
        <p:spPr>
          <a:xfrm>
            <a:off x="9535584" y="810201"/>
            <a:ext cx="211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  <a:r>
              <a:rPr lang="en-GB" baseline="30000" dirty="0"/>
              <a:t>st</a:t>
            </a:r>
            <a:r>
              <a:rPr lang="en-GB" dirty="0"/>
              <a:t> Mask exposure</a:t>
            </a:r>
            <a:endParaRPr lang="aa-ET" dirty="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xmlns="" id="{FC6BFC17-E5AB-4068-83DE-792EA284C2C0}"/>
              </a:ext>
            </a:extLst>
          </p:cNvPr>
          <p:cNvSpPr txBox="1"/>
          <p:nvPr/>
        </p:nvSpPr>
        <p:spPr>
          <a:xfrm>
            <a:off x="821263" y="3625057"/>
            <a:ext cx="2041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Post-1</a:t>
            </a:r>
            <a:r>
              <a:rPr lang="en-GB" baseline="30000" dirty="0"/>
              <a:t>st</a:t>
            </a:r>
            <a:r>
              <a:rPr lang="en-GB" dirty="0"/>
              <a:t> exposure</a:t>
            </a:r>
            <a:endParaRPr lang="aa-ET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xmlns="" id="{EF0546E6-38F8-4E65-AA42-CC458C489D39}"/>
              </a:ext>
            </a:extLst>
          </p:cNvPr>
          <p:cNvSpPr txBox="1"/>
          <p:nvPr/>
        </p:nvSpPr>
        <p:spPr>
          <a:xfrm>
            <a:off x="3803649" y="3625057"/>
            <a:ext cx="190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Mask removal</a:t>
            </a:r>
            <a:endParaRPr lang="aa-ET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xmlns="" id="{ABD0D2A8-C4B1-4938-A647-0B3796BDC82F}"/>
              </a:ext>
            </a:extLst>
          </p:cNvPr>
          <p:cNvSpPr txBox="1"/>
          <p:nvPr/>
        </p:nvSpPr>
        <p:spPr>
          <a:xfrm>
            <a:off x="6645276" y="3631701"/>
            <a:ext cx="2051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PR1 development</a:t>
            </a:r>
            <a:endParaRPr lang="aa-ET" dirty="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xmlns="" id="{19A38581-CBF6-4925-8075-FBE37187B99B}"/>
              </a:ext>
            </a:extLst>
          </p:cNvPr>
          <p:cNvSpPr txBox="1"/>
          <p:nvPr/>
        </p:nvSpPr>
        <p:spPr>
          <a:xfrm>
            <a:off x="9955744" y="3612125"/>
            <a:ext cx="1324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Au etching</a:t>
            </a:r>
            <a:endParaRPr lang="aa-ET" dirty="0"/>
          </a:p>
        </p:txBody>
      </p:sp>
      <p:sp>
        <p:nvSpPr>
          <p:cNvPr id="183" name="Arrow: Right 182">
            <a:extLst>
              <a:ext uri="{FF2B5EF4-FFF2-40B4-BE49-F238E27FC236}">
                <a16:creationId xmlns:a16="http://schemas.microsoft.com/office/drawing/2014/main" xmlns="" id="{52BC49FB-D405-40D6-9867-19DCF08A6FDE}"/>
              </a:ext>
            </a:extLst>
          </p:cNvPr>
          <p:cNvSpPr/>
          <p:nvPr/>
        </p:nvSpPr>
        <p:spPr>
          <a:xfrm>
            <a:off x="2862792" y="1657317"/>
            <a:ext cx="627593" cy="376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84" name="Arrow: Right 183">
            <a:extLst>
              <a:ext uri="{FF2B5EF4-FFF2-40B4-BE49-F238E27FC236}">
                <a16:creationId xmlns:a16="http://schemas.microsoft.com/office/drawing/2014/main" xmlns="" id="{021F78EE-87EA-4546-9D98-A40268E19335}"/>
              </a:ext>
            </a:extLst>
          </p:cNvPr>
          <p:cNvSpPr/>
          <p:nvPr/>
        </p:nvSpPr>
        <p:spPr>
          <a:xfrm>
            <a:off x="2862791" y="4335998"/>
            <a:ext cx="627593" cy="376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dirty="0"/>
          </a:p>
        </p:txBody>
      </p:sp>
      <p:sp>
        <p:nvSpPr>
          <p:cNvPr id="185" name="Arrow: Right 184">
            <a:extLst>
              <a:ext uri="{FF2B5EF4-FFF2-40B4-BE49-F238E27FC236}">
                <a16:creationId xmlns:a16="http://schemas.microsoft.com/office/drawing/2014/main" xmlns="" id="{3F6AAFC2-356B-48FB-A849-BC261A7E013D}"/>
              </a:ext>
            </a:extLst>
          </p:cNvPr>
          <p:cNvSpPr/>
          <p:nvPr/>
        </p:nvSpPr>
        <p:spPr>
          <a:xfrm>
            <a:off x="5770032" y="1657317"/>
            <a:ext cx="627593" cy="376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86" name="Arrow: Right 185">
            <a:extLst>
              <a:ext uri="{FF2B5EF4-FFF2-40B4-BE49-F238E27FC236}">
                <a16:creationId xmlns:a16="http://schemas.microsoft.com/office/drawing/2014/main" xmlns="" id="{CADC5751-DD04-4066-B8B2-6F44B9A3BFE3}"/>
              </a:ext>
            </a:extLst>
          </p:cNvPr>
          <p:cNvSpPr/>
          <p:nvPr/>
        </p:nvSpPr>
        <p:spPr>
          <a:xfrm>
            <a:off x="8669867" y="1726092"/>
            <a:ext cx="627593" cy="376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87" name="Arrow: Right 186">
            <a:extLst>
              <a:ext uri="{FF2B5EF4-FFF2-40B4-BE49-F238E27FC236}">
                <a16:creationId xmlns:a16="http://schemas.microsoft.com/office/drawing/2014/main" xmlns="" id="{28F3C1F5-817D-42A6-AAB2-051F27E96350}"/>
              </a:ext>
            </a:extLst>
          </p:cNvPr>
          <p:cNvSpPr/>
          <p:nvPr/>
        </p:nvSpPr>
        <p:spPr>
          <a:xfrm>
            <a:off x="5770031" y="4335998"/>
            <a:ext cx="627593" cy="376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dirty="0"/>
          </a:p>
        </p:txBody>
      </p:sp>
      <p:sp>
        <p:nvSpPr>
          <p:cNvPr id="188" name="Arrow: Right 187">
            <a:extLst>
              <a:ext uri="{FF2B5EF4-FFF2-40B4-BE49-F238E27FC236}">
                <a16:creationId xmlns:a16="http://schemas.microsoft.com/office/drawing/2014/main" xmlns="" id="{23BFA286-A95D-45B1-9947-27A9BE426213}"/>
              </a:ext>
            </a:extLst>
          </p:cNvPr>
          <p:cNvSpPr/>
          <p:nvPr/>
        </p:nvSpPr>
        <p:spPr>
          <a:xfrm>
            <a:off x="8669866" y="4331762"/>
            <a:ext cx="627593" cy="376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xmlns="" id="{73C93379-0C6B-4963-8321-8A0BFFDA98FB}"/>
              </a:ext>
            </a:extLst>
          </p:cNvPr>
          <p:cNvSpPr/>
          <p:nvPr/>
        </p:nvSpPr>
        <p:spPr>
          <a:xfrm>
            <a:off x="2567608" y="51963"/>
            <a:ext cx="9217024" cy="8052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dirty="0" err="1"/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xmlns="" id="{9F2360AE-CBE1-4178-855C-E63CDC71D8A7}"/>
              </a:ext>
            </a:extLst>
          </p:cNvPr>
          <p:cNvSpPr/>
          <p:nvPr/>
        </p:nvSpPr>
        <p:spPr>
          <a:xfrm>
            <a:off x="11508316" y="1680841"/>
            <a:ext cx="627593" cy="376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xmlns="" id="{160D335E-F047-4583-9FEB-38CCAB0BCAA1}"/>
              </a:ext>
            </a:extLst>
          </p:cNvPr>
          <p:cNvSpPr/>
          <p:nvPr/>
        </p:nvSpPr>
        <p:spPr>
          <a:xfrm>
            <a:off x="11564407" y="4368797"/>
            <a:ext cx="627593" cy="376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D98AC51B-B1E6-4C14-9DCF-16BBA6F88A8C}"/>
              </a:ext>
            </a:extLst>
          </p:cNvPr>
          <p:cNvSpPr/>
          <p:nvPr/>
        </p:nvSpPr>
        <p:spPr>
          <a:xfrm>
            <a:off x="648758" y="3363381"/>
            <a:ext cx="2362200" cy="24464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</a:t>
            </a:r>
            <a:endParaRPr lang="aa-ET" dirty="0" err="1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xmlns="" id="{0859F8BE-14AA-4222-BB38-908245443986}"/>
              </a:ext>
            </a:extLst>
          </p:cNvPr>
          <p:cNvSpPr/>
          <p:nvPr/>
        </p:nvSpPr>
        <p:spPr>
          <a:xfrm>
            <a:off x="3349625" y="3366263"/>
            <a:ext cx="2362200" cy="24464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</a:t>
            </a:r>
            <a:endParaRPr lang="aa-ET" dirty="0" err="1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xmlns="" id="{CDCC31C7-1BD1-4EDA-90AC-B6445525731E}"/>
              </a:ext>
            </a:extLst>
          </p:cNvPr>
          <p:cNvSpPr/>
          <p:nvPr/>
        </p:nvSpPr>
        <p:spPr>
          <a:xfrm>
            <a:off x="6355292" y="3368016"/>
            <a:ext cx="2362200" cy="24464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</a:t>
            </a:r>
            <a:endParaRPr lang="aa-ET" dirty="0" err="1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xmlns="" id="{70D4034D-51E5-4220-B88C-7D3D65D5C4BD}"/>
              </a:ext>
            </a:extLst>
          </p:cNvPr>
          <p:cNvSpPr/>
          <p:nvPr/>
        </p:nvSpPr>
        <p:spPr>
          <a:xfrm>
            <a:off x="9208559" y="3360551"/>
            <a:ext cx="2362200" cy="24464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</a:t>
            </a:r>
            <a:endParaRPr lang="aa-ET" dirty="0" err="1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xmlns="" id="{8856FC31-10E5-4049-84C0-3886E8C6A9D5}"/>
              </a:ext>
            </a:extLst>
          </p:cNvPr>
          <p:cNvSpPr/>
          <p:nvPr/>
        </p:nvSpPr>
        <p:spPr>
          <a:xfrm>
            <a:off x="9332385" y="5965902"/>
            <a:ext cx="2362200" cy="24464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</a:t>
            </a:r>
            <a:endParaRPr lang="aa-ET" dirty="0" err="1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xmlns="" id="{913CD419-0C88-45A4-837B-60AA319937F5}"/>
              </a:ext>
            </a:extLst>
          </p:cNvPr>
          <p:cNvSpPr/>
          <p:nvPr/>
        </p:nvSpPr>
        <p:spPr>
          <a:xfrm>
            <a:off x="6383867" y="5991666"/>
            <a:ext cx="2362200" cy="24464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</a:t>
            </a:r>
            <a:endParaRPr lang="aa-ET" dirty="0" err="1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xmlns="" id="{BEFD40CF-F7E0-46D7-98AD-53E30129BB0A}"/>
              </a:ext>
            </a:extLst>
          </p:cNvPr>
          <p:cNvSpPr/>
          <p:nvPr/>
        </p:nvSpPr>
        <p:spPr>
          <a:xfrm>
            <a:off x="3476623" y="5992392"/>
            <a:ext cx="2362200" cy="24464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</a:t>
            </a:r>
            <a:endParaRPr lang="aa-ET" dirty="0" err="1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xmlns="" id="{18406ED6-7F00-4CA5-8D01-B9AD6FC0B154}"/>
              </a:ext>
            </a:extLst>
          </p:cNvPr>
          <p:cNvSpPr/>
          <p:nvPr/>
        </p:nvSpPr>
        <p:spPr>
          <a:xfrm>
            <a:off x="546099" y="5995130"/>
            <a:ext cx="2362200" cy="24464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</a:t>
            </a:r>
            <a:endParaRPr lang="aa-ET" dirty="0" err="1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406CF502-8DA8-428F-A155-0384DC0D7F57}"/>
              </a:ext>
            </a:extLst>
          </p:cNvPr>
          <p:cNvCxnSpPr>
            <a:cxnSpLocks/>
          </p:cNvCxnSpPr>
          <p:nvPr/>
        </p:nvCxnSpPr>
        <p:spPr>
          <a:xfrm>
            <a:off x="3342217" y="3151714"/>
            <a:ext cx="2362200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24E81E3D-069A-4E57-BFF5-CB86A6AF7C1B}"/>
              </a:ext>
            </a:extLst>
          </p:cNvPr>
          <p:cNvCxnSpPr>
            <a:cxnSpLocks/>
          </p:cNvCxnSpPr>
          <p:nvPr/>
        </p:nvCxnSpPr>
        <p:spPr>
          <a:xfrm flipH="1" flipV="1">
            <a:off x="3153515" y="2634451"/>
            <a:ext cx="178265" cy="54730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A4ADF2CD-4BB3-4F2B-B3CF-FC7B501DE131}"/>
              </a:ext>
            </a:extLst>
          </p:cNvPr>
          <p:cNvSpPr txBox="1"/>
          <p:nvPr/>
        </p:nvSpPr>
        <p:spPr>
          <a:xfrm>
            <a:off x="2787053" y="2297144"/>
            <a:ext cx="18650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050" dirty="0"/>
              <a:t>APTES: adhesion promoter</a:t>
            </a:r>
            <a:endParaRPr lang="aa-ET" sz="1050" dirty="0" err="1"/>
          </a:p>
        </p:txBody>
      </p:sp>
    </p:spTree>
    <p:extLst>
      <p:ext uri="{BB962C8B-B14F-4D97-AF65-F5344CB8AC3E}">
        <p14:creationId xmlns:p14="http://schemas.microsoft.com/office/powerpoint/2010/main" val="19770731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" name="Group 386">
            <a:extLst>
              <a:ext uri="{FF2B5EF4-FFF2-40B4-BE49-F238E27FC236}">
                <a16:creationId xmlns:a16="http://schemas.microsoft.com/office/drawing/2014/main" xmlns="" id="{484A03EC-A682-4502-A057-9DB7AB9EED23}"/>
              </a:ext>
            </a:extLst>
          </p:cNvPr>
          <p:cNvGrpSpPr/>
          <p:nvPr/>
        </p:nvGrpSpPr>
        <p:grpSpPr>
          <a:xfrm>
            <a:off x="1284535" y="3570577"/>
            <a:ext cx="972615" cy="972615"/>
            <a:chOff x="9961034" y="97369"/>
            <a:chExt cx="914400" cy="914400"/>
          </a:xfrm>
        </p:grpSpPr>
        <p:grpSp>
          <p:nvGrpSpPr>
            <p:cNvPr id="388" name="Group 387">
              <a:extLst>
                <a:ext uri="{FF2B5EF4-FFF2-40B4-BE49-F238E27FC236}">
                  <a16:creationId xmlns:a16="http://schemas.microsoft.com/office/drawing/2014/main" xmlns="" id="{F3141B19-F982-4A93-93EF-B1B087B8795E}"/>
                </a:ext>
              </a:extLst>
            </p:cNvPr>
            <p:cNvGrpSpPr/>
            <p:nvPr/>
          </p:nvGrpSpPr>
          <p:grpSpPr>
            <a:xfrm>
              <a:off x="9961034" y="97369"/>
              <a:ext cx="914400" cy="914400"/>
              <a:chOff x="9961034" y="97369"/>
              <a:chExt cx="914400" cy="914400"/>
            </a:xfrm>
          </p:grpSpPr>
          <p:pic>
            <p:nvPicPr>
              <p:cNvPr id="390" name="Graphic 389" descr="Lightbulb and gear">
                <a:extLst>
                  <a:ext uri="{FF2B5EF4-FFF2-40B4-BE49-F238E27FC236}">
                    <a16:creationId xmlns:a16="http://schemas.microsoft.com/office/drawing/2014/main" xmlns="" id="{4B83C324-E688-416C-8D0B-0A78C4533E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p:blipFill>
            <p:spPr>
              <a:xfrm rot="10800000">
                <a:off x="9961034" y="97369"/>
                <a:ext cx="914400" cy="914400"/>
              </a:xfrm>
              <a:prstGeom prst="rect">
                <a:avLst/>
              </a:prstGeom>
            </p:spPr>
          </p:pic>
          <p:sp>
            <p:nvSpPr>
              <p:cNvPr id="391" name="Oval 390">
                <a:extLst>
                  <a:ext uri="{FF2B5EF4-FFF2-40B4-BE49-F238E27FC236}">
                    <a16:creationId xmlns:a16="http://schemas.microsoft.com/office/drawing/2014/main" xmlns="" id="{879C25C4-177F-4FFC-969F-5DC8509961FC}"/>
                  </a:ext>
                </a:extLst>
              </p:cNvPr>
              <p:cNvSpPr/>
              <p:nvPr/>
            </p:nvSpPr>
            <p:spPr>
              <a:xfrm>
                <a:off x="10308168" y="454024"/>
                <a:ext cx="262467" cy="262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aa-ET" dirty="0"/>
              </a:p>
            </p:txBody>
          </p:sp>
        </p:grpSp>
        <p:sp>
          <p:nvSpPr>
            <p:cNvPr id="389" name="TextBox 388">
              <a:extLst>
                <a:ext uri="{FF2B5EF4-FFF2-40B4-BE49-F238E27FC236}">
                  <a16:creationId xmlns:a16="http://schemas.microsoft.com/office/drawing/2014/main" xmlns="" id="{DE792645-000A-4A8D-9B3C-03435BB28B5E}"/>
                </a:ext>
              </a:extLst>
            </p:cNvPr>
            <p:cNvSpPr txBox="1"/>
            <p:nvPr/>
          </p:nvSpPr>
          <p:spPr>
            <a:xfrm>
              <a:off x="10185318" y="398506"/>
              <a:ext cx="520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rgbClr val="00B0F0"/>
                  </a:solidFill>
                </a:rPr>
                <a:t>MA</a:t>
              </a:r>
              <a:endParaRPr lang="aa-ET" dirty="0">
                <a:solidFill>
                  <a:srgbClr val="00B0F0"/>
                </a:solidFill>
              </a:endParaRPr>
            </a:p>
          </p:txBody>
        </p:sp>
      </p:grpSp>
      <p:sp>
        <p:nvSpPr>
          <p:cNvPr id="402" name="Rectangle 401">
            <a:extLst>
              <a:ext uri="{FF2B5EF4-FFF2-40B4-BE49-F238E27FC236}">
                <a16:creationId xmlns:a16="http://schemas.microsoft.com/office/drawing/2014/main" xmlns="" id="{7AB01BE1-9D6F-41A4-B111-203B263FCFB4}"/>
              </a:ext>
            </a:extLst>
          </p:cNvPr>
          <p:cNvSpPr/>
          <p:nvPr/>
        </p:nvSpPr>
        <p:spPr>
          <a:xfrm>
            <a:off x="8059739" y="4500038"/>
            <a:ext cx="571501" cy="2932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xmlns="" id="{5043986A-AD7F-4477-9343-D71216F642A8}"/>
              </a:ext>
            </a:extLst>
          </p:cNvPr>
          <p:cNvSpPr/>
          <p:nvPr/>
        </p:nvSpPr>
        <p:spPr>
          <a:xfrm>
            <a:off x="6264256" y="2149320"/>
            <a:ext cx="2362199" cy="285903"/>
          </a:xfrm>
          <a:prstGeom prst="rect">
            <a:avLst/>
          </a:prstGeom>
          <a:solidFill>
            <a:srgbClr val="FA50E2"/>
          </a:solidFill>
          <a:ln>
            <a:solidFill>
              <a:srgbClr val="AF71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xmlns="" id="{BD06A59B-5B2B-4D17-A4FE-2B7241A63069}"/>
              </a:ext>
            </a:extLst>
          </p:cNvPr>
          <p:cNvSpPr/>
          <p:nvPr/>
        </p:nvSpPr>
        <p:spPr>
          <a:xfrm>
            <a:off x="6264257" y="2631674"/>
            <a:ext cx="2362200" cy="21166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SiO2</a:t>
            </a:r>
            <a:endParaRPr lang="aa-ET" dirty="0"/>
          </a:p>
        </p:txBody>
      </p:sp>
      <p:sp>
        <p:nvSpPr>
          <p:cNvPr id="468" name="Rectangle 467">
            <a:extLst>
              <a:ext uri="{FF2B5EF4-FFF2-40B4-BE49-F238E27FC236}">
                <a16:creationId xmlns:a16="http://schemas.microsoft.com/office/drawing/2014/main" xmlns="" id="{8E0F2FC4-3206-4400-A8AF-5D735CBC09C4}"/>
              </a:ext>
            </a:extLst>
          </p:cNvPr>
          <p:cNvSpPr/>
          <p:nvPr/>
        </p:nvSpPr>
        <p:spPr>
          <a:xfrm>
            <a:off x="6645256" y="2243265"/>
            <a:ext cx="169334" cy="186266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xmlns="" id="{8D8FE796-C203-409C-8B09-D4CF0521303D}"/>
              </a:ext>
            </a:extLst>
          </p:cNvPr>
          <p:cNvSpPr/>
          <p:nvPr/>
        </p:nvSpPr>
        <p:spPr>
          <a:xfrm>
            <a:off x="8076123" y="2436941"/>
            <a:ext cx="169334" cy="186266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xmlns="" id="{B1682A58-C352-4F78-8AFF-B7B6F870AF6B}"/>
              </a:ext>
            </a:extLst>
          </p:cNvPr>
          <p:cNvSpPr/>
          <p:nvPr/>
        </p:nvSpPr>
        <p:spPr>
          <a:xfrm>
            <a:off x="6264255" y="1667782"/>
            <a:ext cx="2362199" cy="474128"/>
          </a:xfrm>
          <a:prstGeom prst="rect">
            <a:avLst/>
          </a:prstGeom>
          <a:solidFill>
            <a:srgbClr val="FA50E2"/>
          </a:solidFill>
          <a:ln>
            <a:solidFill>
              <a:srgbClr val="AF71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xmlns="" id="{3DD4CD3D-2EE5-4C10-8687-7FACB5AA7DF1}"/>
              </a:ext>
            </a:extLst>
          </p:cNvPr>
          <p:cNvSpPr/>
          <p:nvPr/>
        </p:nvSpPr>
        <p:spPr>
          <a:xfrm>
            <a:off x="9295323" y="1483387"/>
            <a:ext cx="2362200" cy="194733"/>
          </a:xfrm>
          <a:prstGeom prst="rect">
            <a:avLst/>
          </a:prstGeom>
          <a:solidFill>
            <a:srgbClr val="37AFBF"/>
          </a:solidFill>
          <a:ln>
            <a:solidFill>
              <a:srgbClr val="37A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PR2</a:t>
            </a:r>
            <a:endParaRPr lang="aa-ET" dirty="0"/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xmlns="" id="{1C811A11-C358-461F-B971-155CC907C454}"/>
              </a:ext>
            </a:extLst>
          </p:cNvPr>
          <p:cNvSpPr/>
          <p:nvPr/>
        </p:nvSpPr>
        <p:spPr>
          <a:xfrm>
            <a:off x="8109989" y="2436939"/>
            <a:ext cx="169334" cy="186266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xmlns="" id="{EB8ECF88-F3CD-4319-9858-094F91E60652}"/>
              </a:ext>
            </a:extLst>
          </p:cNvPr>
          <p:cNvSpPr/>
          <p:nvPr/>
        </p:nvSpPr>
        <p:spPr>
          <a:xfrm>
            <a:off x="7895150" y="2236920"/>
            <a:ext cx="570441" cy="190494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xmlns="" id="{775531BA-E9AE-484D-93CF-BFB61116A24E}"/>
              </a:ext>
            </a:extLst>
          </p:cNvPr>
          <p:cNvSpPr txBox="1"/>
          <p:nvPr/>
        </p:nvSpPr>
        <p:spPr>
          <a:xfrm>
            <a:off x="3526225" y="912036"/>
            <a:ext cx="2193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Short RIE exposure</a:t>
            </a:r>
            <a:endParaRPr lang="aa-ET" dirty="0"/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xmlns="" id="{E8BEC4BA-09EA-438E-8A01-C578AEC738BD}"/>
              </a:ext>
            </a:extLst>
          </p:cNvPr>
          <p:cNvSpPr txBox="1"/>
          <p:nvPr/>
        </p:nvSpPr>
        <p:spPr>
          <a:xfrm>
            <a:off x="6130914" y="941701"/>
            <a:ext cx="2845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PI double layer deposition</a:t>
            </a:r>
            <a:endParaRPr lang="aa-ET" dirty="0"/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xmlns="" id="{4773D128-E4AF-44B1-8400-7F6FF9BAE48A}"/>
              </a:ext>
            </a:extLst>
          </p:cNvPr>
          <p:cNvSpPr txBox="1"/>
          <p:nvPr/>
        </p:nvSpPr>
        <p:spPr>
          <a:xfrm>
            <a:off x="9732462" y="941701"/>
            <a:ext cx="2019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PR2 deposition</a:t>
            </a:r>
            <a:endParaRPr lang="aa-ET" dirty="0"/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xmlns="" id="{DCA926D0-386D-413B-9324-1A0B78860116}"/>
              </a:ext>
            </a:extLst>
          </p:cNvPr>
          <p:cNvSpPr txBox="1"/>
          <p:nvPr/>
        </p:nvSpPr>
        <p:spPr>
          <a:xfrm>
            <a:off x="702732" y="3189608"/>
            <a:ext cx="2235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  <a:r>
              <a:rPr lang="en-GB" baseline="30000" dirty="0"/>
              <a:t>nd</a:t>
            </a:r>
            <a:r>
              <a:rPr lang="en-GB" dirty="0"/>
              <a:t> Mask exposure</a:t>
            </a:r>
            <a:endParaRPr lang="aa-ET" dirty="0"/>
          </a:p>
        </p:txBody>
      </p:sp>
      <p:sp>
        <p:nvSpPr>
          <p:cNvPr id="495" name="TextBox 494">
            <a:extLst>
              <a:ext uri="{FF2B5EF4-FFF2-40B4-BE49-F238E27FC236}">
                <a16:creationId xmlns:a16="http://schemas.microsoft.com/office/drawing/2014/main" xmlns="" id="{966DCEB9-4EF9-400D-88FB-BE9E659F3352}"/>
              </a:ext>
            </a:extLst>
          </p:cNvPr>
          <p:cNvSpPr txBox="1"/>
          <p:nvPr/>
        </p:nvSpPr>
        <p:spPr>
          <a:xfrm>
            <a:off x="3696717" y="3177177"/>
            <a:ext cx="2049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Post-2</a:t>
            </a:r>
            <a:r>
              <a:rPr lang="en-GB" baseline="30000" dirty="0"/>
              <a:t>nd</a:t>
            </a:r>
            <a:r>
              <a:rPr lang="en-GB" dirty="0"/>
              <a:t> exposure</a:t>
            </a:r>
            <a:endParaRPr lang="aa-ET" dirty="0"/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xmlns="" id="{25A7444A-1B1C-4A63-9E32-4B4972027FBD}"/>
              </a:ext>
            </a:extLst>
          </p:cNvPr>
          <p:cNvSpPr txBox="1"/>
          <p:nvPr/>
        </p:nvSpPr>
        <p:spPr>
          <a:xfrm>
            <a:off x="6699234" y="3200598"/>
            <a:ext cx="2049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Mask removal</a:t>
            </a:r>
            <a:endParaRPr lang="aa-ET" dirty="0"/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xmlns="" id="{01C540D9-2196-48D6-9D87-D77E0D9A3203}"/>
              </a:ext>
            </a:extLst>
          </p:cNvPr>
          <p:cNvSpPr txBox="1"/>
          <p:nvPr/>
        </p:nvSpPr>
        <p:spPr>
          <a:xfrm>
            <a:off x="9683738" y="3222468"/>
            <a:ext cx="2049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PR2 development</a:t>
            </a:r>
            <a:endParaRPr lang="aa-ET" dirty="0"/>
          </a:p>
        </p:txBody>
      </p:sp>
      <p:sp>
        <p:nvSpPr>
          <p:cNvPr id="499" name="Arrow: Right 498">
            <a:extLst>
              <a:ext uri="{FF2B5EF4-FFF2-40B4-BE49-F238E27FC236}">
                <a16:creationId xmlns:a16="http://schemas.microsoft.com/office/drawing/2014/main" xmlns="" id="{398A1B58-79F4-4D2E-88B4-AB5F1BD8CE63}"/>
              </a:ext>
            </a:extLst>
          </p:cNvPr>
          <p:cNvSpPr/>
          <p:nvPr/>
        </p:nvSpPr>
        <p:spPr>
          <a:xfrm>
            <a:off x="2794000" y="1239407"/>
            <a:ext cx="627593" cy="376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500" name="Arrow: Right 499">
            <a:extLst>
              <a:ext uri="{FF2B5EF4-FFF2-40B4-BE49-F238E27FC236}">
                <a16:creationId xmlns:a16="http://schemas.microsoft.com/office/drawing/2014/main" xmlns="" id="{C1DA0FC2-092C-4526-B128-4354DD63D937}"/>
              </a:ext>
            </a:extLst>
          </p:cNvPr>
          <p:cNvSpPr/>
          <p:nvPr/>
        </p:nvSpPr>
        <p:spPr>
          <a:xfrm>
            <a:off x="2793999" y="3918088"/>
            <a:ext cx="627593" cy="376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dirty="0"/>
          </a:p>
        </p:txBody>
      </p:sp>
      <p:sp>
        <p:nvSpPr>
          <p:cNvPr id="501" name="Arrow: Right 500">
            <a:extLst>
              <a:ext uri="{FF2B5EF4-FFF2-40B4-BE49-F238E27FC236}">
                <a16:creationId xmlns:a16="http://schemas.microsoft.com/office/drawing/2014/main" xmlns="" id="{1B68BBC6-F792-4D6D-99D9-D942B802FE1D}"/>
              </a:ext>
            </a:extLst>
          </p:cNvPr>
          <p:cNvSpPr/>
          <p:nvPr/>
        </p:nvSpPr>
        <p:spPr>
          <a:xfrm>
            <a:off x="5701240" y="1239407"/>
            <a:ext cx="627593" cy="376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502" name="Arrow: Right 501">
            <a:extLst>
              <a:ext uri="{FF2B5EF4-FFF2-40B4-BE49-F238E27FC236}">
                <a16:creationId xmlns:a16="http://schemas.microsoft.com/office/drawing/2014/main" xmlns="" id="{44881163-3EDA-4588-B3DE-D7E9FE212B79}"/>
              </a:ext>
            </a:extLst>
          </p:cNvPr>
          <p:cNvSpPr/>
          <p:nvPr/>
        </p:nvSpPr>
        <p:spPr>
          <a:xfrm>
            <a:off x="8601075" y="1308182"/>
            <a:ext cx="627593" cy="376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503" name="Arrow: Right 502">
            <a:extLst>
              <a:ext uri="{FF2B5EF4-FFF2-40B4-BE49-F238E27FC236}">
                <a16:creationId xmlns:a16="http://schemas.microsoft.com/office/drawing/2014/main" xmlns="" id="{3B55F494-E03B-4C7B-B4A0-E15558DA795B}"/>
              </a:ext>
            </a:extLst>
          </p:cNvPr>
          <p:cNvSpPr/>
          <p:nvPr/>
        </p:nvSpPr>
        <p:spPr>
          <a:xfrm>
            <a:off x="5701239" y="3918088"/>
            <a:ext cx="627593" cy="376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dirty="0"/>
          </a:p>
        </p:txBody>
      </p:sp>
      <p:sp>
        <p:nvSpPr>
          <p:cNvPr id="504" name="Arrow: Right 503">
            <a:extLst>
              <a:ext uri="{FF2B5EF4-FFF2-40B4-BE49-F238E27FC236}">
                <a16:creationId xmlns:a16="http://schemas.microsoft.com/office/drawing/2014/main" xmlns="" id="{E704543B-CB66-432F-80D3-DE771ABF534B}"/>
              </a:ext>
            </a:extLst>
          </p:cNvPr>
          <p:cNvSpPr/>
          <p:nvPr/>
        </p:nvSpPr>
        <p:spPr>
          <a:xfrm>
            <a:off x="8601074" y="3913852"/>
            <a:ext cx="627593" cy="376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xmlns="" id="{6A317AAD-2D97-4E76-95C5-B8469638C48D}"/>
              </a:ext>
            </a:extLst>
          </p:cNvPr>
          <p:cNvSpPr/>
          <p:nvPr/>
        </p:nvSpPr>
        <p:spPr>
          <a:xfrm>
            <a:off x="3921103" y="4570203"/>
            <a:ext cx="169334" cy="1862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xmlns="" id="{D526EF4B-7972-488D-A104-23480590EA1E}"/>
              </a:ext>
            </a:extLst>
          </p:cNvPr>
          <p:cNvSpPr/>
          <p:nvPr/>
        </p:nvSpPr>
        <p:spPr>
          <a:xfrm>
            <a:off x="3493540" y="4830184"/>
            <a:ext cx="2362200" cy="194733"/>
          </a:xfrm>
          <a:prstGeom prst="rect">
            <a:avLst/>
          </a:prstGeom>
          <a:solidFill>
            <a:srgbClr val="37AFBF"/>
          </a:solidFill>
          <a:ln>
            <a:solidFill>
              <a:srgbClr val="37A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PR2</a:t>
            </a:r>
            <a:endParaRPr lang="aa-ET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xmlns="" id="{622B4C9C-47F6-48E4-A3C6-3708C06F26D8}"/>
              </a:ext>
            </a:extLst>
          </p:cNvPr>
          <p:cNvSpPr/>
          <p:nvPr/>
        </p:nvSpPr>
        <p:spPr>
          <a:xfrm>
            <a:off x="5104325" y="4825953"/>
            <a:ext cx="571501" cy="203196"/>
          </a:xfrm>
          <a:prstGeom prst="rect">
            <a:avLst/>
          </a:prstGeom>
          <a:solidFill>
            <a:srgbClr val="16474E"/>
          </a:solidFill>
          <a:ln>
            <a:solidFill>
              <a:srgbClr val="1647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xmlns="" id="{25202542-E62E-42B3-83D9-156A7EB269FD}"/>
              </a:ext>
            </a:extLst>
          </p:cNvPr>
          <p:cNvSpPr/>
          <p:nvPr/>
        </p:nvSpPr>
        <p:spPr>
          <a:xfrm>
            <a:off x="3493541" y="4632416"/>
            <a:ext cx="2362200" cy="1862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Mask</a:t>
            </a:r>
            <a:endParaRPr lang="aa-ET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xmlns="" id="{4BBA9907-F2C4-4128-A189-E2A374FCF190}"/>
              </a:ext>
            </a:extLst>
          </p:cNvPr>
          <p:cNvSpPr/>
          <p:nvPr/>
        </p:nvSpPr>
        <p:spPr>
          <a:xfrm>
            <a:off x="5105915" y="4576997"/>
            <a:ext cx="571501" cy="2385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xmlns="" id="{2BF4FF4F-66E0-4162-AF72-54B38E819B7A}"/>
              </a:ext>
            </a:extLst>
          </p:cNvPr>
          <p:cNvSpPr/>
          <p:nvPr/>
        </p:nvSpPr>
        <p:spPr>
          <a:xfrm>
            <a:off x="3879309" y="4586989"/>
            <a:ext cx="163505" cy="2385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xmlns="" id="{E041FA53-B9A7-40FA-91AF-9FBF662F5EBC}"/>
              </a:ext>
            </a:extLst>
          </p:cNvPr>
          <p:cNvSpPr/>
          <p:nvPr/>
        </p:nvSpPr>
        <p:spPr>
          <a:xfrm>
            <a:off x="3875592" y="4835027"/>
            <a:ext cx="167222" cy="185077"/>
          </a:xfrm>
          <a:prstGeom prst="rect">
            <a:avLst/>
          </a:prstGeom>
          <a:solidFill>
            <a:srgbClr val="16474E"/>
          </a:solidFill>
          <a:ln>
            <a:solidFill>
              <a:srgbClr val="1647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xmlns="" id="{AE3A0EEF-6922-4EE1-9FC3-438461C5450E}"/>
              </a:ext>
            </a:extLst>
          </p:cNvPr>
          <p:cNvSpPr/>
          <p:nvPr/>
        </p:nvSpPr>
        <p:spPr>
          <a:xfrm>
            <a:off x="6486505" y="4830184"/>
            <a:ext cx="2362200" cy="194733"/>
          </a:xfrm>
          <a:prstGeom prst="rect">
            <a:avLst/>
          </a:prstGeom>
          <a:solidFill>
            <a:srgbClr val="37AFBF"/>
          </a:solidFill>
          <a:ln>
            <a:solidFill>
              <a:srgbClr val="37A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PR2</a:t>
            </a:r>
            <a:endParaRPr lang="aa-ET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xmlns="" id="{A9A5EA3E-B557-433F-9BC2-3348C21224A9}"/>
              </a:ext>
            </a:extLst>
          </p:cNvPr>
          <p:cNvSpPr/>
          <p:nvPr/>
        </p:nvSpPr>
        <p:spPr>
          <a:xfrm>
            <a:off x="8097290" y="4825953"/>
            <a:ext cx="571501" cy="203196"/>
          </a:xfrm>
          <a:prstGeom prst="rect">
            <a:avLst/>
          </a:prstGeom>
          <a:solidFill>
            <a:srgbClr val="16474E"/>
          </a:solidFill>
          <a:ln>
            <a:solidFill>
              <a:srgbClr val="1647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xmlns="" id="{107B55CB-D28E-4A55-B86A-9A0B2A1B0241}"/>
              </a:ext>
            </a:extLst>
          </p:cNvPr>
          <p:cNvSpPr/>
          <p:nvPr/>
        </p:nvSpPr>
        <p:spPr>
          <a:xfrm>
            <a:off x="6868557" y="4835027"/>
            <a:ext cx="167222" cy="185077"/>
          </a:xfrm>
          <a:prstGeom prst="rect">
            <a:avLst/>
          </a:prstGeom>
          <a:solidFill>
            <a:srgbClr val="16474E"/>
          </a:solidFill>
          <a:ln>
            <a:solidFill>
              <a:srgbClr val="1647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xmlns="" id="{9D9E97A7-D30F-411D-8D65-7F345DA7D634}"/>
              </a:ext>
            </a:extLst>
          </p:cNvPr>
          <p:cNvSpPr/>
          <p:nvPr/>
        </p:nvSpPr>
        <p:spPr>
          <a:xfrm>
            <a:off x="9372448" y="4830184"/>
            <a:ext cx="2362200" cy="194733"/>
          </a:xfrm>
          <a:prstGeom prst="rect">
            <a:avLst/>
          </a:prstGeom>
          <a:solidFill>
            <a:srgbClr val="37AFBF"/>
          </a:solidFill>
          <a:ln>
            <a:solidFill>
              <a:srgbClr val="37A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PR2</a:t>
            </a:r>
            <a:endParaRPr lang="aa-ET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xmlns="" id="{F07D437D-380A-4C74-97FC-871020D4D27A}"/>
              </a:ext>
            </a:extLst>
          </p:cNvPr>
          <p:cNvSpPr/>
          <p:nvPr/>
        </p:nvSpPr>
        <p:spPr>
          <a:xfrm>
            <a:off x="10983233" y="4733992"/>
            <a:ext cx="571501" cy="2951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xmlns="" id="{9D764091-910F-4663-87B1-C0BD1D9DF63C}"/>
              </a:ext>
            </a:extLst>
          </p:cNvPr>
          <p:cNvSpPr/>
          <p:nvPr/>
        </p:nvSpPr>
        <p:spPr>
          <a:xfrm>
            <a:off x="9754500" y="4766580"/>
            <a:ext cx="154654" cy="2630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xmlns="" id="{A9EF935E-F750-4F89-B1D3-E689BB222C2B}"/>
              </a:ext>
            </a:extLst>
          </p:cNvPr>
          <p:cNvSpPr/>
          <p:nvPr/>
        </p:nvSpPr>
        <p:spPr>
          <a:xfrm>
            <a:off x="1003866" y="4570203"/>
            <a:ext cx="169334" cy="1862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xmlns="" id="{AC1F1B85-A57B-441B-B227-F722AE502780}"/>
              </a:ext>
            </a:extLst>
          </p:cNvPr>
          <p:cNvSpPr/>
          <p:nvPr/>
        </p:nvSpPr>
        <p:spPr>
          <a:xfrm>
            <a:off x="576303" y="4830184"/>
            <a:ext cx="2362200" cy="194733"/>
          </a:xfrm>
          <a:prstGeom prst="rect">
            <a:avLst/>
          </a:prstGeom>
          <a:solidFill>
            <a:srgbClr val="37AFBF"/>
          </a:solidFill>
          <a:ln>
            <a:solidFill>
              <a:srgbClr val="37A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PR2</a:t>
            </a:r>
            <a:endParaRPr lang="aa-ET" dirty="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xmlns="" id="{7395980C-CF73-4030-869F-9C2796BCF947}"/>
              </a:ext>
            </a:extLst>
          </p:cNvPr>
          <p:cNvSpPr/>
          <p:nvPr/>
        </p:nvSpPr>
        <p:spPr>
          <a:xfrm>
            <a:off x="576304" y="4632416"/>
            <a:ext cx="2362200" cy="1862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Mask</a:t>
            </a:r>
            <a:endParaRPr lang="aa-ET" dirty="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xmlns="" id="{57BF3604-E39B-4CB4-97B0-05D5F6F5C5A8}"/>
              </a:ext>
            </a:extLst>
          </p:cNvPr>
          <p:cNvSpPr/>
          <p:nvPr/>
        </p:nvSpPr>
        <p:spPr>
          <a:xfrm>
            <a:off x="2188678" y="4528237"/>
            <a:ext cx="571501" cy="287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xmlns="" id="{8EA62514-1BDE-4AF4-8009-A3CBFD2DC345}"/>
              </a:ext>
            </a:extLst>
          </p:cNvPr>
          <p:cNvSpPr/>
          <p:nvPr/>
        </p:nvSpPr>
        <p:spPr>
          <a:xfrm>
            <a:off x="962072" y="4570203"/>
            <a:ext cx="164567" cy="2552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xmlns="" id="{DB831ABF-1BD3-4AAC-B720-37E8CD765A1F}"/>
              </a:ext>
            </a:extLst>
          </p:cNvPr>
          <p:cNvSpPr/>
          <p:nvPr/>
        </p:nvSpPr>
        <p:spPr>
          <a:xfrm>
            <a:off x="576303" y="2634063"/>
            <a:ext cx="2362200" cy="21166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SiO2</a:t>
            </a:r>
            <a:endParaRPr lang="aa-ET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xmlns="" id="{399313C5-1727-4367-A7D9-914B9AC160CA}"/>
              </a:ext>
            </a:extLst>
          </p:cNvPr>
          <p:cNvSpPr/>
          <p:nvPr/>
        </p:nvSpPr>
        <p:spPr>
          <a:xfrm>
            <a:off x="576303" y="2439330"/>
            <a:ext cx="2362200" cy="194733"/>
          </a:xfrm>
          <a:prstGeom prst="rect">
            <a:avLst/>
          </a:prstGeom>
          <a:solidFill>
            <a:srgbClr val="FA50E2"/>
          </a:solidFill>
          <a:ln>
            <a:solidFill>
              <a:srgbClr val="FA50E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xmlns="" id="{9B5D7209-796E-4D59-B811-FF7A8F58BE32}"/>
              </a:ext>
            </a:extLst>
          </p:cNvPr>
          <p:cNvSpPr/>
          <p:nvPr/>
        </p:nvSpPr>
        <p:spPr>
          <a:xfrm>
            <a:off x="954580" y="2246906"/>
            <a:ext cx="169334" cy="186266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xmlns="" id="{20C53367-9874-4063-9CEA-157D8DB3CB7C}"/>
              </a:ext>
            </a:extLst>
          </p:cNvPr>
          <p:cNvSpPr/>
          <p:nvPr/>
        </p:nvSpPr>
        <p:spPr>
          <a:xfrm>
            <a:off x="2173780" y="2246910"/>
            <a:ext cx="579966" cy="186262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xmlns="" id="{A78500BE-D7E3-416F-A3F8-BB6B21F68E6E}"/>
              </a:ext>
            </a:extLst>
          </p:cNvPr>
          <p:cNvSpPr txBox="1"/>
          <p:nvPr/>
        </p:nvSpPr>
        <p:spPr>
          <a:xfrm>
            <a:off x="954580" y="893105"/>
            <a:ext cx="1518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PR1 removal</a:t>
            </a:r>
            <a:endParaRPr lang="aa-ET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xmlns="" id="{EF59BB2A-C531-4B71-979F-FAF9946FE8FF}"/>
              </a:ext>
            </a:extLst>
          </p:cNvPr>
          <p:cNvSpPr/>
          <p:nvPr/>
        </p:nvSpPr>
        <p:spPr>
          <a:xfrm>
            <a:off x="3420279" y="2644055"/>
            <a:ext cx="2362200" cy="21166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SiO2</a:t>
            </a:r>
            <a:endParaRPr lang="aa-ET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xmlns="" id="{9DC0853D-04A0-474F-953B-BC467DD6EBC3}"/>
              </a:ext>
            </a:extLst>
          </p:cNvPr>
          <p:cNvSpPr/>
          <p:nvPr/>
        </p:nvSpPr>
        <p:spPr>
          <a:xfrm>
            <a:off x="3798556" y="2256898"/>
            <a:ext cx="169334" cy="186266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xmlns="" id="{51965C68-1A77-4C4A-B1EB-8C111A6F9FD0}"/>
              </a:ext>
            </a:extLst>
          </p:cNvPr>
          <p:cNvSpPr/>
          <p:nvPr/>
        </p:nvSpPr>
        <p:spPr>
          <a:xfrm>
            <a:off x="5017756" y="2256902"/>
            <a:ext cx="579966" cy="186262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xmlns="" id="{2357DC2E-E695-427A-9A0A-E5E2E2A92C65}"/>
              </a:ext>
            </a:extLst>
          </p:cNvPr>
          <p:cNvSpPr/>
          <p:nvPr/>
        </p:nvSpPr>
        <p:spPr>
          <a:xfrm>
            <a:off x="3419699" y="2447796"/>
            <a:ext cx="2362200" cy="194733"/>
          </a:xfrm>
          <a:prstGeom prst="rect">
            <a:avLst/>
          </a:prstGeom>
          <a:solidFill>
            <a:srgbClr val="FA50E2"/>
          </a:solidFill>
          <a:ln>
            <a:solidFill>
              <a:srgbClr val="9E2248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xmlns="" id="{9DFFCF6B-AF1F-43A4-8F5D-FB2A46B3C197}"/>
              </a:ext>
            </a:extLst>
          </p:cNvPr>
          <p:cNvSpPr/>
          <p:nvPr/>
        </p:nvSpPr>
        <p:spPr>
          <a:xfrm>
            <a:off x="6264254" y="2439154"/>
            <a:ext cx="2362200" cy="194733"/>
          </a:xfrm>
          <a:prstGeom prst="rect">
            <a:avLst/>
          </a:prstGeom>
          <a:solidFill>
            <a:srgbClr val="FA50E2"/>
          </a:solidFill>
          <a:ln>
            <a:solidFill>
              <a:srgbClr val="9E2248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xmlns="" id="{314FFA65-73DE-488E-8628-77B9A98D440F}"/>
              </a:ext>
            </a:extLst>
          </p:cNvPr>
          <p:cNvSpPr/>
          <p:nvPr/>
        </p:nvSpPr>
        <p:spPr>
          <a:xfrm>
            <a:off x="9295322" y="2171984"/>
            <a:ext cx="2362199" cy="285903"/>
          </a:xfrm>
          <a:prstGeom prst="rect">
            <a:avLst/>
          </a:prstGeom>
          <a:solidFill>
            <a:srgbClr val="FA50E2"/>
          </a:solidFill>
          <a:ln>
            <a:solidFill>
              <a:srgbClr val="AF71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xmlns="" id="{4CB16B98-C12A-4A28-B64D-5168735EF07B}"/>
              </a:ext>
            </a:extLst>
          </p:cNvPr>
          <p:cNvSpPr/>
          <p:nvPr/>
        </p:nvSpPr>
        <p:spPr>
          <a:xfrm>
            <a:off x="9295323" y="2654338"/>
            <a:ext cx="2362200" cy="21166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SiO2</a:t>
            </a:r>
            <a:endParaRPr lang="aa-ET" dirty="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xmlns="" id="{7A417D00-1304-4829-B9F0-3CA2207292F7}"/>
              </a:ext>
            </a:extLst>
          </p:cNvPr>
          <p:cNvSpPr/>
          <p:nvPr/>
        </p:nvSpPr>
        <p:spPr>
          <a:xfrm>
            <a:off x="9676322" y="2265929"/>
            <a:ext cx="169334" cy="186266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xmlns="" id="{9D6EE107-C4E5-4573-BE55-ED8E7D7EDCF3}"/>
              </a:ext>
            </a:extLst>
          </p:cNvPr>
          <p:cNvSpPr/>
          <p:nvPr/>
        </p:nvSpPr>
        <p:spPr>
          <a:xfrm>
            <a:off x="11107189" y="2459605"/>
            <a:ext cx="169334" cy="186266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xmlns="" id="{9C250C96-D790-49F0-8368-0E6964F51AC7}"/>
              </a:ext>
            </a:extLst>
          </p:cNvPr>
          <p:cNvSpPr/>
          <p:nvPr/>
        </p:nvSpPr>
        <p:spPr>
          <a:xfrm>
            <a:off x="9295321" y="1690446"/>
            <a:ext cx="2362199" cy="474128"/>
          </a:xfrm>
          <a:prstGeom prst="rect">
            <a:avLst/>
          </a:prstGeom>
          <a:solidFill>
            <a:srgbClr val="FA50E2"/>
          </a:solidFill>
          <a:ln>
            <a:solidFill>
              <a:srgbClr val="AF71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xmlns="" id="{8CA48427-C33F-4C0C-A390-278363C95874}"/>
              </a:ext>
            </a:extLst>
          </p:cNvPr>
          <p:cNvSpPr/>
          <p:nvPr/>
        </p:nvSpPr>
        <p:spPr>
          <a:xfrm>
            <a:off x="11141055" y="2459603"/>
            <a:ext cx="169334" cy="186266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xmlns="" id="{DE347485-9429-46E2-96A1-9C1CE07AF64A}"/>
              </a:ext>
            </a:extLst>
          </p:cNvPr>
          <p:cNvSpPr/>
          <p:nvPr/>
        </p:nvSpPr>
        <p:spPr>
          <a:xfrm>
            <a:off x="10926216" y="2259584"/>
            <a:ext cx="570441" cy="190494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xmlns="" id="{75C65B3E-C35A-48EC-B89F-5FD855CA5366}"/>
              </a:ext>
            </a:extLst>
          </p:cNvPr>
          <p:cNvSpPr/>
          <p:nvPr/>
        </p:nvSpPr>
        <p:spPr>
          <a:xfrm>
            <a:off x="9295320" y="2461818"/>
            <a:ext cx="2362200" cy="194733"/>
          </a:xfrm>
          <a:prstGeom prst="rect">
            <a:avLst/>
          </a:prstGeom>
          <a:solidFill>
            <a:srgbClr val="FA50E2"/>
          </a:solidFill>
          <a:ln>
            <a:solidFill>
              <a:srgbClr val="9E2248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xmlns="" id="{E9A69DC1-18B9-4681-BC24-21E3828F99E9}"/>
              </a:ext>
            </a:extLst>
          </p:cNvPr>
          <p:cNvGrpSpPr/>
          <p:nvPr/>
        </p:nvGrpSpPr>
        <p:grpSpPr>
          <a:xfrm>
            <a:off x="4255082" y="1300946"/>
            <a:ext cx="584831" cy="569802"/>
            <a:chOff x="7499350" y="12486"/>
            <a:chExt cx="673904" cy="656588"/>
          </a:xfrm>
        </p:grpSpPr>
        <p:sp>
          <p:nvSpPr>
            <p:cNvPr id="180" name="Explosion: 8 Points 179">
              <a:extLst>
                <a:ext uri="{FF2B5EF4-FFF2-40B4-BE49-F238E27FC236}">
                  <a16:creationId xmlns:a16="http://schemas.microsoft.com/office/drawing/2014/main" xmlns="" id="{9405B082-F1C1-4D99-8987-CEB1ADF9CD48}"/>
                </a:ext>
              </a:extLst>
            </p:cNvPr>
            <p:cNvSpPr/>
            <p:nvPr/>
          </p:nvSpPr>
          <p:spPr>
            <a:xfrm>
              <a:off x="7499350" y="12486"/>
              <a:ext cx="596898" cy="656588"/>
            </a:xfrm>
            <a:prstGeom prst="irregularSeal1">
              <a:avLst/>
            </a:prstGeom>
            <a:solidFill>
              <a:srgbClr val="B610F8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a-ET" sz="900" dirty="0"/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xmlns="" id="{B26F9DD3-7ACA-4E4D-A883-9B5385C03FEB}"/>
                </a:ext>
              </a:extLst>
            </p:cNvPr>
            <p:cNvSpPr txBox="1"/>
            <p:nvPr/>
          </p:nvSpPr>
          <p:spPr>
            <a:xfrm>
              <a:off x="7514709" y="134441"/>
              <a:ext cx="658545" cy="390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1"/>
                  </a:solidFill>
                </a:rPr>
                <a:t>RIE</a:t>
              </a:r>
              <a:endParaRPr lang="aa-ET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2" name="Rectangle 181">
            <a:extLst>
              <a:ext uri="{FF2B5EF4-FFF2-40B4-BE49-F238E27FC236}">
                <a16:creationId xmlns:a16="http://schemas.microsoft.com/office/drawing/2014/main" xmlns="" id="{447C6935-C8F4-411C-A659-D90BABA40894}"/>
              </a:ext>
            </a:extLst>
          </p:cNvPr>
          <p:cNvSpPr/>
          <p:nvPr/>
        </p:nvSpPr>
        <p:spPr>
          <a:xfrm>
            <a:off x="576305" y="5516355"/>
            <a:ext cx="2362199" cy="285903"/>
          </a:xfrm>
          <a:prstGeom prst="rect">
            <a:avLst/>
          </a:prstGeom>
          <a:solidFill>
            <a:srgbClr val="FA50E2"/>
          </a:solidFill>
          <a:ln>
            <a:solidFill>
              <a:srgbClr val="AF71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xmlns="" id="{9F0FCFCC-2D7D-4338-B634-59525C4E9B5A}"/>
              </a:ext>
            </a:extLst>
          </p:cNvPr>
          <p:cNvSpPr/>
          <p:nvPr/>
        </p:nvSpPr>
        <p:spPr>
          <a:xfrm>
            <a:off x="576306" y="5998709"/>
            <a:ext cx="2362200" cy="21166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SiO2</a:t>
            </a:r>
            <a:endParaRPr lang="aa-ET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xmlns="" id="{B12542E9-E7FB-4421-BBB0-8DB8B87AA1A8}"/>
              </a:ext>
            </a:extLst>
          </p:cNvPr>
          <p:cNvSpPr/>
          <p:nvPr/>
        </p:nvSpPr>
        <p:spPr>
          <a:xfrm>
            <a:off x="980046" y="5615116"/>
            <a:ext cx="169334" cy="186266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xmlns="" id="{41450D51-5B34-4337-AE68-398929B60B75}"/>
              </a:ext>
            </a:extLst>
          </p:cNvPr>
          <p:cNvSpPr/>
          <p:nvPr/>
        </p:nvSpPr>
        <p:spPr>
          <a:xfrm>
            <a:off x="2388172" y="5803976"/>
            <a:ext cx="169334" cy="186266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xmlns="" id="{360ACB82-6C7F-4812-909C-5E8E45364173}"/>
              </a:ext>
            </a:extLst>
          </p:cNvPr>
          <p:cNvSpPr/>
          <p:nvPr/>
        </p:nvSpPr>
        <p:spPr>
          <a:xfrm>
            <a:off x="576304" y="5034817"/>
            <a:ext cx="2362199" cy="474128"/>
          </a:xfrm>
          <a:prstGeom prst="rect">
            <a:avLst/>
          </a:prstGeom>
          <a:solidFill>
            <a:srgbClr val="FA50E2"/>
          </a:solidFill>
          <a:ln>
            <a:solidFill>
              <a:srgbClr val="AF71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xmlns="" id="{46374368-D093-4F4D-BA48-E4C34FAEDB80}"/>
              </a:ext>
            </a:extLst>
          </p:cNvPr>
          <p:cNvSpPr/>
          <p:nvPr/>
        </p:nvSpPr>
        <p:spPr>
          <a:xfrm>
            <a:off x="2422038" y="5803974"/>
            <a:ext cx="169334" cy="186266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xmlns="" id="{AAE1DDE0-CBC8-4272-943A-B61F5064F0FC}"/>
              </a:ext>
            </a:extLst>
          </p:cNvPr>
          <p:cNvSpPr/>
          <p:nvPr/>
        </p:nvSpPr>
        <p:spPr>
          <a:xfrm>
            <a:off x="2229940" y="5608771"/>
            <a:ext cx="570441" cy="190494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xmlns="" id="{3E7BA219-A58A-4D9E-A23A-C305A955E2A3}"/>
              </a:ext>
            </a:extLst>
          </p:cNvPr>
          <p:cNvSpPr/>
          <p:nvPr/>
        </p:nvSpPr>
        <p:spPr>
          <a:xfrm>
            <a:off x="576303" y="5806189"/>
            <a:ext cx="2362200" cy="194733"/>
          </a:xfrm>
          <a:prstGeom prst="rect">
            <a:avLst/>
          </a:prstGeom>
          <a:solidFill>
            <a:srgbClr val="FA50E2"/>
          </a:solidFill>
          <a:ln>
            <a:solidFill>
              <a:srgbClr val="9E2248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xmlns="" id="{C716E0C8-D847-4352-9288-137652360D91}"/>
              </a:ext>
            </a:extLst>
          </p:cNvPr>
          <p:cNvSpPr/>
          <p:nvPr/>
        </p:nvSpPr>
        <p:spPr>
          <a:xfrm>
            <a:off x="3495872" y="5516355"/>
            <a:ext cx="2362199" cy="285903"/>
          </a:xfrm>
          <a:prstGeom prst="rect">
            <a:avLst/>
          </a:prstGeom>
          <a:solidFill>
            <a:srgbClr val="FA50E2"/>
          </a:solidFill>
          <a:ln>
            <a:solidFill>
              <a:srgbClr val="AF71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xmlns="" id="{FE62F7B5-A581-4901-B345-223F3000890D}"/>
              </a:ext>
            </a:extLst>
          </p:cNvPr>
          <p:cNvSpPr/>
          <p:nvPr/>
        </p:nvSpPr>
        <p:spPr>
          <a:xfrm>
            <a:off x="3495873" y="5998709"/>
            <a:ext cx="2362200" cy="21166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SiO2</a:t>
            </a:r>
            <a:endParaRPr lang="aa-ET" dirty="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xmlns="" id="{C1DD54A1-779B-41EC-9B0C-CA6E1E80AA8F}"/>
              </a:ext>
            </a:extLst>
          </p:cNvPr>
          <p:cNvSpPr/>
          <p:nvPr/>
        </p:nvSpPr>
        <p:spPr>
          <a:xfrm>
            <a:off x="3899613" y="5615116"/>
            <a:ext cx="169334" cy="186266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xmlns="" id="{AF1020C7-CE29-40EC-8EC2-AC8D62253617}"/>
              </a:ext>
            </a:extLst>
          </p:cNvPr>
          <p:cNvSpPr/>
          <p:nvPr/>
        </p:nvSpPr>
        <p:spPr>
          <a:xfrm>
            <a:off x="5307739" y="5803976"/>
            <a:ext cx="169334" cy="186266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xmlns="" id="{71BC629B-254D-4717-B20D-E463263406BB}"/>
              </a:ext>
            </a:extLst>
          </p:cNvPr>
          <p:cNvSpPr/>
          <p:nvPr/>
        </p:nvSpPr>
        <p:spPr>
          <a:xfrm>
            <a:off x="3495871" y="5034817"/>
            <a:ext cx="2362199" cy="474128"/>
          </a:xfrm>
          <a:prstGeom prst="rect">
            <a:avLst/>
          </a:prstGeom>
          <a:solidFill>
            <a:srgbClr val="FA50E2"/>
          </a:solidFill>
          <a:ln>
            <a:solidFill>
              <a:srgbClr val="AF71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xmlns="" id="{BF0B263E-D624-4A7D-892F-CF62121C7B1F}"/>
              </a:ext>
            </a:extLst>
          </p:cNvPr>
          <p:cNvSpPr/>
          <p:nvPr/>
        </p:nvSpPr>
        <p:spPr>
          <a:xfrm>
            <a:off x="5341605" y="5803974"/>
            <a:ext cx="169334" cy="186266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xmlns="" id="{727EF24D-1B17-46BB-903C-F88E9145E02D}"/>
              </a:ext>
            </a:extLst>
          </p:cNvPr>
          <p:cNvSpPr/>
          <p:nvPr/>
        </p:nvSpPr>
        <p:spPr>
          <a:xfrm>
            <a:off x="5149507" y="5608771"/>
            <a:ext cx="570441" cy="190494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xmlns="" id="{C222C6FB-14BE-402F-A98F-09471ECE6314}"/>
              </a:ext>
            </a:extLst>
          </p:cNvPr>
          <p:cNvSpPr/>
          <p:nvPr/>
        </p:nvSpPr>
        <p:spPr>
          <a:xfrm>
            <a:off x="3495870" y="5806189"/>
            <a:ext cx="2362200" cy="194733"/>
          </a:xfrm>
          <a:prstGeom prst="rect">
            <a:avLst/>
          </a:prstGeom>
          <a:solidFill>
            <a:srgbClr val="FA50E2"/>
          </a:solidFill>
          <a:ln>
            <a:solidFill>
              <a:srgbClr val="9E2248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xmlns="" id="{0243AC6F-510D-49DB-823D-44FF1708867F}"/>
              </a:ext>
            </a:extLst>
          </p:cNvPr>
          <p:cNvSpPr/>
          <p:nvPr/>
        </p:nvSpPr>
        <p:spPr>
          <a:xfrm>
            <a:off x="6484602" y="5516355"/>
            <a:ext cx="2362199" cy="285903"/>
          </a:xfrm>
          <a:prstGeom prst="rect">
            <a:avLst/>
          </a:prstGeom>
          <a:solidFill>
            <a:srgbClr val="FA50E2"/>
          </a:solidFill>
          <a:ln>
            <a:solidFill>
              <a:srgbClr val="AF71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xmlns="" id="{984BAB22-697F-4C05-867E-3E34BE39431A}"/>
              </a:ext>
            </a:extLst>
          </p:cNvPr>
          <p:cNvSpPr/>
          <p:nvPr/>
        </p:nvSpPr>
        <p:spPr>
          <a:xfrm>
            <a:off x="6484603" y="5998709"/>
            <a:ext cx="2362200" cy="21166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SiO2</a:t>
            </a:r>
            <a:endParaRPr lang="aa-ET" dirty="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xmlns="" id="{AEC5F969-5E88-4D8C-9086-E64EB80EF4C3}"/>
              </a:ext>
            </a:extLst>
          </p:cNvPr>
          <p:cNvSpPr/>
          <p:nvPr/>
        </p:nvSpPr>
        <p:spPr>
          <a:xfrm>
            <a:off x="6888343" y="5615116"/>
            <a:ext cx="169334" cy="186266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xmlns="" id="{E7D6E584-FA71-4E31-9DEC-DD22DAAA964A}"/>
              </a:ext>
            </a:extLst>
          </p:cNvPr>
          <p:cNvSpPr/>
          <p:nvPr/>
        </p:nvSpPr>
        <p:spPr>
          <a:xfrm>
            <a:off x="8296469" y="5803976"/>
            <a:ext cx="169334" cy="186266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xmlns="" id="{67433E25-5B66-4414-8AB9-2A6409C24A00}"/>
              </a:ext>
            </a:extLst>
          </p:cNvPr>
          <p:cNvSpPr/>
          <p:nvPr/>
        </p:nvSpPr>
        <p:spPr>
          <a:xfrm>
            <a:off x="6484601" y="5034817"/>
            <a:ext cx="2362199" cy="474128"/>
          </a:xfrm>
          <a:prstGeom prst="rect">
            <a:avLst/>
          </a:prstGeom>
          <a:solidFill>
            <a:srgbClr val="FA50E2"/>
          </a:solidFill>
          <a:ln>
            <a:solidFill>
              <a:srgbClr val="AF71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xmlns="" id="{8F0629BD-E094-4BEB-9DA7-254C9BD2C21A}"/>
              </a:ext>
            </a:extLst>
          </p:cNvPr>
          <p:cNvSpPr/>
          <p:nvPr/>
        </p:nvSpPr>
        <p:spPr>
          <a:xfrm>
            <a:off x="8330335" y="5803974"/>
            <a:ext cx="169334" cy="186266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xmlns="" id="{0F7DDC79-EBD7-4CAC-973D-8E74961E062E}"/>
              </a:ext>
            </a:extLst>
          </p:cNvPr>
          <p:cNvSpPr/>
          <p:nvPr/>
        </p:nvSpPr>
        <p:spPr>
          <a:xfrm>
            <a:off x="8138237" y="5608771"/>
            <a:ext cx="570441" cy="190494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xmlns="" id="{4DC1B2BA-CD8C-4F7E-B552-2BC23267BFB2}"/>
              </a:ext>
            </a:extLst>
          </p:cNvPr>
          <p:cNvSpPr/>
          <p:nvPr/>
        </p:nvSpPr>
        <p:spPr>
          <a:xfrm>
            <a:off x="6484600" y="5806189"/>
            <a:ext cx="2362200" cy="194733"/>
          </a:xfrm>
          <a:prstGeom prst="rect">
            <a:avLst/>
          </a:prstGeom>
          <a:solidFill>
            <a:srgbClr val="FA50E2"/>
          </a:solidFill>
          <a:ln>
            <a:solidFill>
              <a:srgbClr val="9E2248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xmlns="" id="{4A6AC9C3-BF47-4D2A-A35C-AC32269C40AF}"/>
              </a:ext>
            </a:extLst>
          </p:cNvPr>
          <p:cNvSpPr/>
          <p:nvPr/>
        </p:nvSpPr>
        <p:spPr>
          <a:xfrm>
            <a:off x="9371533" y="5515298"/>
            <a:ext cx="2362199" cy="285903"/>
          </a:xfrm>
          <a:prstGeom prst="rect">
            <a:avLst/>
          </a:prstGeom>
          <a:solidFill>
            <a:srgbClr val="FA50E2"/>
          </a:solidFill>
          <a:ln>
            <a:solidFill>
              <a:srgbClr val="AF71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xmlns="" id="{3B20C3A5-653D-4483-9D83-641B128CD1FC}"/>
              </a:ext>
            </a:extLst>
          </p:cNvPr>
          <p:cNvSpPr/>
          <p:nvPr/>
        </p:nvSpPr>
        <p:spPr>
          <a:xfrm>
            <a:off x="9371534" y="5997652"/>
            <a:ext cx="2362200" cy="21166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SiO2</a:t>
            </a:r>
            <a:endParaRPr lang="aa-ET" dirty="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xmlns="" id="{51FF3F94-4B6B-43D9-819F-6B47A774C9EA}"/>
              </a:ext>
            </a:extLst>
          </p:cNvPr>
          <p:cNvSpPr/>
          <p:nvPr/>
        </p:nvSpPr>
        <p:spPr>
          <a:xfrm>
            <a:off x="9775274" y="5614059"/>
            <a:ext cx="169334" cy="186266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xmlns="" id="{1C52326A-5F81-44EE-967B-E5AD3E3CD041}"/>
              </a:ext>
            </a:extLst>
          </p:cNvPr>
          <p:cNvSpPr/>
          <p:nvPr/>
        </p:nvSpPr>
        <p:spPr>
          <a:xfrm>
            <a:off x="11183400" y="5802919"/>
            <a:ext cx="169334" cy="186266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xmlns="" id="{580F2F90-39BC-4B80-8F0C-E454667B1DBF}"/>
              </a:ext>
            </a:extLst>
          </p:cNvPr>
          <p:cNvSpPr/>
          <p:nvPr/>
        </p:nvSpPr>
        <p:spPr>
          <a:xfrm>
            <a:off x="9371532" y="5033760"/>
            <a:ext cx="2362199" cy="474128"/>
          </a:xfrm>
          <a:prstGeom prst="rect">
            <a:avLst/>
          </a:prstGeom>
          <a:solidFill>
            <a:srgbClr val="FA50E2"/>
          </a:solidFill>
          <a:ln>
            <a:solidFill>
              <a:srgbClr val="AF71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xmlns="" id="{3F8C1472-ECA1-4943-98DB-D6BA606A39DD}"/>
              </a:ext>
            </a:extLst>
          </p:cNvPr>
          <p:cNvSpPr/>
          <p:nvPr/>
        </p:nvSpPr>
        <p:spPr>
          <a:xfrm>
            <a:off x="11217266" y="5802917"/>
            <a:ext cx="169334" cy="186266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xmlns="" id="{F574EEDA-6657-4FC3-BCC9-7CFBF411E3B1}"/>
              </a:ext>
            </a:extLst>
          </p:cNvPr>
          <p:cNvSpPr/>
          <p:nvPr/>
        </p:nvSpPr>
        <p:spPr>
          <a:xfrm>
            <a:off x="11025168" y="5607714"/>
            <a:ext cx="570441" cy="190494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xmlns="" id="{80F4AF71-1ABD-4619-BCAA-343EC068BA91}"/>
              </a:ext>
            </a:extLst>
          </p:cNvPr>
          <p:cNvSpPr/>
          <p:nvPr/>
        </p:nvSpPr>
        <p:spPr>
          <a:xfrm>
            <a:off x="9371531" y="5805132"/>
            <a:ext cx="2362200" cy="194733"/>
          </a:xfrm>
          <a:prstGeom prst="rect">
            <a:avLst/>
          </a:prstGeom>
          <a:solidFill>
            <a:srgbClr val="FA50E2"/>
          </a:solidFill>
          <a:ln>
            <a:solidFill>
              <a:srgbClr val="9E2248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xmlns="" id="{19AD3996-1BBA-4C50-900B-6A1B32D50004}"/>
              </a:ext>
            </a:extLst>
          </p:cNvPr>
          <p:cNvSpPr/>
          <p:nvPr/>
        </p:nvSpPr>
        <p:spPr>
          <a:xfrm>
            <a:off x="2567608" y="51963"/>
            <a:ext cx="9217024" cy="7982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dirty="0" err="1"/>
          </a:p>
        </p:txBody>
      </p:sp>
      <p:sp>
        <p:nvSpPr>
          <p:cNvPr id="105" name="Arrow: Right 104">
            <a:extLst>
              <a:ext uri="{FF2B5EF4-FFF2-40B4-BE49-F238E27FC236}">
                <a16:creationId xmlns:a16="http://schemas.microsoft.com/office/drawing/2014/main" xmlns="" id="{86AA4FB1-D802-4A7C-99D6-FFEE81D73FE2}"/>
              </a:ext>
            </a:extLst>
          </p:cNvPr>
          <p:cNvSpPr/>
          <p:nvPr/>
        </p:nvSpPr>
        <p:spPr>
          <a:xfrm>
            <a:off x="11698793" y="1375685"/>
            <a:ext cx="493207" cy="376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06" name="Arrow: Right 105">
            <a:extLst>
              <a:ext uri="{FF2B5EF4-FFF2-40B4-BE49-F238E27FC236}">
                <a16:creationId xmlns:a16="http://schemas.microsoft.com/office/drawing/2014/main" xmlns="" id="{2FD4EF6C-F554-4458-AA48-D15CA8F20D0B}"/>
              </a:ext>
            </a:extLst>
          </p:cNvPr>
          <p:cNvSpPr/>
          <p:nvPr/>
        </p:nvSpPr>
        <p:spPr>
          <a:xfrm>
            <a:off x="11595609" y="3946684"/>
            <a:ext cx="571501" cy="376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xmlns="" id="{1E223894-5CB8-4819-B997-CA15647DB627}"/>
              </a:ext>
            </a:extLst>
          </p:cNvPr>
          <p:cNvSpPr/>
          <p:nvPr/>
        </p:nvSpPr>
        <p:spPr>
          <a:xfrm>
            <a:off x="575183" y="2859088"/>
            <a:ext cx="2362200" cy="24464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</a:t>
            </a:r>
            <a:endParaRPr lang="aa-ET" dirty="0" err="1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xmlns="" id="{28018544-98E1-452F-AD5E-4E64AA0A50B4}"/>
              </a:ext>
            </a:extLst>
          </p:cNvPr>
          <p:cNvSpPr/>
          <p:nvPr/>
        </p:nvSpPr>
        <p:spPr>
          <a:xfrm>
            <a:off x="3428450" y="2861064"/>
            <a:ext cx="2362200" cy="24464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</a:t>
            </a:r>
            <a:endParaRPr lang="aa-ET" dirty="0" err="1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xmlns="" id="{F582B385-F0ED-4A5B-85FE-C51070BA0095}"/>
              </a:ext>
            </a:extLst>
          </p:cNvPr>
          <p:cNvSpPr/>
          <p:nvPr/>
        </p:nvSpPr>
        <p:spPr>
          <a:xfrm>
            <a:off x="6281717" y="2854293"/>
            <a:ext cx="2362200" cy="24464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</a:t>
            </a:r>
            <a:endParaRPr lang="aa-ET" dirty="0" err="1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xmlns="" id="{FD032A40-D673-4C13-9079-AE6DC86B4726}"/>
              </a:ext>
            </a:extLst>
          </p:cNvPr>
          <p:cNvSpPr/>
          <p:nvPr/>
        </p:nvSpPr>
        <p:spPr>
          <a:xfrm>
            <a:off x="9295320" y="2874822"/>
            <a:ext cx="2362200" cy="24464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</a:t>
            </a:r>
            <a:endParaRPr lang="aa-ET" dirty="0" err="1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xmlns="" id="{B998FAA8-3A10-4D1B-B7BF-C2A0E10B1378}"/>
              </a:ext>
            </a:extLst>
          </p:cNvPr>
          <p:cNvSpPr/>
          <p:nvPr/>
        </p:nvSpPr>
        <p:spPr>
          <a:xfrm>
            <a:off x="9371531" y="6209074"/>
            <a:ext cx="2362200" cy="24464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</a:t>
            </a:r>
            <a:endParaRPr lang="aa-ET" dirty="0" err="1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xmlns="" id="{DA87E736-6F30-4E35-BF49-9C45EBFD644A}"/>
              </a:ext>
            </a:extLst>
          </p:cNvPr>
          <p:cNvSpPr/>
          <p:nvPr/>
        </p:nvSpPr>
        <p:spPr>
          <a:xfrm>
            <a:off x="6484600" y="6222548"/>
            <a:ext cx="2362200" cy="24464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</a:t>
            </a:r>
            <a:endParaRPr lang="aa-ET" dirty="0" err="1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xmlns="" id="{59F59E5F-1747-4B8E-94CF-83FEC6C9E7E0}"/>
              </a:ext>
            </a:extLst>
          </p:cNvPr>
          <p:cNvSpPr/>
          <p:nvPr/>
        </p:nvSpPr>
        <p:spPr>
          <a:xfrm>
            <a:off x="3493540" y="6215676"/>
            <a:ext cx="2362200" cy="24464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</a:t>
            </a:r>
            <a:endParaRPr lang="aa-ET" dirty="0" err="1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xmlns="" id="{AFDA003D-8F56-421D-A7D1-CEE2165B405D}"/>
              </a:ext>
            </a:extLst>
          </p:cNvPr>
          <p:cNvSpPr/>
          <p:nvPr/>
        </p:nvSpPr>
        <p:spPr>
          <a:xfrm>
            <a:off x="575183" y="6218843"/>
            <a:ext cx="2362199" cy="24464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</a:t>
            </a:r>
            <a:endParaRPr lang="aa-ET" dirty="0" err="1"/>
          </a:p>
        </p:txBody>
      </p:sp>
    </p:spTree>
    <p:extLst>
      <p:ext uri="{BB962C8B-B14F-4D97-AF65-F5344CB8AC3E}">
        <p14:creationId xmlns:p14="http://schemas.microsoft.com/office/powerpoint/2010/main" val="11399429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xmlns="" id="{ADD6A03E-D7C5-4F9B-BF51-9BF27ACA90F9}"/>
              </a:ext>
            </a:extLst>
          </p:cNvPr>
          <p:cNvSpPr/>
          <p:nvPr/>
        </p:nvSpPr>
        <p:spPr>
          <a:xfrm>
            <a:off x="3491857" y="2427354"/>
            <a:ext cx="2362199" cy="285903"/>
          </a:xfrm>
          <a:prstGeom prst="rect">
            <a:avLst/>
          </a:prstGeom>
          <a:solidFill>
            <a:srgbClr val="FA50E2"/>
          </a:solidFill>
          <a:ln>
            <a:solidFill>
              <a:srgbClr val="AF71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xmlns="" id="{689126FA-72E3-4E31-A91A-04D1B5FBA01D}"/>
              </a:ext>
            </a:extLst>
          </p:cNvPr>
          <p:cNvSpPr/>
          <p:nvPr/>
        </p:nvSpPr>
        <p:spPr>
          <a:xfrm>
            <a:off x="3491858" y="2909708"/>
            <a:ext cx="2362200" cy="21166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SiO2</a:t>
            </a:r>
            <a:endParaRPr lang="aa-ET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xmlns="" id="{5A3ADDC9-5FFB-459D-95CA-86DE242F4FD9}"/>
              </a:ext>
            </a:extLst>
          </p:cNvPr>
          <p:cNvSpPr/>
          <p:nvPr/>
        </p:nvSpPr>
        <p:spPr>
          <a:xfrm>
            <a:off x="3872857" y="2521299"/>
            <a:ext cx="169334" cy="186266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xmlns="" id="{29CB979B-909D-43A5-8239-73CCAC9605DD}"/>
              </a:ext>
            </a:extLst>
          </p:cNvPr>
          <p:cNvSpPr/>
          <p:nvPr/>
        </p:nvSpPr>
        <p:spPr>
          <a:xfrm>
            <a:off x="5303724" y="2714975"/>
            <a:ext cx="169334" cy="186266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xmlns="" id="{D5660D3C-9EF5-41EE-877F-75839D62C8ED}"/>
              </a:ext>
            </a:extLst>
          </p:cNvPr>
          <p:cNvSpPr/>
          <p:nvPr/>
        </p:nvSpPr>
        <p:spPr>
          <a:xfrm>
            <a:off x="3491856" y="1945816"/>
            <a:ext cx="2362199" cy="474128"/>
          </a:xfrm>
          <a:prstGeom prst="rect">
            <a:avLst/>
          </a:prstGeom>
          <a:solidFill>
            <a:srgbClr val="FA50E2"/>
          </a:solidFill>
          <a:ln>
            <a:solidFill>
              <a:srgbClr val="AF71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xmlns="" id="{06979AEF-B190-460E-9A6F-D16DE7FC8DA1}"/>
              </a:ext>
            </a:extLst>
          </p:cNvPr>
          <p:cNvSpPr/>
          <p:nvPr/>
        </p:nvSpPr>
        <p:spPr>
          <a:xfrm>
            <a:off x="5337590" y="2714973"/>
            <a:ext cx="169334" cy="186266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xmlns="" id="{DFCE4150-8CA6-4992-9A5D-A678E53DB069}"/>
              </a:ext>
            </a:extLst>
          </p:cNvPr>
          <p:cNvSpPr/>
          <p:nvPr/>
        </p:nvSpPr>
        <p:spPr>
          <a:xfrm>
            <a:off x="5122751" y="2514954"/>
            <a:ext cx="570441" cy="190494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xmlns="" id="{12C76920-29CB-43A1-878C-4D36A8757F6A}"/>
              </a:ext>
            </a:extLst>
          </p:cNvPr>
          <p:cNvSpPr/>
          <p:nvPr/>
        </p:nvSpPr>
        <p:spPr>
          <a:xfrm>
            <a:off x="3491855" y="2717188"/>
            <a:ext cx="2362200" cy="194733"/>
          </a:xfrm>
          <a:prstGeom prst="rect">
            <a:avLst/>
          </a:prstGeom>
          <a:solidFill>
            <a:srgbClr val="FA50E2"/>
          </a:solidFill>
          <a:ln>
            <a:solidFill>
              <a:srgbClr val="9E2248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xmlns="" id="{6DA9588E-28CC-4890-A5DA-92D3017A0171}"/>
              </a:ext>
            </a:extLst>
          </p:cNvPr>
          <p:cNvSpPr txBox="1"/>
          <p:nvPr/>
        </p:nvSpPr>
        <p:spPr>
          <a:xfrm>
            <a:off x="10347548" y="1119306"/>
            <a:ext cx="562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Ag</a:t>
            </a:r>
            <a:endParaRPr lang="aa-ET" dirty="0">
              <a:solidFill>
                <a:schemeClr val="bg1"/>
              </a:solidFill>
            </a:endParaRP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xmlns="" id="{353C9136-86E2-474B-AEC5-14FBA473B30B}"/>
              </a:ext>
            </a:extLst>
          </p:cNvPr>
          <p:cNvGrpSpPr/>
          <p:nvPr/>
        </p:nvGrpSpPr>
        <p:grpSpPr>
          <a:xfrm>
            <a:off x="1608954" y="927400"/>
            <a:ext cx="584831" cy="569802"/>
            <a:chOff x="7499350" y="12486"/>
            <a:chExt cx="673904" cy="656588"/>
          </a:xfrm>
        </p:grpSpPr>
        <p:sp>
          <p:nvSpPr>
            <p:cNvPr id="86" name="Explosion: 8 Points 85">
              <a:extLst>
                <a:ext uri="{FF2B5EF4-FFF2-40B4-BE49-F238E27FC236}">
                  <a16:creationId xmlns:a16="http://schemas.microsoft.com/office/drawing/2014/main" xmlns="" id="{F0B4D9A4-64D0-43FA-B491-3AA4FB109E13}"/>
                </a:ext>
              </a:extLst>
            </p:cNvPr>
            <p:cNvSpPr/>
            <p:nvPr/>
          </p:nvSpPr>
          <p:spPr>
            <a:xfrm>
              <a:off x="7499350" y="12486"/>
              <a:ext cx="596898" cy="656588"/>
            </a:xfrm>
            <a:prstGeom prst="irregularSeal1">
              <a:avLst/>
            </a:prstGeom>
            <a:solidFill>
              <a:srgbClr val="B610F8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a-ET" sz="900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xmlns="" id="{05935187-054A-44F2-99A3-5BE309EF52A2}"/>
                </a:ext>
              </a:extLst>
            </p:cNvPr>
            <p:cNvSpPr txBox="1"/>
            <p:nvPr/>
          </p:nvSpPr>
          <p:spPr>
            <a:xfrm>
              <a:off x="7514709" y="134441"/>
              <a:ext cx="658545" cy="390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1"/>
                  </a:solidFill>
                </a:rPr>
                <a:t>RIE</a:t>
              </a:r>
              <a:endParaRPr lang="aa-ET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xmlns="" id="{9C33710B-8A09-4254-9BA0-0765856566CC}"/>
              </a:ext>
            </a:extLst>
          </p:cNvPr>
          <p:cNvSpPr txBox="1"/>
          <p:nvPr/>
        </p:nvSpPr>
        <p:spPr>
          <a:xfrm>
            <a:off x="3997837" y="582938"/>
            <a:ext cx="122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Post-RIE</a:t>
            </a:r>
            <a:endParaRPr lang="aa-ET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xmlns="" id="{3D9E68FB-E20E-4213-A690-AB23928A7B79}"/>
              </a:ext>
            </a:extLst>
          </p:cNvPr>
          <p:cNvSpPr txBox="1"/>
          <p:nvPr/>
        </p:nvSpPr>
        <p:spPr>
          <a:xfrm>
            <a:off x="1576101" y="557665"/>
            <a:ext cx="583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RIE</a:t>
            </a:r>
            <a:endParaRPr lang="aa-ET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xmlns="" id="{3A0A69AE-E9C8-49EA-8658-A118FE3B224C}"/>
              </a:ext>
            </a:extLst>
          </p:cNvPr>
          <p:cNvSpPr txBox="1"/>
          <p:nvPr/>
        </p:nvSpPr>
        <p:spPr>
          <a:xfrm>
            <a:off x="6785896" y="590011"/>
            <a:ext cx="1542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PR2 removal</a:t>
            </a:r>
            <a:endParaRPr lang="aa-ET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xmlns="" id="{D7EA59E3-310C-4ED0-A398-8B8DAF6EA8D8}"/>
              </a:ext>
            </a:extLst>
          </p:cNvPr>
          <p:cNvSpPr txBox="1"/>
          <p:nvPr/>
        </p:nvSpPr>
        <p:spPr>
          <a:xfrm>
            <a:off x="777221" y="3372084"/>
            <a:ext cx="2181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PI top layer peeling</a:t>
            </a:r>
          </a:p>
          <a:p>
            <a:pPr algn="ctr"/>
            <a:r>
              <a:rPr lang="en-GB" dirty="0"/>
              <a:t>(structuring)</a:t>
            </a:r>
            <a:endParaRPr lang="aa-ET" dirty="0"/>
          </a:p>
        </p:txBody>
      </p:sp>
      <p:sp>
        <p:nvSpPr>
          <p:cNvPr id="113" name="Arrow: Right 112">
            <a:extLst>
              <a:ext uri="{FF2B5EF4-FFF2-40B4-BE49-F238E27FC236}">
                <a16:creationId xmlns:a16="http://schemas.microsoft.com/office/drawing/2014/main" xmlns="" id="{A728A1DE-155C-40DC-9356-6CCDB3D7230E}"/>
              </a:ext>
            </a:extLst>
          </p:cNvPr>
          <p:cNvSpPr/>
          <p:nvPr/>
        </p:nvSpPr>
        <p:spPr>
          <a:xfrm>
            <a:off x="2902872" y="1103682"/>
            <a:ext cx="627593" cy="376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15" name="Arrow: Right 114">
            <a:extLst>
              <a:ext uri="{FF2B5EF4-FFF2-40B4-BE49-F238E27FC236}">
                <a16:creationId xmlns:a16="http://schemas.microsoft.com/office/drawing/2014/main" xmlns="" id="{61DE1A1F-5247-4F87-8CF2-A12DB514DB8B}"/>
              </a:ext>
            </a:extLst>
          </p:cNvPr>
          <p:cNvSpPr/>
          <p:nvPr/>
        </p:nvSpPr>
        <p:spPr>
          <a:xfrm>
            <a:off x="5810112" y="1103682"/>
            <a:ext cx="627593" cy="376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16" name="Arrow: Right 115">
            <a:extLst>
              <a:ext uri="{FF2B5EF4-FFF2-40B4-BE49-F238E27FC236}">
                <a16:creationId xmlns:a16="http://schemas.microsoft.com/office/drawing/2014/main" xmlns="" id="{723A12C5-39DF-4FBE-A4A9-3303279E1816}"/>
              </a:ext>
            </a:extLst>
          </p:cNvPr>
          <p:cNvSpPr/>
          <p:nvPr/>
        </p:nvSpPr>
        <p:spPr>
          <a:xfrm>
            <a:off x="8709947" y="1172457"/>
            <a:ext cx="627593" cy="376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xmlns="" id="{96D7548D-D30C-4864-9B5E-D4028278715F}"/>
              </a:ext>
            </a:extLst>
          </p:cNvPr>
          <p:cNvSpPr/>
          <p:nvPr/>
        </p:nvSpPr>
        <p:spPr>
          <a:xfrm>
            <a:off x="528226" y="1738921"/>
            <a:ext cx="2362200" cy="194733"/>
          </a:xfrm>
          <a:prstGeom prst="rect">
            <a:avLst/>
          </a:prstGeom>
          <a:solidFill>
            <a:srgbClr val="37AFBF"/>
          </a:solidFill>
          <a:ln>
            <a:solidFill>
              <a:srgbClr val="37A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PR2</a:t>
            </a:r>
            <a:endParaRPr lang="aa-ET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xmlns="" id="{3C7758C9-B2A3-4B3D-BBD2-0B8777489C86}"/>
              </a:ext>
            </a:extLst>
          </p:cNvPr>
          <p:cNvSpPr/>
          <p:nvPr/>
        </p:nvSpPr>
        <p:spPr>
          <a:xfrm>
            <a:off x="2139011" y="1675898"/>
            <a:ext cx="571501" cy="2619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xmlns="" id="{BE9B7A29-8E2E-465A-BAA3-F99030F60652}"/>
              </a:ext>
            </a:extLst>
          </p:cNvPr>
          <p:cNvSpPr/>
          <p:nvPr/>
        </p:nvSpPr>
        <p:spPr>
          <a:xfrm>
            <a:off x="910278" y="1707495"/>
            <a:ext cx="168284" cy="2308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xmlns="" id="{D81DAAAC-63F7-4365-9A5B-6B8518F9F1CA}"/>
              </a:ext>
            </a:extLst>
          </p:cNvPr>
          <p:cNvSpPr/>
          <p:nvPr/>
        </p:nvSpPr>
        <p:spPr>
          <a:xfrm>
            <a:off x="7907059" y="1765558"/>
            <a:ext cx="571501" cy="7525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xmlns="" id="{0D20E28D-3273-4C05-BFC0-1FFF4DF9C3B4}"/>
              </a:ext>
            </a:extLst>
          </p:cNvPr>
          <p:cNvSpPr/>
          <p:nvPr/>
        </p:nvSpPr>
        <p:spPr>
          <a:xfrm>
            <a:off x="6673045" y="1734509"/>
            <a:ext cx="169334" cy="7704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xmlns="" id="{C6047212-53F8-4AFE-A0B4-E6ABC94128BF}"/>
              </a:ext>
            </a:extLst>
          </p:cNvPr>
          <p:cNvSpPr/>
          <p:nvPr/>
        </p:nvSpPr>
        <p:spPr>
          <a:xfrm>
            <a:off x="9731622" y="1734509"/>
            <a:ext cx="169334" cy="7704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xmlns="" id="{563E7643-5ED7-4BFC-91DE-64308ABBA43F}"/>
              </a:ext>
            </a:extLst>
          </p:cNvPr>
          <p:cNvSpPr/>
          <p:nvPr/>
        </p:nvSpPr>
        <p:spPr>
          <a:xfrm>
            <a:off x="3500164" y="1745114"/>
            <a:ext cx="2362200" cy="194733"/>
          </a:xfrm>
          <a:prstGeom prst="rect">
            <a:avLst/>
          </a:prstGeom>
          <a:solidFill>
            <a:srgbClr val="37AFBF"/>
          </a:solidFill>
          <a:ln>
            <a:solidFill>
              <a:srgbClr val="37A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PR2</a:t>
            </a:r>
            <a:endParaRPr lang="aa-ET" dirty="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xmlns="" id="{9EAB52FA-5829-4B10-A616-61DA2D065649}"/>
              </a:ext>
            </a:extLst>
          </p:cNvPr>
          <p:cNvSpPr/>
          <p:nvPr/>
        </p:nvSpPr>
        <p:spPr>
          <a:xfrm>
            <a:off x="5115179" y="1536378"/>
            <a:ext cx="571501" cy="9935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xmlns="" id="{E984D78E-4F0C-4451-AA63-3B49D69E7C89}"/>
              </a:ext>
            </a:extLst>
          </p:cNvPr>
          <p:cNvSpPr/>
          <p:nvPr/>
        </p:nvSpPr>
        <p:spPr>
          <a:xfrm>
            <a:off x="3881165" y="1626867"/>
            <a:ext cx="169333" cy="878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xmlns="" id="{7C4C6F6A-FE7C-4BE0-A36B-71301056BEDA}"/>
              </a:ext>
            </a:extLst>
          </p:cNvPr>
          <p:cNvSpPr txBox="1"/>
          <p:nvPr/>
        </p:nvSpPr>
        <p:spPr>
          <a:xfrm>
            <a:off x="9653037" y="626296"/>
            <a:ext cx="1834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OSC deposition</a:t>
            </a:r>
            <a:endParaRPr lang="aa-ET" dirty="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xmlns="" id="{5EBF69D7-514D-472F-B988-D5664371237A}"/>
              </a:ext>
            </a:extLst>
          </p:cNvPr>
          <p:cNvSpPr txBox="1"/>
          <p:nvPr/>
        </p:nvSpPr>
        <p:spPr>
          <a:xfrm>
            <a:off x="1356621" y="4211700"/>
            <a:ext cx="562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Ag</a:t>
            </a:r>
            <a:endParaRPr lang="aa-ET" dirty="0">
              <a:solidFill>
                <a:schemeClr val="bg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xmlns="" id="{318EB2DB-B119-43DB-AD90-B666B5B973E1}"/>
              </a:ext>
            </a:extLst>
          </p:cNvPr>
          <p:cNvSpPr/>
          <p:nvPr/>
        </p:nvSpPr>
        <p:spPr>
          <a:xfrm>
            <a:off x="516195" y="2427891"/>
            <a:ext cx="2362199" cy="285903"/>
          </a:xfrm>
          <a:prstGeom prst="rect">
            <a:avLst/>
          </a:prstGeom>
          <a:solidFill>
            <a:srgbClr val="FA50E2"/>
          </a:solidFill>
          <a:ln>
            <a:solidFill>
              <a:srgbClr val="AF71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xmlns="" id="{53E4DC5C-DEE4-430F-BD79-CB57F42B66B0}"/>
              </a:ext>
            </a:extLst>
          </p:cNvPr>
          <p:cNvSpPr/>
          <p:nvPr/>
        </p:nvSpPr>
        <p:spPr>
          <a:xfrm>
            <a:off x="516196" y="2910245"/>
            <a:ext cx="2362200" cy="21166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SiO2</a:t>
            </a:r>
            <a:endParaRPr lang="aa-ET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xmlns="" id="{0D46177A-9170-4CD2-8D25-89F526F65EB1}"/>
              </a:ext>
            </a:extLst>
          </p:cNvPr>
          <p:cNvSpPr/>
          <p:nvPr/>
        </p:nvSpPr>
        <p:spPr>
          <a:xfrm>
            <a:off x="897195" y="2521836"/>
            <a:ext cx="169334" cy="186266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xmlns="" id="{8DEF6042-9201-48A3-BE8A-795D40B8185B}"/>
              </a:ext>
            </a:extLst>
          </p:cNvPr>
          <p:cNvSpPr/>
          <p:nvPr/>
        </p:nvSpPr>
        <p:spPr>
          <a:xfrm>
            <a:off x="2328062" y="2715512"/>
            <a:ext cx="169334" cy="186266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xmlns="" id="{859A0DC9-CE98-4EC4-AC56-343A9A1ADB9A}"/>
              </a:ext>
            </a:extLst>
          </p:cNvPr>
          <p:cNvSpPr/>
          <p:nvPr/>
        </p:nvSpPr>
        <p:spPr>
          <a:xfrm>
            <a:off x="516194" y="1946353"/>
            <a:ext cx="2362199" cy="474128"/>
          </a:xfrm>
          <a:prstGeom prst="rect">
            <a:avLst/>
          </a:prstGeom>
          <a:solidFill>
            <a:srgbClr val="FA50E2"/>
          </a:solidFill>
          <a:ln>
            <a:solidFill>
              <a:srgbClr val="AF71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xmlns="" id="{2713E24E-B798-45E8-8BF8-397A91E56D7D}"/>
              </a:ext>
            </a:extLst>
          </p:cNvPr>
          <p:cNvSpPr/>
          <p:nvPr/>
        </p:nvSpPr>
        <p:spPr>
          <a:xfrm>
            <a:off x="2361928" y="2715510"/>
            <a:ext cx="169334" cy="186266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xmlns="" id="{DA65A423-9AC9-4E3F-A021-1B1A0974EE47}"/>
              </a:ext>
            </a:extLst>
          </p:cNvPr>
          <p:cNvSpPr/>
          <p:nvPr/>
        </p:nvSpPr>
        <p:spPr>
          <a:xfrm>
            <a:off x="2147089" y="2515491"/>
            <a:ext cx="570441" cy="190494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xmlns="" id="{0572E983-3E92-41FD-82E9-922F8D4F30D3}"/>
              </a:ext>
            </a:extLst>
          </p:cNvPr>
          <p:cNvSpPr/>
          <p:nvPr/>
        </p:nvSpPr>
        <p:spPr>
          <a:xfrm>
            <a:off x="516193" y="2717725"/>
            <a:ext cx="2362200" cy="194733"/>
          </a:xfrm>
          <a:prstGeom prst="rect">
            <a:avLst/>
          </a:prstGeom>
          <a:solidFill>
            <a:srgbClr val="FA50E2"/>
          </a:solidFill>
          <a:ln>
            <a:solidFill>
              <a:srgbClr val="9E2248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xmlns="" id="{810F4EF2-7AD1-49C5-B446-02B9C402681C}"/>
              </a:ext>
            </a:extLst>
          </p:cNvPr>
          <p:cNvSpPr/>
          <p:nvPr/>
        </p:nvSpPr>
        <p:spPr>
          <a:xfrm>
            <a:off x="6463794" y="2420181"/>
            <a:ext cx="2362199" cy="285903"/>
          </a:xfrm>
          <a:prstGeom prst="rect">
            <a:avLst/>
          </a:prstGeom>
          <a:solidFill>
            <a:srgbClr val="FA50E2"/>
          </a:solidFill>
          <a:ln>
            <a:solidFill>
              <a:srgbClr val="AF71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xmlns="" id="{18A85977-7FBF-4224-A1B6-612120AD2250}"/>
              </a:ext>
            </a:extLst>
          </p:cNvPr>
          <p:cNvSpPr/>
          <p:nvPr/>
        </p:nvSpPr>
        <p:spPr>
          <a:xfrm>
            <a:off x="6463795" y="2902535"/>
            <a:ext cx="2362200" cy="21166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SiO2</a:t>
            </a:r>
            <a:endParaRPr lang="aa-ET" dirty="0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xmlns="" id="{B7501FF1-C633-42B4-8A4D-5E02B47E69C8}"/>
              </a:ext>
            </a:extLst>
          </p:cNvPr>
          <p:cNvSpPr/>
          <p:nvPr/>
        </p:nvSpPr>
        <p:spPr>
          <a:xfrm>
            <a:off x="6844794" y="2496373"/>
            <a:ext cx="185212" cy="210805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xmlns="" id="{E252DE2D-C454-4337-B32F-47450E04627C}"/>
              </a:ext>
            </a:extLst>
          </p:cNvPr>
          <p:cNvSpPr/>
          <p:nvPr/>
        </p:nvSpPr>
        <p:spPr>
          <a:xfrm>
            <a:off x="8275661" y="2707802"/>
            <a:ext cx="169334" cy="186266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xmlns="" id="{ACB23CDB-8944-473C-B3D5-6788094167CF}"/>
              </a:ext>
            </a:extLst>
          </p:cNvPr>
          <p:cNvSpPr/>
          <p:nvPr/>
        </p:nvSpPr>
        <p:spPr>
          <a:xfrm>
            <a:off x="6463793" y="1938643"/>
            <a:ext cx="2362199" cy="474128"/>
          </a:xfrm>
          <a:prstGeom prst="rect">
            <a:avLst/>
          </a:prstGeom>
          <a:solidFill>
            <a:srgbClr val="FA50E2"/>
          </a:solidFill>
          <a:ln>
            <a:solidFill>
              <a:srgbClr val="AF71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xmlns="" id="{DEE9D254-2AD1-409D-BA1A-66B1A865F885}"/>
              </a:ext>
            </a:extLst>
          </p:cNvPr>
          <p:cNvSpPr/>
          <p:nvPr/>
        </p:nvSpPr>
        <p:spPr>
          <a:xfrm>
            <a:off x="8309527" y="2707800"/>
            <a:ext cx="169334" cy="186266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xmlns="" id="{A83EA7B4-A2A6-45B6-901D-3C16BD34CC8A}"/>
              </a:ext>
            </a:extLst>
          </p:cNvPr>
          <p:cNvSpPr/>
          <p:nvPr/>
        </p:nvSpPr>
        <p:spPr>
          <a:xfrm>
            <a:off x="8094688" y="2518426"/>
            <a:ext cx="570441" cy="190494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xmlns="" id="{00D37E1D-79C0-421E-BCB8-61912C11C5A2}"/>
              </a:ext>
            </a:extLst>
          </p:cNvPr>
          <p:cNvSpPr/>
          <p:nvPr/>
        </p:nvSpPr>
        <p:spPr>
          <a:xfrm>
            <a:off x="6463792" y="2710015"/>
            <a:ext cx="2362200" cy="194733"/>
          </a:xfrm>
          <a:prstGeom prst="rect">
            <a:avLst/>
          </a:prstGeom>
          <a:solidFill>
            <a:srgbClr val="FA50E2"/>
          </a:solidFill>
          <a:ln>
            <a:solidFill>
              <a:srgbClr val="9E2248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xmlns="" id="{6C3516BC-D1C2-4E34-80DE-BAA191466FA2}"/>
              </a:ext>
            </a:extLst>
          </p:cNvPr>
          <p:cNvSpPr/>
          <p:nvPr/>
        </p:nvSpPr>
        <p:spPr>
          <a:xfrm>
            <a:off x="8087116" y="1529205"/>
            <a:ext cx="571501" cy="9935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xmlns="" id="{02309053-33D7-4810-9E4D-ACB249C44188}"/>
              </a:ext>
            </a:extLst>
          </p:cNvPr>
          <p:cNvSpPr/>
          <p:nvPr/>
        </p:nvSpPr>
        <p:spPr>
          <a:xfrm>
            <a:off x="6853102" y="1619694"/>
            <a:ext cx="169333" cy="878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xmlns="" id="{894CDF41-FE9D-40EC-BB06-E2F31B93B160}"/>
              </a:ext>
            </a:extLst>
          </p:cNvPr>
          <p:cNvSpPr/>
          <p:nvPr/>
        </p:nvSpPr>
        <p:spPr>
          <a:xfrm>
            <a:off x="9289386" y="2422666"/>
            <a:ext cx="2362199" cy="285903"/>
          </a:xfrm>
          <a:prstGeom prst="rect">
            <a:avLst/>
          </a:prstGeom>
          <a:solidFill>
            <a:srgbClr val="FA50E2"/>
          </a:solidFill>
          <a:ln>
            <a:solidFill>
              <a:srgbClr val="AF71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xmlns="" id="{6D032A28-1F3D-40B4-921A-0CB19A5B9F77}"/>
              </a:ext>
            </a:extLst>
          </p:cNvPr>
          <p:cNvSpPr/>
          <p:nvPr/>
        </p:nvSpPr>
        <p:spPr>
          <a:xfrm>
            <a:off x="9289387" y="2905020"/>
            <a:ext cx="2362200" cy="21166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SiO2</a:t>
            </a:r>
            <a:endParaRPr lang="aa-ET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xmlns="" id="{68019418-9E39-4135-8B54-972E86B9901E}"/>
              </a:ext>
            </a:extLst>
          </p:cNvPr>
          <p:cNvSpPr/>
          <p:nvPr/>
        </p:nvSpPr>
        <p:spPr>
          <a:xfrm>
            <a:off x="9676177" y="2496374"/>
            <a:ext cx="175165" cy="209074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xmlns="" id="{F4B34D01-9E83-4DE8-B1F0-2C0E09AF105D}"/>
              </a:ext>
            </a:extLst>
          </p:cNvPr>
          <p:cNvSpPr/>
          <p:nvPr/>
        </p:nvSpPr>
        <p:spPr>
          <a:xfrm>
            <a:off x="11101253" y="2710287"/>
            <a:ext cx="169334" cy="186266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xmlns="" id="{2A90C227-6795-40C1-93B5-C0DBC10CF5A0}"/>
              </a:ext>
            </a:extLst>
          </p:cNvPr>
          <p:cNvSpPr/>
          <p:nvPr/>
        </p:nvSpPr>
        <p:spPr>
          <a:xfrm>
            <a:off x="9289385" y="1941128"/>
            <a:ext cx="2362199" cy="474128"/>
          </a:xfrm>
          <a:prstGeom prst="rect">
            <a:avLst/>
          </a:prstGeom>
          <a:solidFill>
            <a:srgbClr val="FA50E2"/>
          </a:solidFill>
          <a:ln>
            <a:solidFill>
              <a:srgbClr val="AF71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xmlns="" id="{DAA66849-CA32-4A34-BC39-B8F2A83CF8F0}"/>
              </a:ext>
            </a:extLst>
          </p:cNvPr>
          <p:cNvSpPr/>
          <p:nvPr/>
        </p:nvSpPr>
        <p:spPr>
          <a:xfrm>
            <a:off x="11135119" y="2710285"/>
            <a:ext cx="169334" cy="186266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xmlns="" id="{3F4DE5CD-4AD4-462F-BB29-59B449787F25}"/>
              </a:ext>
            </a:extLst>
          </p:cNvPr>
          <p:cNvSpPr/>
          <p:nvPr/>
        </p:nvSpPr>
        <p:spPr>
          <a:xfrm>
            <a:off x="10920280" y="2510266"/>
            <a:ext cx="570441" cy="190494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xmlns="" id="{D3405C17-BDB1-4733-8A76-6E5D1D646C60}"/>
              </a:ext>
            </a:extLst>
          </p:cNvPr>
          <p:cNvSpPr/>
          <p:nvPr/>
        </p:nvSpPr>
        <p:spPr>
          <a:xfrm>
            <a:off x="9289384" y="2712500"/>
            <a:ext cx="2362200" cy="194733"/>
          </a:xfrm>
          <a:prstGeom prst="rect">
            <a:avLst/>
          </a:prstGeom>
          <a:solidFill>
            <a:srgbClr val="FA50E2"/>
          </a:solidFill>
          <a:ln>
            <a:solidFill>
              <a:srgbClr val="9E2248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xmlns="" id="{40FB478A-6618-4B2F-A591-7DFF3157022D}"/>
              </a:ext>
            </a:extLst>
          </p:cNvPr>
          <p:cNvSpPr/>
          <p:nvPr/>
        </p:nvSpPr>
        <p:spPr>
          <a:xfrm>
            <a:off x="10916024" y="1527785"/>
            <a:ext cx="571501" cy="9935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xmlns="" id="{D1B643F7-81DF-4E3E-90FB-A608ABF2C560}"/>
              </a:ext>
            </a:extLst>
          </p:cNvPr>
          <p:cNvSpPr/>
          <p:nvPr/>
        </p:nvSpPr>
        <p:spPr>
          <a:xfrm>
            <a:off x="9682010" y="1618274"/>
            <a:ext cx="169333" cy="878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xmlns="" id="{3C6DD4DB-47BC-4865-8110-DEC70FC15689}"/>
              </a:ext>
            </a:extLst>
          </p:cNvPr>
          <p:cNvSpPr/>
          <p:nvPr/>
        </p:nvSpPr>
        <p:spPr>
          <a:xfrm>
            <a:off x="2567608" y="51963"/>
            <a:ext cx="9217024" cy="5927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dirty="0" err="1"/>
          </a:p>
        </p:txBody>
      </p:sp>
      <p:sp>
        <p:nvSpPr>
          <p:cNvPr id="131" name="Arrow: Right 130">
            <a:extLst>
              <a:ext uri="{FF2B5EF4-FFF2-40B4-BE49-F238E27FC236}">
                <a16:creationId xmlns:a16="http://schemas.microsoft.com/office/drawing/2014/main" xmlns="" id="{A40E56E4-FBDA-4389-8591-D04307F92C89}"/>
              </a:ext>
            </a:extLst>
          </p:cNvPr>
          <p:cNvSpPr/>
          <p:nvPr/>
        </p:nvSpPr>
        <p:spPr>
          <a:xfrm>
            <a:off x="11564280" y="1105423"/>
            <a:ext cx="627593" cy="376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58CB361-D530-4442-A14D-9770F20BDA34}"/>
              </a:ext>
            </a:extLst>
          </p:cNvPr>
          <p:cNvSpPr/>
          <p:nvPr/>
        </p:nvSpPr>
        <p:spPr>
          <a:xfrm>
            <a:off x="9289384" y="1765558"/>
            <a:ext cx="2362199" cy="18025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OSC</a:t>
            </a:r>
            <a:endParaRPr lang="aa-ET" dirty="0" err="1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xmlns="" id="{68FDE1CE-523F-4F5D-92A5-771600E9FA80}"/>
              </a:ext>
            </a:extLst>
          </p:cNvPr>
          <p:cNvSpPr/>
          <p:nvPr/>
        </p:nvSpPr>
        <p:spPr>
          <a:xfrm>
            <a:off x="9676459" y="1917053"/>
            <a:ext cx="184665" cy="58531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dirty="0" err="1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xmlns="" id="{1588F066-4517-4538-AB2F-E096A8022A6F}"/>
              </a:ext>
            </a:extLst>
          </p:cNvPr>
          <p:cNvSpPr/>
          <p:nvPr/>
        </p:nvSpPr>
        <p:spPr>
          <a:xfrm>
            <a:off x="10920279" y="1927306"/>
            <a:ext cx="577874" cy="6233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dirty="0" err="1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xmlns="" id="{61B1E9B0-2679-44E9-A880-934524B993FE}"/>
              </a:ext>
            </a:extLst>
          </p:cNvPr>
          <p:cNvSpPr/>
          <p:nvPr/>
        </p:nvSpPr>
        <p:spPr>
          <a:xfrm>
            <a:off x="1048482" y="4654255"/>
            <a:ext cx="169334" cy="7704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xmlns="" id="{5003A1A6-93FE-4B96-AE1B-F14150F486C3}"/>
              </a:ext>
            </a:extLst>
          </p:cNvPr>
          <p:cNvSpPr/>
          <p:nvPr/>
        </p:nvSpPr>
        <p:spPr>
          <a:xfrm>
            <a:off x="606246" y="5342412"/>
            <a:ext cx="2362199" cy="285903"/>
          </a:xfrm>
          <a:prstGeom prst="rect">
            <a:avLst/>
          </a:prstGeom>
          <a:solidFill>
            <a:srgbClr val="FA50E2"/>
          </a:solidFill>
          <a:ln>
            <a:solidFill>
              <a:srgbClr val="AF71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xmlns="" id="{623955CD-5A9F-4658-BA57-441D46C69B73}"/>
              </a:ext>
            </a:extLst>
          </p:cNvPr>
          <p:cNvSpPr/>
          <p:nvPr/>
        </p:nvSpPr>
        <p:spPr>
          <a:xfrm>
            <a:off x="606247" y="5824766"/>
            <a:ext cx="2362200" cy="21166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SiO2</a:t>
            </a:r>
            <a:endParaRPr lang="aa-ET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xmlns="" id="{0B1133BC-D8B2-4929-B4D9-F3A995C966BE}"/>
              </a:ext>
            </a:extLst>
          </p:cNvPr>
          <p:cNvSpPr/>
          <p:nvPr/>
        </p:nvSpPr>
        <p:spPr>
          <a:xfrm>
            <a:off x="993037" y="5416120"/>
            <a:ext cx="175165" cy="209074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xmlns="" id="{B63EFBA2-D6CD-49B1-98AE-2F861F7464F6}"/>
              </a:ext>
            </a:extLst>
          </p:cNvPr>
          <p:cNvSpPr/>
          <p:nvPr/>
        </p:nvSpPr>
        <p:spPr>
          <a:xfrm>
            <a:off x="2418113" y="5630033"/>
            <a:ext cx="169334" cy="186266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xmlns="" id="{4B2C1F20-A1AE-43BD-B0CD-54A7E33CE7A0}"/>
              </a:ext>
            </a:extLst>
          </p:cNvPr>
          <p:cNvSpPr/>
          <p:nvPr/>
        </p:nvSpPr>
        <p:spPr>
          <a:xfrm>
            <a:off x="2451979" y="5630031"/>
            <a:ext cx="169334" cy="186266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xmlns="" id="{22856F35-B38B-4E0A-9832-47E4DC6BC84C}"/>
              </a:ext>
            </a:extLst>
          </p:cNvPr>
          <p:cNvSpPr/>
          <p:nvPr/>
        </p:nvSpPr>
        <p:spPr>
          <a:xfrm>
            <a:off x="2237140" y="5430012"/>
            <a:ext cx="570441" cy="190494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xmlns="" id="{24DA5AC3-5F2B-4432-83AA-25E60D33BC9E}"/>
              </a:ext>
            </a:extLst>
          </p:cNvPr>
          <p:cNvSpPr/>
          <p:nvPr/>
        </p:nvSpPr>
        <p:spPr>
          <a:xfrm>
            <a:off x="606244" y="5632246"/>
            <a:ext cx="2362200" cy="194733"/>
          </a:xfrm>
          <a:prstGeom prst="rect">
            <a:avLst/>
          </a:prstGeom>
          <a:solidFill>
            <a:srgbClr val="FA50E2"/>
          </a:solidFill>
          <a:ln>
            <a:solidFill>
              <a:srgbClr val="9E2248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xmlns="" id="{F1F35A11-C9E9-487C-BD98-43050DA93A1F}"/>
              </a:ext>
            </a:extLst>
          </p:cNvPr>
          <p:cNvSpPr/>
          <p:nvPr/>
        </p:nvSpPr>
        <p:spPr>
          <a:xfrm>
            <a:off x="993320" y="5333943"/>
            <a:ext cx="169334" cy="10724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dirty="0" err="1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xmlns="" id="{B440B2EC-01AF-4CE8-B80B-C461EB51BA95}"/>
              </a:ext>
            </a:extLst>
          </p:cNvPr>
          <p:cNvSpPr/>
          <p:nvPr/>
        </p:nvSpPr>
        <p:spPr>
          <a:xfrm>
            <a:off x="2237139" y="5333943"/>
            <a:ext cx="577874" cy="1365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dirty="0" err="1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xmlns="" id="{3A6E4E08-119F-4F8A-9661-9A80EFD80BCB}"/>
              </a:ext>
            </a:extLst>
          </p:cNvPr>
          <p:cNvSpPr/>
          <p:nvPr/>
        </p:nvSpPr>
        <p:spPr>
          <a:xfrm>
            <a:off x="516193" y="3138140"/>
            <a:ext cx="2362200" cy="24464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</a:t>
            </a:r>
            <a:endParaRPr lang="aa-ET" dirty="0" err="1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xmlns="" id="{58E8084F-0014-4F76-9C2B-60E9D2F8811D}"/>
              </a:ext>
            </a:extLst>
          </p:cNvPr>
          <p:cNvSpPr/>
          <p:nvPr/>
        </p:nvSpPr>
        <p:spPr>
          <a:xfrm>
            <a:off x="3500164" y="3122814"/>
            <a:ext cx="2362200" cy="24464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</a:t>
            </a:r>
            <a:endParaRPr lang="aa-ET" dirty="0" err="1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xmlns="" id="{7D1E5BCE-9313-4485-B411-182F3FC36AD8}"/>
              </a:ext>
            </a:extLst>
          </p:cNvPr>
          <p:cNvSpPr/>
          <p:nvPr/>
        </p:nvSpPr>
        <p:spPr>
          <a:xfrm>
            <a:off x="6463792" y="3122814"/>
            <a:ext cx="2362200" cy="24464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</a:t>
            </a:r>
            <a:endParaRPr lang="aa-ET" dirty="0" err="1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xmlns="" id="{39EF7B3E-3369-46E4-948F-900A4AD3CE70}"/>
              </a:ext>
            </a:extLst>
          </p:cNvPr>
          <p:cNvSpPr/>
          <p:nvPr/>
        </p:nvSpPr>
        <p:spPr>
          <a:xfrm>
            <a:off x="9289384" y="3114202"/>
            <a:ext cx="2362200" cy="24464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</a:t>
            </a:r>
            <a:endParaRPr lang="aa-ET" dirty="0" err="1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xmlns="" id="{5AD148DD-1FA2-425D-9969-DF2DDDB86CC0}"/>
              </a:ext>
            </a:extLst>
          </p:cNvPr>
          <p:cNvSpPr/>
          <p:nvPr/>
        </p:nvSpPr>
        <p:spPr>
          <a:xfrm>
            <a:off x="606244" y="6051348"/>
            <a:ext cx="2362200" cy="24464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</a:t>
            </a:r>
            <a:endParaRPr lang="aa-ET" dirty="0" err="1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xmlns="" id="{7BC2DF2D-2A94-4E21-BD20-EEAAE3B0F75A}"/>
              </a:ext>
            </a:extLst>
          </p:cNvPr>
          <p:cNvSpPr/>
          <p:nvPr/>
        </p:nvSpPr>
        <p:spPr>
          <a:xfrm>
            <a:off x="7526062" y="4788409"/>
            <a:ext cx="571501" cy="7525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xmlns="" id="{E51BAC13-0617-4446-B8F2-EFF41CA128B7}"/>
              </a:ext>
            </a:extLst>
          </p:cNvPr>
          <p:cNvSpPr/>
          <p:nvPr/>
        </p:nvSpPr>
        <p:spPr>
          <a:xfrm>
            <a:off x="6292048" y="4757360"/>
            <a:ext cx="169334" cy="7704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xmlns="" id="{CCBB50B3-9F4A-482F-9E3E-80E05965DA92}"/>
              </a:ext>
            </a:extLst>
          </p:cNvPr>
          <p:cNvSpPr/>
          <p:nvPr/>
        </p:nvSpPr>
        <p:spPr>
          <a:xfrm>
            <a:off x="6082797" y="5443032"/>
            <a:ext cx="2362199" cy="285903"/>
          </a:xfrm>
          <a:prstGeom prst="rect">
            <a:avLst/>
          </a:prstGeom>
          <a:solidFill>
            <a:srgbClr val="FA50E2"/>
          </a:solidFill>
          <a:ln>
            <a:solidFill>
              <a:srgbClr val="AF71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xmlns="" id="{3FB11E28-F0D5-4F8A-B67B-C4AFE341027D}"/>
              </a:ext>
            </a:extLst>
          </p:cNvPr>
          <p:cNvSpPr/>
          <p:nvPr/>
        </p:nvSpPr>
        <p:spPr>
          <a:xfrm>
            <a:off x="6082798" y="5925386"/>
            <a:ext cx="2362200" cy="21166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SiO2</a:t>
            </a:r>
            <a:endParaRPr lang="aa-ET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xmlns="" id="{244C3F4F-10D6-4784-9A49-810CEC9C14A2}"/>
              </a:ext>
            </a:extLst>
          </p:cNvPr>
          <p:cNvSpPr/>
          <p:nvPr/>
        </p:nvSpPr>
        <p:spPr>
          <a:xfrm>
            <a:off x="6463797" y="5519224"/>
            <a:ext cx="185212" cy="210805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xmlns="" id="{0B884387-9BBA-4E49-B91F-6407DEF6A7C9}"/>
              </a:ext>
            </a:extLst>
          </p:cNvPr>
          <p:cNvSpPr/>
          <p:nvPr/>
        </p:nvSpPr>
        <p:spPr>
          <a:xfrm>
            <a:off x="7894664" y="5730653"/>
            <a:ext cx="169334" cy="186266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xmlns="" id="{F51D870B-9613-4427-8CA3-1606923FCD07}"/>
              </a:ext>
            </a:extLst>
          </p:cNvPr>
          <p:cNvSpPr/>
          <p:nvPr/>
        </p:nvSpPr>
        <p:spPr>
          <a:xfrm>
            <a:off x="6082796" y="4961494"/>
            <a:ext cx="2362199" cy="474128"/>
          </a:xfrm>
          <a:prstGeom prst="rect">
            <a:avLst/>
          </a:prstGeom>
          <a:solidFill>
            <a:srgbClr val="FA50E2"/>
          </a:solidFill>
          <a:ln>
            <a:solidFill>
              <a:srgbClr val="AF71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xmlns="" id="{303E0804-4136-40F5-A53B-6E2E51ACB634}"/>
              </a:ext>
            </a:extLst>
          </p:cNvPr>
          <p:cNvSpPr/>
          <p:nvPr/>
        </p:nvSpPr>
        <p:spPr>
          <a:xfrm>
            <a:off x="7928530" y="5730651"/>
            <a:ext cx="169334" cy="186266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xmlns="" id="{F2CAF340-7730-4E5A-9375-FA1EEE5120C7}"/>
              </a:ext>
            </a:extLst>
          </p:cNvPr>
          <p:cNvSpPr/>
          <p:nvPr/>
        </p:nvSpPr>
        <p:spPr>
          <a:xfrm>
            <a:off x="7713691" y="5541277"/>
            <a:ext cx="570441" cy="190494"/>
          </a:xfrm>
          <a:prstGeom prst="rect">
            <a:avLst/>
          </a:prstGeom>
          <a:solidFill>
            <a:srgbClr val="FECF41"/>
          </a:solidFill>
          <a:ln>
            <a:solidFill>
              <a:srgbClr val="8F7C39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xmlns="" id="{DFE4ED34-747F-4DC8-A257-491DA5927A7E}"/>
              </a:ext>
            </a:extLst>
          </p:cNvPr>
          <p:cNvSpPr/>
          <p:nvPr/>
        </p:nvSpPr>
        <p:spPr>
          <a:xfrm>
            <a:off x="6082795" y="5732866"/>
            <a:ext cx="2362200" cy="194733"/>
          </a:xfrm>
          <a:prstGeom prst="rect">
            <a:avLst/>
          </a:prstGeom>
          <a:solidFill>
            <a:srgbClr val="FA50E2"/>
          </a:solidFill>
          <a:ln>
            <a:solidFill>
              <a:srgbClr val="9E2248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</a:t>
            </a:r>
            <a:endParaRPr lang="aa-ET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xmlns="" id="{47A93518-597E-4E9C-8771-A87C571F55FC}"/>
              </a:ext>
            </a:extLst>
          </p:cNvPr>
          <p:cNvSpPr/>
          <p:nvPr/>
        </p:nvSpPr>
        <p:spPr>
          <a:xfrm>
            <a:off x="7706119" y="4552056"/>
            <a:ext cx="571501" cy="9935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xmlns="" id="{BAA9D311-359E-4D3D-8680-B666A99D7D82}"/>
              </a:ext>
            </a:extLst>
          </p:cNvPr>
          <p:cNvSpPr/>
          <p:nvPr/>
        </p:nvSpPr>
        <p:spPr>
          <a:xfrm>
            <a:off x="6472105" y="4642545"/>
            <a:ext cx="169333" cy="878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xmlns="" id="{5968EE5C-4E35-4E27-970F-89B0C0B652EC}"/>
              </a:ext>
            </a:extLst>
          </p:cNvPr>
          <p:cNvSpPr/>
          <p:nvPr/>
        </p:nvSpPr>
        <p:spPr>
          <a:xfrm>
            <a:off x="6082795" y="6145665"/>
            <a:ext cx="2362200" cy="24464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</a:t>
            </a:r>
            <a:endParaRPr lang="aa-ET" dirty="0" err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BA7F940-2D01-4606-827A-720211F3CA44}"/>
              </a:ext>
            </a:extLst>
          </p:cNvPr>
          <p:cNvSpPr txBox="1"/>
          <p:nvPr/>
        </p:nvSpPr>
        <p:spPr>
          <a:xfrm>
            <a:off x="6249450" y="4356950"/>
            <a:ext cx="2401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LAYER SIZES</a:t>
            </a:r>
            <a:endParaRPr lang="aa-ET" dirty="0" err="1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xmlns="" id="{54587863-1CC9-412D-BC26-11DB83A2E94B}"/>
              </a:ext>
            </a:extLst>
          </p:cNvPr>
          <p:cNvSpPr/>
          <p:nvPr/>
        </p:nvSpPr>
        <p:spPr>
          <a:xfrm>
            <a:off x="8544272" y="4961494"/>
            <a:ext cx="120857" cy="481538"/>
          </a:xfrm>
          <a:prstGeom prst="righ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57" name="Right Brace 156">
            <a:extLst>
              <a:ext uri="{FF2B5EF4-FFF2-40B4-BE49-F238E27FC236}">
                <a16:creationId xmlns:a16="http://schemas.microsoft.com/office/drawing/2014/main" xmlns="" id="{035509C7-8DA8-41AE-9B44-D2F6292CA703}"/>
              </a:ext>
            </a:extLst>
          </p:cNvPr>
          <p:cNvSpPr/>
          <p:nvPr/>
        </p:nvSpPr>
        <p:spPr>
          <a:xfrm>
            <a:off x="8556522" y="5455847"/>
            <a:ext cx="102095" cy="259924"/>
          </a:xfrm>
          <a:prstGeom prst="righ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58" name="Right Brace 157">
            <a:extLst>
              <a:ext uri="{FF2B5EF4-FFF2-40B4-BE49-F238E27FC236}">
                <a16:creationId xmlns:a16="http://schemas.microsoft.com/office/drawing/2014/main" xmlns="" id="{8154988B-8E43-4378-A1D1-E70AF774FACD}"/>
              </a:ext>
            </a:extLst>
          </p:cNvPr>
          <p:cNvSpPr/>
          <p:nvPr/>
        </p:nvSpPr>
        <p:spPr>
          <a:xfrm>
            <a:off x="8581576" y="5729612"/>
            <a:ext cx="102095" cy="194733"/>
          </a:xfrm>
          <a:prstGeom prst="righ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59" name="Right Brace 158">
            <a:extLst>
              <a:ext uri="{FF2B5EF4-FFF2-40B4-BE49-F238E27FC236}">
                <a16:creationId xmlns:a16="http://schemas.microsoft.com/office/drawing/2014/main" xmlns="" id="{20788166-8DCC-44F9-980B-534E71D9ED19}"/>
              </a:ext>
            </a:extLst>
          </p:cNvPr>
          <p:cNvSpPr/>
          <p:nvPr/>
        </p:nvSpPr>
        <p:spPr>
          <a:xfrm>
            <a:off x="8564502" y="5933852"/>
            <a:ext cx="102095" cy="194733"/>
          </a:xfrm>
          <a:prstGeom prst="righ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60" name="Right Brace 159">
            <a:extLst>
              <a:ext uri="{FF2B5EF4-FFF2-40B4-BE49-F238E27FC236}">
                <a16:creationId xmlns:a16="http://schemas.microsoft.com/office/drawing/2014/main" xmlns="" id="{AFD12536-F15E-439A-8997-302E8691EB6B}"/>
              </a:ext>
            </a:extLst>
          </p:cNvPr>
          <p:cNvSpPr/>
          <p:nvPr/>
        </p:nvSpPr>
        <p:spPr>
          <a:xfrm flipH="1">
            <a:off x="5905445" y="5541562"/>
            <a:ext cx="550820" cy="194733"/>
          </a:xfrm>
          <a:prstGeom prst="righ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C503EAA-A319-45DB-AF9B-F8E68F09FBF7}"/>
              </a:ext>
            </a:extLst>
          </p:cNvPr>
          <p:cNvSpPr txBox="1"/>
          <p:nvPr/>
        </p:nvSpPr>
        <p:spPr>
          <a:xfrm>
            <a:off x="4867381" y="5446965"/>
            <a:ext cx="1143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200 nm</a:t>
            </a:r>
            <a:endParaRPr lang="aa-ET" dirty="0" err="1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xmlns="" id="{CB81F10D-237B-4E41-B600-82FE6B49A09A}"/>
              </a:ext>
            </a:extLst>
          </p:cNvPr>
          <p:cNvSpPr txBox="1"/>
          <p:nvPr/>
        </p:nvSpPr>
        <p:spPr>
          <a:xfrm>
            <a:off x="8822989" y="5866682"/>
            <a:ext cx="1143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500 nm</a:t>
            </a:r>
            <a:endParaRPr lang="aa-ET" dirty="0" err="1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xmlns="" id="{FC29B8BE-C22B-40AC-A0C8-094B18A86796}"/>
              </a:ext>
            </a:extLst>
          </p:cNvPr>
          <p:cNvSpPr txBox="1"/>
          <p:nvPr/>
        </p:nvSpPr>
        <p:spPr>
          <a:xfrm>
            <a:off x="8791442" y="5628315"/>
            <a:ext cx="1143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4.7 µm</a:t>
            </a:r>
            <a:endParaRPr lang="aa-ET" dirty="0" err="1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xmlns="" id="{AE7D32DC-AA89-4B2A-98DE-DB2809465B5D}"/>
              </a:ext>
            </a:extLst>
          </p:cNvPr>
          <p:cNvSpPr txBox="1"/>
          <p:nvPr/>
        </p:nvSpPr>
        <p:spPr>
          <a:xfrm>
            <a:off x="8830535" y="5006036"/>
            <a:ext cx="1143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4.7 µm</a:t>
            </a:r>
            <a:endParaRPr lang="aa-ET" dirty="0" err="1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xmlns="" id="{6F6E30BC-A0C6-459A-A751-ED03B970173F}"/>
              </a:ext>
            </a:extLst>
          </p:cNvPr>
          <p:cNvSpPr txBox="1"/>
          <p:nvPr/>
        </p:nvSpPr>
        <p:spPr>
          <a:xfrm>
            <a:off x="8778325" y="5385069"/>
            <a:ext cx="1143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300 nm</a:t>
            </a:r>
            <a:endParaRPr lang="aa-ET" dirty="0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5869B94-6EE3-4700-8DB6-A9AEA45ED166}"/>
              </a:ext>
            </a:extLst>
          </p:cNvPr>
          <p:cNvSpPr/>
          <p:nvPr/>
        </p:nvSpPr>
        <p:spPr>
          <a:xfrm>
            <a:off x="4867381" y="4211700"/>
            <a:ext cx="5087480" cy="2594338"/>
          </a:xfrm>
          <a:prstGeom prst="rect">
            <a:avLst/>
          </a:prstGeom>
          <a:noFill/>
          <a:ln w="57150">
            <a:solidFill>
              <a:srgbClr val="8581B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dirty="0" err="1"/>
          </a:p>
        </p:txBody>
      </p:sp>
    </p:spTree>
    <p:extLst>
      <p:ext uri="{BB962C8B-B14F-4D97-AF65-F5344CB8AC3E}">
        <p14:creationId xmlns:p14="http://schemas.microsoft.com/office/powerpoint/2010/main" val="559109434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ität Bremen (mit bis zu 2 weiteren Logos)">
  <a:themeElements>
    <a:clrScheme name="Benutzerdefiniert 105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872746"/>
      </a:accent1>
      <a:accent2>
        <a:srgbClr val="D51130"/>
      </a:accent2>
      <a:accent3>
        <a:srgbClr val="DE9BA7"/>
      </a:accent3>
      <a:accent4>
        <a:srgbClr val="1C356B"/>
      </a:accent4>
      <a:accent5>
        <a:srgbClr val="0D68B0"/>
      </a:accent5>
      <a:accent6>
        <a:srgbClr val="95B3DF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HB_PowerPoint.potx" id="{4DF2F6EB-DDCD-494F-BB02-C322A6EC2FDC}" vid="{B4C9157D-7150-4EC7-9140-E0C86EC67749}"/>
    </a:ext>
  </a:extLst>
</a:theme>
</file>

<file path=ppt/theme/theme2.xml><?xml version="1.0" encoding="utf-8"?>
<a:theme xmlns:a="http://schemas.openxmlformats.org/drawingml/2006/main" name="Office">
  <a:themeElements>
    <a:clrScheme name="Benutzerdefiniert 105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872746"/>
      </a:accent1>
      <a:accent2>
        <a:srgbClr val="D51130"/>
      </a:accent2>
      <a:accent3>
        <a:srgbClr val="DE9BA7"/>
      </a:accent3>
      <a:accent4>
        <a:srgbClr val="1C356B"/>
      </a:accent4>
      <a:accent5>
        <a:srgbClr val="0D68B0"/>
      </a:accent5>
      <a:accent6>
        <a:srgbClr val="95B3DF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Benutzerdefiniert 105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872746"/>
      </a:accent1>
      <a:accent2>
        <a:srgbClr val="D51130"/>
      </a:accent2>
      <a:accent3>
        <a:srgbClr val="DE9BA7"/>
      </a:accent3>
      <a:accent4>
        <a:srgbClr val="1C356B"/>
      </a:accent4>
      <a:accent5>
        <a:srgbClr val="0D68B0"/>
      </a:accent5>
      <a:accent6>
        <a:srgbClr val="95B3DF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UHB_PowerPoint</Template>
  <TotalTime>7491</TotalTime>
  <Words>2556</Words>
  <Application>Microsoft Office PowerPoint</Application>
  <PresentationFormat>Widescreen</PresentationFormat>
  <Paragraphs>617</Paragraphs>
  <Slides>43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Arial</vt:lpstr>
      <vt:lpstr>Arial Black</vt:lpstr>
      <vt:lpstr>Segoe UI Emoji</vt:lpstr>
      <vt:lpstr>Sharp Sans</vt:lpstr>
      <vt:lpstr>Sharp Sans Medium</vt:lpstr>
      <vt:lpstr>Sharp Sans Semibold</vt:lpstr>
      <vt:lpstr>ui-sans-serif</vt:lpstr>
      <vt:lpstr>Wingdings</vt:lpstr>
      <vt:lpstr>Wingdings 3</vt:lpstr>
      <vt:lpstr>Universität Bremen (mit bis zu 2 weiteren Logos)</vt:lpstr>
      <vt:lpstr>PowerPoint Presentation</vt:lpstr>
      <vt:lpstr>Organic Electrochemical Transistors  (OECT) combined with enzyme glucose dehydrogenase as glucose sensors    </vt:lpstr>
      <vt:lpstr>Motivation Slide</vt:lpstr>
      <vt:lpstr>Motivation Slide</vt:lpstr>
      <vt:lpstr>New candidate platform OECT</vt:lpstr>
      <vt:lpstr>GOx-OECT</vt:lpstr>
      <vt:lpstr>GDH- an alternative for GOx?</vt:lpstr>
      <vt:lpstr>Research Question</vt:lpstr>
      <vt:lpstr>Preparation of OECT for Testing</vt:lpstr>
      <vt:lpstr>Enzyme Preparation</vt:lpstr>
      <vt:lpstr>Experiments done and Glucose Samples tested</vt:lpstr>
      <vt:lpstr>Control Experiment</vt:lpstr>
      <vt:lpstr>Steady state measurement of OECT with GDH enzyme immobilized on channel</vt:lpstr>
      <vt:lpstr>Steady state measurement of OECT with GDH enzyme immobilized on channel</vt:lpstr>
      <vt:lpstr>Steady state measurement of OECT with GOx enzyme as floating electrolyte</vt:lpstr>
      <vt:lpstr>Steady state measurement of OECT with GOx enzyme as floating electrolyte</vt:lpstr>
      <vt:lpstr>Steady state measurement of OECT with GDH enzyme as floating electrolyte</vt:lpstr>
      <vt:lpstr>Steady state measurement of OECT with GDH enzyme as floating electrolyte</vt:lpstr>
      <vt:lpstr>Real time measurement of OECT with GOx enzyme as floating electrolyte</vt:lpstr>
      <vt:lpstr>Real time measurement of OECT with GDH enzyme as floating electrolyte</vt:lpstr>
      <vt:lpstr>Conclusion</vt:lpstr>
      <vt:lpstr>PowerPoint Presentation</vt:lpstr>
      <vt:lpstr>Questions?</vt:lpstr>
      <vt:lpstr>PowerPoint Presentation</vt:lpstr>
      <vt:lpstr>PowerPoint Presentation</vt:lpstr>
      <vt:lpstr>References</vt:lpstr>
      <vt:lpstr>PowerPoint Presentation</vt:lpstr>
      <vt:lpstr>Appendix</vt:lpstr>
      <vt:lpstr>Appendix</vt:lpstr>
      <vt:lpstr>Appendix</vt:lpstr>
      <vt:lpstr>Appendix</vt:lpstr>
      <vt:lpstr>Appendix</vt:lpstr>
      <vt:lpstr>Appendix</vt:lpstr>
      <vt:lpstr>6.Fabrication of OECT</vt:lpstr>
      <vt:lpstr>7.Enzyme Preparation</vt:lpstr>
      <vt:lpstr>8.Glucose Preparation</vt:lpstr>
      <vt:lpstr>Motivation Slide</vt:lpstr>
      <vt:lpstr>PowerPoint Presentation</vt:lpstr>
      <vt:lpstr>PowerPoint Presentation</vt:lpstr>
      <vt:lpstr>OECT fabrication with 3 PI layers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Windows-Benutzer</dc:creator>
  <cp:lastModifiedBy>DELL</cp:lastModifiedBy>
  <cp:revision>332</cp:revision>
  <dcterms:created xsi:type="dcterms:W3CDTF">2021-01-08T13:32:24Z</dcterms:created>
  <dcterms:modified xsi:type="dcterms:W3CDTF">2025-11-10T08:20:29Z</dcterms:modified>
</cp:coreProperties>
</file>